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1A23"/>
                </a:solidFill>
                <a:latin typeface="Calibri"/>
              </a:rPr>
              <a:t>Agentium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96371"/>
                </a:solidFill>
                <a:latin typeface="Calibri"/>
              </a:rPr>
              <a:t>Décision, Hyperviseur et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96371"/>
                </a:solidFill>
                <a:latin typeface="Calibri"/>
              </a:rPr>
              <a:t>Comment la plateforme aide un COMEX et un métier à observer, consommer, monitorer et décider — sans inventer un zéro.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596371"/>
                </a:solidFill>
                <a:latin typeface="Calibri"/>
              </a:rPr>
              <a:t>Branche demo/agentic · agentium.papai.ai Note de fond : agentium-hypervisor-decision-strategy.md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Le problème que le COMEX connaît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Les PoC IA s’accumulent.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Un prompt, une démo,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pas d’objectif métier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industrialisé.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66543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Personne ne peut dire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quel commit / quel System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a produit la réponse.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77439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« On a économisé » sans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baseline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, sans unité, sans responsable.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88335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Soit l’humain est hors boucle, soit il est noyé dans le jargon moteur.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999231"/>
            <a:ext cx="73152" cy="502920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999231"/>
            <a:ext cx="10929823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On ne manque pas de modèles. On manque d’un système de management de l’IA.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Ce qu’Agentium 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Un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système d’exploitation pour Systems intelligents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Pas un agent builder.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2140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Une équipe crée, orchestre,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consomme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, pilote et industrialise des Systems alignés sur des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capacités métier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8716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Une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application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et une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conversation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sont deux interfaces première classe. Même contrats. Mêmes droits. Mêmes preuves.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Le modèle ne signe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La chaîne — une seule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89888"/>
            <a:ext cx="11130991" cy="4754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63040"/>
            <a:ext cx="10838383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System → Run → Evaluation → Decision →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75104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Ne pas dire : Desk, Board, workflow, pipeline, job, HITL.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0352" y="2340864"/>
          <a:ext cx="11130990" cy="291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495"/>
                <a:gridCol w="5565495"/>
              </a:tblGrid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Dire ça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L’intention industrialisée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L’exécution prouvée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Ce qui attend une signature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Là où le métier consomme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Cockpit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Là où l’on construit, suit, améliore, impacte, administre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Studio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La surface humaine d’une application publiée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46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Hyperviseur / Impact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Le grand livre du portefeuille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Quatre verbes, quatre contrats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Mélanger les quatre est la principale erreur de démo.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755648"/>
          <a:ext cx="1113099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0330"/>
                <a:gridCol w="3710330"/>
                <a:gridCol w="3710330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Où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Observer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Qu’a rendu le portefeuille, sur quelle preuve ?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Hyperviseur / Impact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Consommer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Quelle tâche dois-je finir 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Work · Studio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Monitorer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Qu’est-ce qui tourne, attend, dérive ?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Exécutions · file de revue · Diagnostics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Décider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Qu’est-ce qui attend une signature — et où ça s’applique 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File Impact · approbation dans l’app · Steer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Industrialiser = cinq disciplines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Alignement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un System sert une capacité métier, pas un prompt orphelin.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Publication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le métier utilise une application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versionnée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Preuve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chaque réponse a une exécution (coût, contexte, lignée).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4.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Gouvernance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règles, droits d’accès, journal. Jamais « prompt only 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5.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Allocation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on finance, on resserre, on arrête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sur preuve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944368"/>
            <a:ext cx="11130991" cy="47548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017520"/>
            <a:ext cx="10838383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Construire → Exécuter → Mesurer → Optimiser → Allouer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529584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1">
                <a:solidFill>
                  <a:srgbClr val="151A23"/>
                </a:solidFill>
                <a:latin typeface="Calibri"/>
              </a:rPr>
              <a:t>L’adoption commence par l’exécution. Le passage à l’échelle exige l’économie.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L’Hyperviseur en une phrase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Le grand livre du portefeuille 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Ce qui a été exécuté. Ce que cela a coûté. Ce qui est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déclaré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comme valeur. Ce qui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manque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 Ce qui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attend une signature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2140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Le menu peut dire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Impact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le nom n’établit pas un résultat économique.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Deux lectures, un même avis à signer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Les deux 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Accepter / Refuser = un avis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 Aucun des deux 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Appliquer un changement de règle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755648"/>
            <a:ext cx="73152" cy="502920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755648"/>
            <a:ext cx="10929823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« Valider ici enregistre un avis. Modifier un System passe par son écran de pilotage. »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0352" y="2322576"/>
          <a:ext cx="1113099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495"/>
                <a:gridCol w="5565495"/>
              </a:tblGrid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Ancienne vue — Bilan de valeur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Nouvelle vue — Grand livre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Valeur nette estimée, ROI, signaux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Ce que le portefeuille a rendu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+ résumé de boucle de valeur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Comprendre → Détailler → Décider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Direction · Opérations · Conformité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Légende à laisser à l’écran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encre = mesuré · teal = déclaré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Une donnée absente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n’est pas un zéro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2140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Une base de valeur est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signée, datée, versionnée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 Sans base : unité native (runs, heures), pas un euro fabriqué.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8716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Un Run terminé ≠ une réponse validée ≠ un gain économique.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52927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Diagnostics (débit, latence) = santé technique. Ils ne remplacent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jamais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l’objectif métier.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Où la décision devient une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89888"/>
            <a:ext cx="11130991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63040"/>
            <a:ext cx="10838383" cy="1325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Portefeuille                 Un System                   L’application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Hyperviseur / Impact         Pilotage (Steer)            Studio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accepter / refuser           Simuler → Approuver         approbation humaine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= un avis                    → Appliquer → Mesurer       obligatoire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                             changement borné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916936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Premier changement autorisé : un ajustement de garde-fous, si le System le déclare et si le contrôle d’exécution l’autorise. Sinon 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non configuré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282696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Une simulation n’est pas une mesure.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Ce qu’on ne promet 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L’Hyperviseur n’applique pas tout seul une règle.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Le « et si » / leviers en direct sur tout le portefeuille est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retiré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Mission Room est une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application d’espace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, pas le grand livre.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Le tableau de conformité du dépôt n’est pas une attestation client.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« Heures ou euros économisés » sans mesure après changement = un trou, pas un KPI.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Courbe d’apprentissage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389888"/>
            <a:ext cx="11130991" cy="950976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63040"/>
            <a:ext cx="10838383" cy="85953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1. Finir une tâche                    Work / Studio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2. Relier le résultat à une exécution Source ouverte · compagnon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300" b="0">
                <a:solidFill>
                  <a:srgbClr val="0E6B6A"/>
                </a:solidFill>
                <a:latin typeface="Consolas"/>
              </a:rPr>
              <a:t>3. Relier l’exécution à une décision  Impact · approbation · Steer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45059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Trois couches — ne pas les confondre 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0352" y="2816352"/>
          <a:ext cx="1113099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495"/>
                <a:gridCol w="5565495"/>
              </a:tblGrid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Couche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Droits d’accès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Ce que je peux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Mode de l’espace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Densité de l’écran (construire / opérer / diriger)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Préférence membre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Ton des guides — pas les droits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C-level — 15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Une application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Work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voir que le métier a une porte.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Impact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lire la légende, pas le plus grand chiffre.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Une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décision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en attente —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ce qui attend une signature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4.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Aide valeur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coût observé / valeur déclarée / impact attesté.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Semaine 1 :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revue 30j/90j, couverture des bases, file de décisions, un passage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Ne pas attendre un total « € économisés » sur le chrome.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Métier — 15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Work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chercher l’application, pas le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Poser la question métier.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Ouvrir la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(Optionnel) Exemple guidé — quatre étapes, cas fictif.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4.  Si une approbation apparaît 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Accepter / Refuser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pas le modèle.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1">
                <a:solidFill>
                  <a:srgbClr val="151A23"/>
                </a:solidFill>
                <a:latin typeface="Calibri"/>
              </a:rPr>
              <a:t>Terminé ≠ réponse validée.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2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Cible d’acceptation (pas encore mesurée) :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seul, en dix minutes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, un résultat vérifiable.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Décideur — 15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Une approbation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Studio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ou la file de revue — lire avant de signer.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La file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Impact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un avis, pas une application.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Si — et seulement si — la boucle de valeur est ouverte sur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ce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System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1" i="0">
                <a:solidFill>
                  <a:srgbClr val="151A23"/>
                </a:solidFill>
                <a:latin typeface="Calibri"/>
              </a:rPr>
              <a:t>Simuler → Approuver → Appliquer → Mesurer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88336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Le modèle ne peut pas accepter à votre place. Une décision trop vieille est refusée.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Capacité d’adoption — état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Dire :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le chemin existe ; ce n’est pas encore le défaut ; nous n’avons pas encore la feuille d’acceptation.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755648"/>
          <a:ext cx="11130990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5495"/>
                <a:gridCol w="5565495"/>
              </a:tblGrid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Chemin métier Work + guides FR/EN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Livré, parcours d’accueil éteint par défaut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Compagnon de conversation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Livré — ne signe 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Objectifs opérationnels (5 métriques)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Livré — ce n’est pas un ROI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NorthForge 4 étapes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Livré sur Showcase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10 sessions d’utilisabilité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Non tenues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67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Flag par défaut / retrait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Non signé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Personas de récit (pas des comptes)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Claire ne vit pas dans le Cockpit. Sarah ne « clique pas Appliquer » sur le portefeuille.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755648"/>
          <a:ext cx="11130990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0330"/>
                <a:gridCol w="3710330"/>
                <a:gridCol w="3710330"/>
              </a:tblGrid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Entre par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Sarah CAIO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Allouer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Claire métier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Consommer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Mehdi pilote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Steer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Encadrer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Alex builder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Créer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Composer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Nadia gouvernance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A23"/>
                          </a:solidFill>
                          <a:latin typeface="Calibri"/>
                        </a:rPr>
                        <a:t>Contrôler</a:t>
                      </a:r>
                    </a:p>
                  </a:txBody>
                  <a:tcPr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Démo — cinq temps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Hard-reload avant de parler.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1.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Work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une question, une citation.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Consommer.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66543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2.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Run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la preuve.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Monitorer.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77439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3.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Impact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légende + une signature en attente. </a:t>
            </a:r>
            <a:r>
              <a:rPr sz="1600" b="0" i="1">
                <a:solidFill>
                  <a:srgbClr val="151A23"/>
                </a:solidFill>
                <a:latin typeface="Calibri"/>
              </a:rPr>
              <a:t>Observer / décider.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88335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4.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Steer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seulement si la boucle de valeur est vraiment ouverte. Sinon, le dire.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1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5. 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Aide valeur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— refermer sur l’honnêteté.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310127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NAWA PR→PO : playbook opérateur, pas l’improvisation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Phrase de clôture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Agentium ne vend pas un copilote de plus.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11130991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spcBef>
                <a:spcPts val="0"/>
              </a:spcBef>
            </a:pPr>
            <a:r>
              <a:rPr sz="1600" b="0" i="0">
                <a:solidFill>
                  <a:srgbClr val="151A23"/>
                </a:solidFill>
                <a:latin typeface="Calibri"/>
              </a:rPr>
              <a:t>Il donne à l’entreprise un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portefeuille de Systems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: consommable par le métier,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observable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sans zéro inventé,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monitoré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sans confondre santé technique et succès, </a:t>
            </a:r>
            <a:r>
              <a:rPr sz="1600" b="1" i="0">
                <a:solidFill>
                  <a:srgbClr val="151A23"/>
                </a:solidFill>
                <a:latin typeface="Calibri"/>
              </a:rPr>
              <a:t>décidé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 par un humain — et industrialisé sous preuve.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384048"/>
            <a:ext cx="256032" cy="41148"/>
          </a:xfrm>
          <a:prstGeom prst="rect">
            <a:avLst/>
          </a:prstGeom>
          <a:solidFill>
            <a:srgbClr val="0E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7432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B6A"/>
                </a:solidFill>
                <a:latin typeface="Consolas"/>
              </a:rPr>
              <a:t>AGENTIUM · DÉCISION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1130991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51A23"/>
                </a:solidFill>
                <a:latin typeface="Calibri"/>
              </a:rPr>
              <a:t>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207008"/>
            <a:ext cx="11130991" cy="10972"/>
          </a:xfrm>
          <a:prstGeom prst="rect">
            <a:avLst/>
          </a:prstGeom>
          <a:solidFill>
            <a:srgbClr val="D7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92240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alibri"/>
              </a:rPr>
              <a:t>Datategy — Agentium — Confidentiel — demo/agentic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9823" y="64922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96371"/>
                </a:solidFill>
                <a:latin typeface="Consola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89888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Note 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`agentium-hypervisor-decision-strategy.md`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00784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Lexique 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`agentium-reference.md`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011680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Adoption (contrat) 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`agentium-adoption-roadmap.md`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22576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Boucle de valeur 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`agentium-lot8-value-loop.md`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33472"/>
            <a:ext cx="11130991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0" i="0">
                <a:solidFill>
                  <a:srgbClr val="151A23"/>
                </a:solidFill>
                <a:latin typeface="Calibri"/>
              </a:rPr>
              <a:t>•  Grammaire Hyperviseur v2 : </a:t>
            </a:r>
            <a:r>
              <a:rPr sz="1600" b="0" i="0">
                <a:solidFill>
                  <a:srgbClr val="151A23"/>
                </a:solidFill>
                <a:latin typeface="Calibri"/>
              </a:rPr>
              <a:t>`hypervisor-v2-chart-grammar.md`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