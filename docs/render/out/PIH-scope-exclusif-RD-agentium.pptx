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igital.nemko.com/regulations/ai-regulation-in-qatar" TargetMode="External"/><Relationship Id="rId3" Type="http://schemas.openxmlformats.org/officeDocument/2006/relationships/hyperlink" Target="https://www.pinsentmasons.com/out-law/analysis/gulf-governments-approach-to-ai-regulation" TargetMode="External"/><Relationship Id="rId4" Type="http://schemas.openxmlformats.org/officeDocument/2006/relationships/hyperlink" Target="https://www.transperfectlegal.com/blog/saudi-arabias-global-ai-hub-law-new-model-digital-sovereignty-gcc" TargetMode="External"/><Relationship Id="rId5" Type="http://schemas.openxmlformats.org/officeDocument/2006/relationships/hyperlink" Target="https://www.pinsentmasons.com/out-law/news/saudi-arabia-data-sovereignty-ai-hub-law" TargetMode="External"/><Relationship Id="rId6" Type="http://schemas.openxmlformats.org/officeDocument/2006/relationships/hyperlink" Target="https://www.twobirds.com/en/capabilities/artificial-intelligence/ai-legal-services/ai-regulatory-horizon-tracker/saudi-arabia" TargetMode="External"/><Relationship Id="rId7" Type="http://schemas.openxmlformats.org/officeDocument/2006/relationships/hyperlink" Target="https://www.modulos.ai/middle-east-ai-regulations/" TargetMode="External"/><Relationship Id="rId8" Type="http://schemas.openxmlformats.org/officeDocument/2006/relationships/hyperlink" Target="https://digital-strategy.ec.europa.eu/en/policies/regulatory-framework-ai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6CDF"/>
                </a:solidFill>
                <a:latin typeface="Courier New"/>
              </a:rPr>
              <a:t>R&amp;D AGENTIUM  ·  PROPOSITION DE SCOPE  ·  CONFIDENTIEL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Scope fonctionnel exclusif PIH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BED0E8"/>
                </a:solidFill>
                <a:latin typeface="Arial"/>
              </a:rPr>
              <a:t>Quatre pistes R&amp;D différenciantes pour une plateforme d'agents souveraine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160520"/>
            <a:ext cx="2926080" cy="16459"/>
          </a:xfrm>
          <a:prstGeom prst="rect">
            <a:avLst/>
          </a:prstGeom>
          <a:solidFill>
            <a:srgbClr val="2E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3434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FA8C7"/>
                </a:solidFill>
                <a:latin typeface="Courier New"/>
              </a:rPr>
              <a:t>Exécution certifiée  ·  Mandats d'agent  ·  Auto-amélioration gouvernée  ·  QoS token souverain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FA8C7"/>
                </a:solidFill>
                <a:latin typeface="Arial"/>
              </a:rPr>
              <a:t>Datategy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ourier New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Le besoin PIH est légitime — et entièrement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53460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2545"/>
                </a:solidFill>
                <a:latin typeface="Courier New"/>
              </a:rPr>
              <a:t>LE BESOIN EXPRIMÉ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5346039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96371"/>
                </a:solidFill>
                <a:latin typeface="Arial"/>
              </a:rPr>
              <a:t>▪ </a:t>
            </a:r>
            <a:r>
              <a:rPr sz="1250" b="1">
                <a:solidFill>
                  <a:srgbClr val="151A23"/>
                </a:solidFill>
                <a:latin typeface="Arial"/>
              </a:rPr>
              <a:t>Sovereignty — </a:t>
            </a:r>
            <a:r>
              <a:rPr sz="1250" b="0">
                <a:solidFill>
                  <a:srgbClr val="596371"/>
                </a:solidFill>
                <a:latin typeface="Arial"/>
              </a:rPr>
              <a:t>modèles et données sous contrôle, pas de dépendance cloud étranger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596371"/>
                </a:solidFill>
                <a:latin typeface="Arial"/>
              </a:rPr>
              <a:t>▪ </a:t>
            </a:r>
            <a:r>
              <a:rPr sz="1250" b="1">
                <a:solidFill>
                  <a:srgbClr val="151A23"/>
                </a:solidFill>
                <a:latin typeface="Arial"/>
              </a:rPr>
              <a:t>Robustness — </a:t>
            </a:r>
            <a:r>
              <a:rPr sz="1250" b="0">
                <a:solidFill>
                  <a:srgbClr val="596371"/>
                </a:solidFill>
                <a:latin typeface="Arial"/>
              </a:rPr>
              <a:t>replay, resubmission, exécution stateful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596371"/>
                </a:solidFill>
                <a:latin typeface="Arial"/>
              </a:rPr>
              <a:t>▪ </a:t>
            </a:r>
            <a:r>
              <a:rPr sz="1250" b="1">
                <a:solidFill>
                  <a:srgbClr val="151A23"/>
                </a:solidFill>
                <a:latin typeface="Arial"/>
              </a:rPr>
              <a:t>Security — </a:t>
            </a:r>
            <a:r>
              <a:rPr sz="1250" b="0">
                <a:solidFill>
                  <a:srgbClr val="596371"/>
                </a:solidFill>
                <a:latin typeface="Arial"/>
              </a:rPr>
              <a:t>guardrails, identité d'agent distincte, RBAC strict pour agents autonomes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596371"/>
                </a:solidFill>
                <a:latin typeface="Arial"/>
              </a:rPr>
              <a:t>▪ </a:t>
            </a:r>
            <a:r>
              <a:rPr sz="1250" b="1">
                <a:solidFill>
                  <a:srgbClr val="151A23"/>
                </a:solidFill>
                <a:latin typeface="Arial"/>
              </a:rPr>
              <a:t>Observability &amp; Scalability — </a:t>
            </a:r>
            <a:r>
              <a:rPr sz="1250" b="0">
                <a:solidFill>
                  <a:srgbClr val="596371"/>
                </a:solidFill>
                <a:latin typeface="Arial"/>
              </a:rPr>
              <a:t>auditabilité totale du tool-calling, scale entreprise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>
                <a:solidFill>
                  <a:srgbClr val="596371"/>
                </a:solidFill>
                <a:latin typeface="Arial"/>
              </a:rPr>
              <a:t>▪ </a:t>
            </a:r>
            <a:r>
              <a:rPr sz="1250" b="1">
                <a:solidFill>
                  <a:srgbClr val="151A23"/>
                </a:solidFill>
                <a:latin typeface="Arial"/>
              </a:rPr>
              <a:t>Token Performance — </a:t>
            </a:r>
            <a:r>
              <a:rPr sz="1250" b="0">
                <a:solidFill>
                  <a:srgbClr val="596371"/>
                </a:solidFill>
                <a:latin typeface="Arial"/>
              </a:rPr>
              <a:t>orchestration souveraine efficiente et déterministe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481328"/>
            <a:ext cx="53460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2545"/>
                </a:solidFill>
                <a:latin typeface="Courier New"/>
              </a:rPr>
              <a:t>LA RÉPONSE STANDARD DU MARCHÉ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78727" y="1828800"/>
          <a:ext cx="53460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356295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51A23"/>
                          </a:solidFill>
                          <a:latin typeface="Arial"/>
                        </a:rPr>
                        <a:t>Robustesse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6371"/>
                          </a:solidFill>
                          <a:latin typeface="Arial"/>
                        </a:rPr>
                        <a:t>Temporal, checkpoints LangGraph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51A23"/>
                          </a:solidFill>
                          <a:latin typeface="Arial"/>
                        </a:rPr>
                        <a:t>Sécurité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6371"/>
                          </a:solidFill>
                          <a:latin typeface="Arial"/>
                        </a:rPr>
                        <a:t>NeMo Guardrails, Llama Guard, Entra Agent ID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51A23"/>
                          </a:solidFill>
                          <a:latin typeface="Arial"/>
                        </a:rPr>
                        <a:t>Observabilité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6371"/>
                          </a:solidFill>
                          <a:latin typeface="Arial"/>
                        </a:rPr>
                        <a:t>LangSmith, Langfuse, OpenTelemetry GenAI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51A23"/>
                          </a:solidFill>
                          <a:latin typeface="Arial"/>
                        </a:rPr>
                        <a:t>Scalabilité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6371"/>
                          </a:solidFill>
                          <a:latin typeface="Arial"/>
                        </a:rPr>
                        <a:t>n'importe quel orchestrateur K8s-native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51A23"/>
                          </a:solidFill>
                          <a:latin typeface="Arial"/>
                        </a:rPr>
                        <a:t>Token perf.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6371"/>
                          </a:solidFill>
                          <a:latin typeface="Arial"/>
                        </a:rPr>
                        <a:t>caching, routing — généralisés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78727" y="4434840"/>
            <a:ext cx="5346039" cy="13716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4617720"/>
            <a:ext cx="483397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Conclusion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Répondre au besoin ne différencie pas. Le scope exclusif doit exploiter ce que les concurrents cloud ne peuvent pas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ourier New"/>
              </a:rPr>
              <a:t>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Agentium contrôle ce que le cloud ne contrôle 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96371"/>
                </a:solidFill>
                <a:latin typeface="Arial"/>
              </a:rPr>
              <a:t>Les orchestrateurs concurrents pilotent des modèles qu'ils ne contrôlent pas : API non déterministes, poids opaques, gouvernance qui observe sans agir. </a:t>
            </a:r>
            <a:r>
              <a:rPr sz="1350" b="1">
                <a:solidFill>
                  <a:srgbClr val="151A23"/>
                </a:solidFill>
                <a:latin typeface="Arial"/>
              </a:rPr>
              <a:t>Agentium contrôle le serving, le ledger et la gouvernance — le scope exclusif se construit là.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14600"/>
            <a:ext cx="3503066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24328"/>
            <a:ext cx="45720" cy="128930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642616"/>
            <a:ext cx="313730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D6CDF"/>
                </a:solidFill>
                <a:latin typeface="Arial"/>
              </a:rPr>
              <a:t>Chaîne canonique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90088"/>
            <a:ext cx="3137306" cy="886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Arial"/>
              </a:rPr>
              <a:t>System → Run → Evaluation → Decision → Action — livrée (Vague 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2514600"/>
            <a:ext cx="3503066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4314" y="2624328"/>
            <a:ext cx="45720" cy="128930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5482" y="2642616"/>
            <a:ext cx="313730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D6CDF"/>
                </a:solidFill>
                <a:latin typeface="Arial"/>
              </a:rPr>
              <a:t>Replay lineage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5482" y="2990088"/>
            <a:ext cx="3137306" cy="886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Arial"/>
              </a:rPr>
              <a:t>parent_run_id + replay_overrides + flow_snapshot par 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1700" y="2514600"/>
            <a:ext cx="3503066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1700" y="2624328"/>
            <a:ext cx="45720" cy="12893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2868" y="2642616"/>
            <a:ext cx="313730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D28D9"/>
                </a:solidFill>
                <a:latin typeface="Arial"/>
              </a:rPr>
              <a:t>Ledger d'invocation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2868" y="2990088"/>
            <a:ext cx="3137306" cy="886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Arial"/>
              </a:rPr>
              <a:t>SkillInvocation + audit events horodatés par tool-call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06240"/>
            <a:ext cx="3503066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315968"/>
            <a:ext cx="45720" cy="12893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334255"/>
            <a:ext cx="313730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D28D9"/>
                </a:solidFill>
                <a:latin typeface="Arial"/>
              </a:rPr>
              <a:t>IAM RBAC + ABAC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681727"/>
            <a:ext cx="3137306" cy="886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Arial"/>
              </a:rPr>
              <a:t>AuthorizationEngine à manifestes par capability (owner_match, second_eye…)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4314" y="4206240"/>
            <a:ext cx="3503066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4314" y="4315968"/>
            <a:ext cx="45720" cy="1289304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5482" y="4334255"/>
            <a:ext cx="313730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8F62"/>
                </a:solidFill>
                <a:latin typeface="Arial"/>
              </a:rPr>
              <a:t>Gating statistique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5482" y="4681727"/>
            <a:ext cx="3137306" cy="886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Arial"/>
              </a:rPr>
              <a:t>golden_flag_ab : variant ≥ baseline avant tout déploiement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1700" y="4206240"/>
            <a:ext cx="3503066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1700" y="4315968"/>
            <a:ext cx="45720" cy="1289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2868" y="4334255"/>
            <a:ext cx="313730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45309"/>
                </a:solidFill>
                <a:latin typeface="Arial"/>
              </a:rPr>
              <a:t>Budget déterministe + serving souverain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2868" y="4681727"/>
            <a:ext cx="3137306" cy="886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Arial"/>
              </a:rPr>
              <a:t>budget génératif RAGGER, routing 25 providers, vLLM / Ollama on-prem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Six assets en production ou architecturés — chaque piste R&amp;D ci-après en réutilise au moins deux.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ourier New"/>
              </a:rPr>
              <a:t>PORTEFEUILLE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Quatre pistes R&amp;D — positionnement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2558719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00200"/>
            <a:ext cx="2558719" cy="566928"/>
          </a:xfrm>
          <a:prstGeom prst="roundRect">
            <a:avLst>
              <a:gd name="adj" fmla="val 4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2558719" cy="2926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19072"/>
            <a:ext cx="2192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urier New"/>
              </a:rPr>
              <a:t>PISTE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13432"/>
            <a:ext cx="2192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1A23"/>
                </a:solidFill>
                <a:latin typeface="Arial"/>
              </a:rPr>
              <a:t>Exécution certifiée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54680"/>
            <a:ext cx="219295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Arial"/>
              </a:rPr>
              <a:t>Replay déterministe bit-exact + dossier de preuve d'exécution signable.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7777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15" name="Oval 14"/>
          <p:cNvSpPr/>
          <p:nvPr/>
        </p:nvSpPr>
        <p:spPr>
          <a:xfrm>
            <a:off x="1463040" y="480060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59636" y="480060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56232" y="480060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52828" y="480060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49424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097779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21" name="Oval 20"/>
          <p:cNvSpPr/>
          <p:nvPr/>
        </p:nvSpPr>
        <p:spPr>
          <a:xfrm>
            <a:off x="1463040" y="512064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59636" y="512064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56232" y="512064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52828" y="512064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9424" y="5120640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99967" y="1600200"/>
            <a:ext cx="2558719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99967" y="1600200"/>
            <a:ext cx="2558719" cy="566928"/>
          </a:xfrm>
          <a:prstGeom prst="roundRect">
            <a:avLst>
              <a:gd name="adj" fmla="val 4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99967" y="1874519"/>
            <a:ext cx="2558719" cy="29260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2847" y="1719072"/>
            <a:ext cx="2192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urier New"/>
              </a:rPr>
              <a:t>PISTE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2847" y="2313432"/>
            <a:ext cx="2192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1A23"/>
                </a:solidFill>
                <a:latin typeface="Arial"/>
              </a:rPr>
              <a:t>Identité &amp; mandats d'agent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2847" y="3154680"/>
            <a:ext cx="219295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Arial"/>
              </a:rPr>
              <a:t>Délégation atténuée, tool-calls signés, non-répudiation, kill-switch.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2847" y="47777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33" name="Oval 32"/>
          <p:cNvSpPr/>
          <p:nvPr/>
        </p:nvSpPr>
        <p:spPr>
          <a:xfrm>
            <a:off x="4296079" y="480060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92675" y="480060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89271" y="480060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85867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82463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82847" y="5097779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39" name="Oval 38"/>
          <p:cNvSpPr/>
          <p:nvPr/>
        </p:nvSpPr>
        <p:spPr>
          <a:xfrm>
            <a:off x="4296079" y="512064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92675" y="512064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689271" y="512064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85867" y="5120640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82463" y="512064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33007" y="1600200"/>
            <a:ext cx="2558719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33007" y="1600200"/>
            <a:ext cx="2558719" cy="566928"/>
          </a:xfrm>
          <a:prstGeom prst="roundRect">
            <a:avLst>
              <a:gd name="adj" fmla="val 4000"/>
            </a:avLst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33007" y="1874519"/>
            <a:ext cx="2558719" cy="292608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5887" y="1719072"/>
            <a:ext cx="2192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urier New"/>
              </a:rPr>
              <a:t>PISTE 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5887" y="2313432"/>
            <a:ext cx="2192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1A23"/>
                </a:solidFill>
                <a:latin typeface="Arial"/>
              </a:rPr>
              <a:t>Auto-amélioration gouvernée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5887" y="3154680"/>
            <a:ext cx="219295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Arial"/>
              </a:rPr>
              <a:t>Patchs de politique simulés offline, gates statistiques, approbation humaine.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5887" y="47777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51" name="Oval 50"/>
          <p:cNvSpPr/>
          <p:nvPr/>
        </p:nvSpPr>
        <p:spPr>
          <a:xfrm>
            <a:off x="7129119" y="4800600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325715" y="4800600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522311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18907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915503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5887" y="5097779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57" name="Oval 56"/>
          <p:cNvSpPr/>
          <p:nvPr/>
        </p:nvSpPr>
        <p:spPr>
          <a:xfrm>
            <a:off x="7129119" y="5120640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325715" y="5120640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2311" y="5120640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18907" y="5120640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15503" y="512064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66047" y="1600200"/>
            <a:ext cx="2558719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066047" y="1600200"/>
            <a:ext cx="2558719" cy="566928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66047" y="1874519"/>
            <a:ext cx="2558719" cy="2926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48927" y="1719072"/>
            <a:ext cx="2192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urier New"/>
              </a:rPr>
              <a:t>PISTE 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48927" y="2313432"/>
            <a:ext cx="2192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1A23"/>
                </a:solidFill>
                <a:latin typeface="Arial"/>
              </a:rPr>
              <a:t>QoS token souverain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48927" y="3154680"/>
            <a:ext cx="219295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Arial"/>
              </a:rPr>
              <a:t>Contrats de tokens, classes de priorité, dégradation déterministe, chargeback.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48927" y="477774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69" name="Oval 68"/>
          <p:cNvSpPr/>
          <p:nvPr/>
        </p:nvSpPr>
        <p:spPr>
          <a:xfrm>
            <a:off x="9962159" y="4800600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158755" y="4800600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355351" y="4800600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551947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748543" y="480060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48927" y="5097779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75" name="Oval 74"/>
          <p:cNvSpPr/>
          <p:nvPr/>
        </p:nvSpPr>
        <p:spPr>
          <a:xfrm>
            <a:off x="9962159" y="5120640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158755" y="5120640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355351" y="5120640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551947" y="512064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748543" y="5120640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" y="58978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96371"/>
                </a:solidFill>
                <a:latin typeface="Courier New"/>
              </a:rPr>
              <a:t>DIFF. = difficulté R&amp;D (1–5)   ·   DISR. = disruption / exclusivité (1–5). </a:t>
            </a:r>
            <a:r>
              <a:rPr sz="1050" b="1">
                <a:solidFill>
                  <a:srgbClr val="151A23"/>
                </a:solidFill>
                <a:latin typeface="Arial"/>
              </a:rPr>
              <a:t>La difficulté de la piste A est aussi sa barrière à l'entrée : ce qui est dur à faire est dur à copier.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PISTE A —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Exécution certifiée &amp; dossier de preuve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8727" y="3977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9" name="Oval 8"/>
          <p:cNvSpPr/>
          <p:nvPr/>
        </p:nvSpPr>
        <p:spPr>
          <a:xfrm>
            <a:off x="9704527" y="420624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01123" y="420624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97719" y="420624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94315" y="420624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90911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8727" y="69037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15" name="Oval 14"/>
          <p:cNvSpPr/>
          <p:nvPr/>
        </p:nvSpPr>
        <p:spPr>
          <a:xfrm>
            <a:off x="9704527" y="713232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01123" y="713232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97719" y="713232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94315" y="713232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90911" y="713232"/>
            <a:ext cx="137160" cy="137160"/>
          </a:xfrm>
          <a:prstGeom prst="ellipse">
            <a:avLst/>
          </a:prstGeom>
          <a:solidFill>
            <a:srgbClr val="2D6CDF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1481328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1591056"/>
            <a:ext cx="45720" cy="2066543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160934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6CDF"/>
                </a:solidFill>
                <a:latin typeface="Arial"/>
              </a:rPr>
              <a:t>Le 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1956816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Run re-exécutable à l'identique — </a:t>
            </a:r>
            <a:r>
              <a:rPr sz="1150" b="0">
                <a:solidFill>
                  <a:srgbClr val="596371"/>
                </a:solidFill>
                <a:latin typeface="Arial"/>
              </a:rPr>
              <a:t>prompts, chunks (SHA-256), I/O d'outils, version des poids, tokenizer, sampling seedé — tout est content-addressed et chaîné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Sortie bit-exacte ou rapport de divergence — </a:t>
            </a:r>
            <a:r>
              <a:rPr sz="1150" b="0">
                <a:solidFill>
                  <a:srgbClr val="596371"/>
                </a:solidFill>
                <a:latin typeface="Arial"/>
              </a:rPr>
              <a:t>localise ce qui a changé : modèle, donnée, outil ou politique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Livrable client — </a:t>
            </a:r>
            <a:r>
              <a:rPr sz="1150" b="0">
                <a:solidFill>
                  <a:srgbClr val="596371"/>
                </a:solidFill>
                <a:latin typeface="Arial"/>
              </a:rPr>
              <a:t>dossier de preuve d'exécution exportable et signable, opposable en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931920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041648"/>
            <a:ext cx="45720" cy="2066543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059935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6CDF"/>
                </a:solidFill>
                <a:latin typeface="Arial"/>
              </a:rPr>
              <a:t>Pourquoi introuvable ailleurs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407408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Temporal — </a:t>
            </a:r>
            <a:r>
              <a:rPr sz="1150" b="0">
                <a:solidFill>
                  <a:srgbClr val="596371"/>
                </a:solidFill>
                <a:latin typeface="Arial"/>
              </a:rPr>
              <a:t>rejoue le code du workflow, jamais la sortie du modèle (effet de bord enregistré)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LangGraph — </a:t>
            </a:r>
            <a:r>
              <a:rPr sz="1150" b="0">
                <a:solidFill>
                  <a:srgbClr val="596371"/>
                </a:solidFill>
                <a:latin typeface="Arial"/>
              </a:rPr>
              <a:t>time-travel sur checkpoints, mais assume le non-déterminisme du LLM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Tout acteur cloud-API — </a:t>
            </a:r>
            <a:r>
              <a:rPr sz="1150" b="0">
                <a:solidFill>
                  <a:srgbClr val="596371"/>
                </a:solidFill>
                <a:latin typeface="Arial"/>
              </a:rPr>
              <a:t>ne contrôle ni les poids ni le batching — le bit-exact lui est physiquement impossible. Seul un serving souverain le permet.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8727" y="1481328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8727" y="1591056"/>
            <a:ext cx="45720" cy="206654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9895" y="160934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Appuis dans l'existant Agentium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9895" y="1956816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Run.flow_snapshot + lineage — </a:t>
            </a:r>
            <a:r>
              <a:rPr sz="1150" b="0">
                <a:solidFill>
                  <a:srgbClr val="596371"/>
                </a:solidFill>
                <a:latin typeface="Arial"/>
              </a:rPr>
              <a:t>parent_run_id, replay_overrides (migration 017)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SkillInvocation ledger — </a:t>
            </a:r>
            <a:r>
              <a:rPr sz="1150" b="0">
                <a:solidFill>
                  <a:srgbClr val="596371"/>
                </a:solidFill>
                <a:latin typeface="Arial"/>
              </a:rPr>
              <a:t>chaque tool-call déjà journalisé et horodaté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Provider vLLM existant — </a:t>
            </a:r>
            <a:r>
              <a:rPr sz="1150" b="0">
                <a:solidFill>
                  <a:srgbClr val="596371"/>
                </a:solidFill>
                <a:latin typeface="Arial"/>
              </a:rPr>
              <a:t>contrôle du sampling, des seeds et de la version moteur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Hashes de chunks — </a:t>
            </a:r>
            <a:r>
              <a:rPr sz="1150" b="0">
                <a:solidFill>
                  <a:srgbClr val="596371"/>
                </a:solidFill>
                <a:latin typeface="Arial"/>
              </a:rPr>
              <a:t>SHA-256 déjà présents dans les payloads d'ingestion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727" y="3931920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8727" y="4041648"/>
            <a:ext cx="45720" cy="206654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9895" y="4059935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Risque R&amp;D — assumé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9895" y="4407408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Invariance au batch GPU — </a:t>
            </a:r>
            <a:r>
              <a:rPr sz="1150" b="0">
                <a:solidFill>
                  <a:srgbClr val="596371"/>
                </a:solidFill>
                <a:latin typeface="Arial"/>
              </a:rPr>
              <a:t>le déterminisme vLLM à travers batching dynamique et versions de kernels est un problème dur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Mitigation — </a:t>
            </a:r>
            <a:r>
              <a:rPr sz="1150" b="0">
                <a:solidFill>
                  <a:srgbClr val="596371"/>
                </a:solidFill>
                <a:latin typeface="Arial"/>
              </a:rPr>
              <a:t>« couloir de replay » à batch fixe et engine épinglé + score de divergence toléré en mode dégradé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Revers de la médaille — </a:t>
            </a:r>
            <a:r>
              <a:rPr sz="1150" b="0">
                <a:solidFill>
                  <a:srgbClr val="596371"/>
                </a:solidFill>
                <a:latin typeface="Arial"/>
              </a:rPr>
              <a:t>sujet défendable — publication / brevet possibles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PISTE A — GAIN PAR L'EXEMPLE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Audit réglementaire 9 mois après les faits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7839" cy="77724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1054577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SITUATION   </a:t>
            </a:r>
            <a:r>
              <a:rPr sz="1300" b="1">
                <a:solidFill>
                  <a:srgbClr val="FFFFFF"/>
                </a:solidFill>
                <a:latin typeface="Arial"/>
              </a:rPr>
              <a:t>Un agent a recommandé une dérogation de maintenance il y a 9 mois. L'auditeur exige la justification complète de la décision.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596896"/>
            <a:ext cx="45720" cy="1655063"/>
          </a:xfrm>
          <a:prstGeom prst="rect">
            <a:avLst/>
          </a:prstGeom>
          <a:solidFill>
            <a:srgbClr val="596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61518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96371"/>
                </a:solidFill>
                <a:latin typeface="Arial"/>
              </a:rPr>
              <a:t>Sans — état de l'art actuel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962656"/>
            <a:ext cx="4980279" cy="1252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Archéologie de logs : des semaines d'investigation multi-équipes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Le modèle a été mis à jour depuis — la décision n'est plus reproductible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Reconstruction déclarative, non probante face à un régulateur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596896"/>
            <a:ext cx="45720" cy="1655063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9895" y="261518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6CDF"/>
                </a:solidFill>
                <a:latin typeface="Arial"/>
              </a:rPr>
              <a:t>Avec la piste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9895" y="2962656"/>
            <a:ext cx="4980279" cy="1252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Replay certifié en minutes sur le couloir épinglé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Même sortie reproduite, ou divergence localisée (modèle / donnée / politique)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Dossier de preuve signé remis tel quel à l'auditeur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44568"/>
            <a:ext cx="11057839" cy="16916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54296"/>
            <a:ext cx="45720" cy="147218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681728"/>
            <a:ext cx="776599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VALEUR POUR LE CLIENT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Délai de réponse à l'audit : de semaines à heures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Preuve opposable au lieu de logs déclaratifs — change la nature de la conversation avec le régulateur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Débloque les périmètres régulés (exigences type QCB : supervision humaine, reporting) où l'autonomie était inenvisageable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2967" y="468172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ORDRE DE GRANDEUR*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-90% tps d'enquête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100% runs critiques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rejouables &amp; signés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2967" y="61447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* projection illustrative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Courier New"/>
              </a:rPr>
              <a:t>PISTE B —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Identité d'agent &amp; chaîne de mandats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8727" y="3977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9" name="Oval 8"/>
          <p:cNvSpPr/>
          <p:nvPr/>
        </p:nvSpPr>
        <p:spPr>
          <a:xfrm>
            <a:off x="9704527" y="420624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01123" y="420624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97719" y="420624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94315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90911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8727" y="69037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15" name="Oval 14"/>
          <p:cNvSpPr/>
          <p:nvPr/>
        </p:nvSpPr>
        <p:spPr>
          <a:xfrm>
            <a:off x="9704527" y="713232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01123" y="713232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97719" y="713232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94315" y="713232"/>
            <a:ext cx="137160" cy="137160"/>
          </a:xfrm>
          <a:prstGeom prst="ellipse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90911" y="713232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1481328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1591056"/>
            <a:ext cx="45720" cy="2066543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160934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Arial"/>
              </a:rPr>
              <a:t>Le 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1956816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Agent = principal IAM de plein droit — </a:t>
            </a:r>
            <a:r>
              <a:rPr sz="1150" b="0">
                <a:solidFill>
                  <a:srgbClr val="596371"/>
                </a:solidFill>
                <a:latin typeface="Arial"/>
              </a:rPr>
              <a:t>identité propre, distincte de l'humain et du service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Mandat — </a:t>
            </a:r>
            <a:r>
              <a:rPr sz="1150" b="0">
                <a:solidFill>
                  <a:srgbClr val="596371"/>
                </a:solidFill>
                <a:latin typeface="Arial"/>
              </a:rPr>
              <a:t>délégation scoped, bornée dans le temps, dérivée des droits RBAC/ABAC du mandant, atténuée skill par skill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Invariant vérifiable à chaque tool-call — </a:t>
            </a:r>
            <a:r>
              <a:rPr sz="1150" b="0">
                <a:solidFill>
                  <a:srgbClr val="596371"/>
                </a:solidFill>
                <a:latin typeface="Arial"/>
              </a:rPr>
              <a:t>agent ≤ mandat ∩ droits du mandant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Non-répudiation — </a:t>
            </a:r>
            <a:r>
              <a:rPr sz="1150" b="0">
                <a:solidFill>
                  <a:srgbClr val="596371"/>
                </a:solidFill>
                <a:latin typeface="Arial"/>
              </a:rPr>
              <a:t>tool-calls signés, ledger chaîné (Merkle), kill-switch par mandat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931920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041648"/>
            <a:ext cx="45720" cy="2066543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059935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Arial"/>
              </a:rPr>
              <a:t>Pourquoi introuvable ailleurs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407408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Microsoft Entra Agent ID — </a:t>
            </a:r>
            <a:r>
              <a:rPr sz="1150" b="0">
                <a:solidFill>
                  <a:srgbClr val="596371"/>
                </a:solidFill>
                <a:latin typeface="Arial"/>
              </a:rPr>
              <a:t>identité d'agent, mais cloud Microsoft, sans sémantique d'atténuation ni preuve on-prem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Frameworks open source — </a:t>
            </a:r>
            <a:r>
              <a:rPr sz="1150" b="0">
                <a:solidFill>
                  <a:srgbClr val="596371"/>
                </a:solidFill>
                <a:latin typeface="Arial"/>
              </a:rPr>
              <a:t>aucune profondeur IAM — l'autorisation y est applicative, pas systémique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Le différenciateur — </a:t>
            </a:r>
            <a:r>
              <a:rPr sz="1150" b="0">
                <a:solidFill>
                  <a:srgbClr val="596371"/>
                </a:solidFill>
                <a:latin typeface="Arial"/>
              </a:rPr>
              <a:t>mandat atténué + preuve cryptographique + on-prem, intégré au moteur d'autorisation existant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8727" y="1481328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8727" y="1591056"/>
            <a:ext cx="45720" cy="206654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9895" y="160934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Appuis dans l'existant Agentium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9895" y="1956816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AuthorizationEngine RBAC + ABAC — </a:t>
            </a:r>
            <a:r>
              <a:rPr sz="1150" b="0">
                <a:solidFill>
                  <a:srgbClr val="596371"/>
                </a:solidFill>
                <a:latin typeface="Arial"/>
              </a:rPr>
              <a:t>conditions owner_match, label_intersect, second_eye_ingestion déjà en prod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Manifestes par capability — </a:t>
            </a:r>
            <a:r>
              <a:rPr sz="1150" b="0">
                <a:solidFill>
                  <a:srgbClr val="596371"/>
                </a:solidFill>
                <a:latin typeface="Arial"/>
              </a:rPr>
              <a:t>périmètres de permissions déjà déclaratifs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Audit events — </a:t>
            </a:r>
            <a:r>
              <a:rPr sz="1150" b="0">
                <a:solidFill>
                  <a:srgbClr val="596371"/>
                </a:solidFill>
                <a:latin typeface="Arial"/>
              </a:rPr>
              <a:t>emit_audit_event avec actor, trace_id, agent_id — la colonne existe déjà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727" y="3931920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8727" y="4041648"/>
            <a:ext cx="45720" cy="206654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9895" y="4059935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Risque R&amp;D — assumé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9895" y="4407408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Gestion de clés on-prem — </a:t>
            </a:r>
            <a:r>
              <a:rPr sz="1150" b="0">
                <a:solidFill>
                  <a:srgbClr val="596371"/>
                </a:solidFill>
                <a:latin typeface="Arial"/>
              </a:rPr>
              <a:t>cycle de vie des identités cryptographiques d'agents (rotation, révocation)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Sémantique d'atténuation — </a:t>
            </a:r>
            <a:r>
              <a:rPr sz="1150" b="0">
                <a:solidFill>
                  <a:srgbClr val="596371"/>
                </a:solidFill>
                <a:latin typeface="Arial"/>
              </a:rPr>
              <a:t>formaliser l'intersection mandat ∩ droits sans exploser la complexité des manifestes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Risque global — </a:t>
            </a:r>
            <a:r>
              <a:rPr sz="1150" b="0">
                <a:solidFill>
                  <a:srgbClr val="596371"/>
                </a:solidFill>
                <a:latin typeface="Arial"/>
              </a:rPr>
              <a:t>modéré — le moteur existe, la couche mandat + signature s'y greffe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Courier New"/>
              </a:rPr>
              <a:t>PISTE B — GAIN PAR L'EXEMPLE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Tentative d'action hors mandat par un agent autonome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7839" cy="77724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1054577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SITUATION   </a:t>
            </a:r>
            <a:r>
              <a:rPr sz="1300" b="1">
                <a:solidFill>
                  <a:srgbClr val="FFFFFF"/>
                </a:solidFill>
                <a:latin typeface="Arial"/>
              </a:rPr>
              <a:t>Un agent d'approvisionnement autonome tente un appel payment_release au-delà du seuil délégué, hors de la fenêtre temporelle de son mandat.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596896"/>
            <a:ext cx="45720" cy="1655063"/>
          </a:xfrm>
          <a:prstGeom prst="rect">
            <a:avLst/>
          </a:prstGeom>
          <a:solidFill>
            <a:srgbClr val="596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61518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96371"/>
                </a:solidFill>
                <a:latin typeface="Arial"/>
              </a:rPr>
              <a:t>Sans — état de l'art actuel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962656"/>
            <a:ext cx="4980279" cy="1252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Contrôles applicatifs ad hoc, dispersés dans le code de chaque agent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Logs simples, falsifiables, responsabilité diluée entre humain et machine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Conséquence : le RSSI refuse l'autonomie sur tout périmètre sensible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596896"/>
            <a:ext cx="45720" cy="1655063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9895" y="261518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Arial"/>
              </a:rPr>
              <a:t>Avec la piste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9895" y="2962656"/>
            <a:ext cx="4980279" cy="1252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Blocage au point d'autorisation central — by-design, pas par convention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Trace signée non répudiable : qui a mandaté quoi, à quel agent, pour quel périmètre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Kill-switch : révocation immédiate du mandat, effet sur tous les runs en cours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44568"/>
            <a:ext cx="11057839" cy="16916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54296"/>
            <a:ext cx="45720" cy="14721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681728"/>
            <a:ext cx="776599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Courier New"/>
              </a:rPr>
              <a:t>VALEUR POUR LE CLIENT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L'autonomie devient autorisable sur périmètres sensibles — c'est le verrou n°1 de l'adoption des agents en entreprise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Responsabilité attribuable : chaque action a un mandant identifié, condition de l'engagement juridique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Le périmètre d'agents s'étend sans étendre le risque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2967" y="468172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Courier New"/>
              </a:rPr>
              <a:t>ORDRE DE GRANDEUR*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0 action hors mandat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possible by-design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autorisation agent :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jours → heures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2967" y="61447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* projection illustrative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8F62"/>
                </a:solidFill>
                <a:latin typeface="Courier New"/>
              </a:rPr>
              <a:t>PISTE C —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Auto-amélioration gouvernée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8727" y="3977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9" name="Oval 8"/>
          <p:cNvSpPr/>
          <p:nvPr/>
        </p:nvSpPr>
        <p:spPr>
          <a:xfrm>
            <a:off x="9704527" y="420624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01123" y="420624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97719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94315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90911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8727" y="69037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15" name="Oval 14"/>
          <p:cNvSpPr/>
          <p:nvPr/>
        </p:nvSpPr>
        <p:spPr>
          <a:xfrm>
            <a:off x="9704527" y="713232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01123" y="713232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97719" y="713232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94315" y="713232"/>
            <a:ext cx="137160" cy="137160"/>
          </a:xfrm>
          <a:prstGeom prst="ellipse">
            <a:avLst/>
          </a:prstGeom>
          <a:solidFill>
            <a:srgbClr val="0E8F62"/>
          </a:solidFill>
          <a:ln w="9525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90911" y="713232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1481328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1591056"/>
            <a:ext cx="45720" cy="2066543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160934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F62"/>
                </a:solidFill>
                <a:latin typeface="Arial"/>
              </a:rPr>
              <a:t>Le 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1956816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Boucle fermée — </a:t>
            </a:r>
            <a:r>
              <a:rPr sz="1150" b="0">
                <a:solidFill>
                  <a:srgbClr val="596371"/>
                </a:solidFill>
                <a:latin typeface="Arial"/>
              </a:rPr>
              <a:t>détection de dérive (scoring) → patch de politique proposé → simulation offline sur runs historiques → gate statistique → décision humaine → rollout progressif + rollback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Primitive de plateforme — </a:t>
            </a:r>
            <a:r>
              <a:rPr sz="1150" b="0">
                <a:solidFill>
                  <a:srgbClr val="596371"/>
                </a:solidFill>
                <a:latin typeface="Arial"/>
              </a:rPr>
              <a:t>l'orchestrateur s'améliore mesurablement sans jamais sortir du cadre de gouvernance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931920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041648"/>
            <a:ext cx="45720" cy="2066543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059935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F62"/>
                </a:solidFill>
                <a:latin typeface="Arial"/>
              </a:rPr>
              <a:t>Pourquoi introuvable ailleurs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407408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LangSmith / Langfuse — </a:t>
            </a:r>
            <a:r>
              <a:rPr sz="1150" b="0">
                <a:solidFill>
                  <a:srgbClr val="596371"/>
                </a:solidFill>
                <a:latin typeface="Arial"/>
              </a:rPr>
              <a:t>observent, ne bouclent pas — aucune action gouvernée en retour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DSPy et l'optimisation offline — </a:t>
            </a:r>
            <a:r>
              <a:rPr sz="1150" b="0">
                <a:solidFill>
                  <a:srgbClr val="596371"/>
                </a:solidFill>
                <a:latin typeface="Arial"/>
              </a:rPr>
              <a:t>optimisent sans gouvernance ni chemin vers la production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Personne ne livre — </a:t>
            </a:r>
            <a:r>
              <a:rPr sz="1150" b="0">
                <a:solidFill>
                  <a:srgbClr val="596371"/>
                </a:solidFill>
                <a:latin typeface="Arial"/>
              </a:rPr>
              <a:t>l'adaptation continue sous gates statistiques et approbation RBAC comme primitive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8727" y="1481328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8727" y="1591056"/>
            <a:ext cx="45720" cy="206654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9895" y="160934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Appuis dans l'existant Agentium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9895" y="1956816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Scoring &amp; seuils (E1.5 — livré) — </a:t>
            </a:r>
            <a:r>
              <a:rPr sz="1150" b="0">
                <a:solidFill>
                  <a:srgbClr val="596371"/>
                </a:solidFill>
                <a:latin typeface="Arial"/>
              </a:rPr>
              <a:t>évaluation auto des runs, triggers de threshold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Recommandations proactives (E5 — livré) — </a:t>
            </a:r>
            <a:r>
              <a:rPr sz="1150" b="0">
                <a:solidFill>
                  <a:srgbClr val="596371"/>
                </a:solidFill>
                <a:latin typeface="Arial"/>
              </a:rPr>
              <a:t>agrégation de scores, suggestions idempotentes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Simulation offline (E6 — architecturée) — </a:t>
            </a:r>
            <a:r>
              <a:rPr sz="1150" b="0">
                <a:solidFill>
                  <a:srgbClr val="596371"/>
                </a:solidFill>
                <a:latin typeface="Arial"/>
              </a:rPr>
              <a:t>what-if policy sur historique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golden_flag_ab (livré) — </a:t>
            </a:r>
            <a:r>
              <a:rPr sz="1150" b="0">
                <a:solidFill>
                  <a:srgbClr val="596371"/>
                </a:solidFill>
                <a:latin typeface="Arial"/>
              </a:rPr>
              <a:t>gate : le variant doit atteindre ≥ baseline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≈ 70% du chemin déjà construit — </a:t>
            </a:r>
            <a:r>
              <a:rPr sz="1150" b="0">
                <a:solidFill>
                  <a:srgbClr val="596371"/>
                </a:solidFill>
                <a:latin typeface="Arial"/>
              </a:rPr>
              <a:t>Vague E — il reste l'intégration de la boucle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727" y="3931920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8727" y="4041648"/>
            <a:ext cx="45720" cy="206654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9895" y="4059935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Risque R&amp;D — assumé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9895" y="4407408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Risque R&amp;D faible — </a:t>
            </a:r>
            <a:r>
              <a:rPr sz="1150" b="0">
                <a:solidFill>
                  <a:srgbClr val="596371"/>
                </a:solidFill>
                <a:latin typeface="Arial"/>
              </a:rPr>
              <a:t>assemblage de briques livrées plus que recherche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Point dur résiduel — </a:t>
            </a:r>
            <a:r>
              <a:rPr sz="1150" b="0">
                <a:solidFill>
                  <a:srgbClr val="596371"/>
                </a:solidFill>
                <a:latin typeface="Arial"/>
              </a:rPr>
              <a:t>représentativité de l'historique de runs pour la simulation (biais de distribution)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8F62"/>
                </a:solidFill>
                <a:latin typeface="Courier New"/>
              </a:rPr>
              <a:t>PISTE C — GAIN PAR L'EXEMPLE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Dérive de qualité après ajout d'un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7839" cy="77724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1054577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SITUATION   </a:t>
            </a:r>
            <a:r>
              <a:rPr sz="1300" b="1">
                <a:solidFill>
                  <a:srgbClr val="FFFFFF"/>
                </a:solidFill>
                <a:latin typeface="Arial"/>
              </a:rPr>
              <a:t>Un nouveau corpus documentaire est ingéré. Le pass-rate retrieval chute de 91% à 84% sur les requêtes golden.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596896"/>
            <a:ext cx="45720" cy="1655063"/>
          </a:xfrm>
          <a:prstGeom prst="rect">
            <a:avLst/>
          </a:prstGeom>
          <a:solidFill>
            <a:srgbClr val="596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61518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96371"/>
                </a:solidFill>
                <a:latin typeface="Arial"/>
              </a:rPr>
              <a:t>Sans — état de l'art actuel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962656"/>
            <a:ext cx="4980279" cy="1252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Tuning manuel à l'aveugle, directement en production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Risque de régression silencieuse sur les autres cas d'usage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Aucune trace de qui a changé quoi, ni pourquoi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596896"/>
            <a:ext cx="45720" cy="1655063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9895" y="261518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F62"/>
                </a:solidFill>
                <a:latin typeface="Arial"/>
              </a:rPr>
              <a:t>Avec la piste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9895" y="2962656"/>
            <a:ext cx="4980279" cy="1252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Le système propose un patch : rag_mmr_enabled + λ = 0.6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Rejoue 500 runs historiques offline — gate : 84% → 93%, coût/run −18%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Approbation en un clic (RBAC), rollout progressif, rollback automatique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44568"/>
            <a:ext cx="11057839" cy="16916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54296"/>
            <a:ext cx="45720" cy="1472184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681728"/>
            <a:ext cx="776599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8F62"/>
                </a:solidFill>
                <a:latin typeface="Courier New"/>
              </a:rPr>
              <a:t>VALEUR POUR LE CLIENT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Amélioration continue chiffrée à chaque cycle — la qualité et le coût se pilotent comme des SLO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Zéro changement non gouverné : chaque évolution de politique a un dossier (simulation + gate + approbateur)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Démontrable dès le premier comité : les chiffres parlent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2967" y="468172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E8F62"/>
                </a:solidFill>
                <a:latin typeface="Courier New"/>
              </a:rPr>
              <a:t>ORDRE DE GRANDEUR*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pass-rate 84→93%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coût/run −18%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0 changement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non tracé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2967" y="61447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* projection illustrative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ourier New"/>
              </a:rPr>
              <a:t>PISTE D —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QoS token souverain — ordonnanceur de capacité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8727" y="3977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DIFF.</a:t>
            </a:r>
          </a:p>
        </p:txBody>
      </p:sp>
      <p:sp>
        <p:nvSpPr>
          <p:cNvPr id="9" name="Oval 8"/>
          <p:cNvSpPr/>
          <p:nvPr/>
        </p:nvSpPr>
        <p:spPr>
          <a:xfrm>
            <a:off x="9704527" y="420624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01123" y="420624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97719" y="420624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94315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90911" y="420624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8727" y="69037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96371"/>
                </a:solidFill>
                <a:latin typeface="Courier New"/>
              </a:rPr>
              <a:t>DISR.</a:t>
            </a:r>
          </a:p>
        </p:txBody>
      </p:sp>
      <p:sp>
        <p:nvSpPr>
          <p:cNvPr id="15" name="Oval 14"/>
          <p:cNvSpPr/>
          <p:nvPr/>
        </p:nvSpPr>
        <p:spPr>
          <a:xfrm>
            <a:off x="9704527" y="713232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01123" y="713232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97719" y="713232"/>
            <a:ext cx="137160" cy="13716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94315" y="713232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90911" y="713232"/>
            <a:ext cx="137160" cy="137160"/>
          </a:xfrm>
          <a:prstGeom prst="ellipse">
            <a:avLst/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1481328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1591056"/>
            <a:ext cx="45720" cy="206654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160934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Le 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1956816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Contrats de tokens par Run / tenant — </a:t>
            </a:r>
            <a:r>
              <a:rPr sz="1150" b="0">
                <a:solidFill>
                  <a:srgbClr val="596371"/>
                </a:solidFill>
                <a:latin typeface="Arial"/>
              </a:rPr>
              <a:t>admission control, classes de priorité sur la capacité GPU souveraine partagée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Dégradation déterministe — </a:t>
            </a:r>
            <a:r>
              <a:rPr sz="1150" b="0">
                <a:solidFill>
                  <a:srgbClr val="596371"/>
                </a:solidFill>
                <a:latin typeface="Arial"/>
              </a:rPr>
              <a:t>quand le budget se resserre, l'ordre de sacrifice est connu : compression → budget rerank → MMR — jamais aléatoire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Attribution de coût — </a:t>
            </a:r>
            <a:r>
              <a:rPr sz="1150" b="0">
                <a:solidFill>
                  <a:srgbClr val="596371"/>
                </a:solidFill>
                <a:latin typeface="Arial"/>
              </a:rPr>
              <a:t>par SkillInvocation → chargeback précis par direction métier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931920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041648"/>
            <a:ext cx="45720" cy="206654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059935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Pourquoi introuvable ailleurs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407408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Hyperscalers — </a:t>
            </a:r>
            <a:r>
              <a:rPr sz="1150" b="0">
                <a:solidFill>
                  <a:srgbClr val="596371"/>
                </a:solidFill>
                <a:latin typeface="Arial"/>
              </a:rPr>
              <a:t>font du QoS token en interne, ne l'exposent jamais à leurs clients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Frameworks d'orchestration — </a:t>
            </a:r>
            <a:r>
              <a:rPr sz="1150" b="0">
                <a:solidFill>
                  <a:srgbClr val="596371"/>
                </a:solidFill>
                <a:latin typeface="Arial"/>
              </a:rPr>
              <a:t>ne gèrent pas la capacité du tout — ils consomment des API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Sur capacité souveraine finie — </a:t>
            </a:r>
            <a:r>
              <a:rPr sz="1150" b="0">
                <a:solidFill>
                  <a:srgbClr val="596371"/>
                </a:solidFill>
                <a:latin typeface="Arial"/>
              </a:rPr>
              <a:t>(le cas PIH par définition), c'est ce qui transforme « scalability » d'une promesse en un contrat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8727" y="1481328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8727" y="1591056"/>
            <a:ext cx="45720" cy="206654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9895" y="160934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Appuis dans l'existant Agentium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9895" y="1956816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Budget génératif RAGGER (prod) — </a:t>
            </a:r>
            <a:r>
              <a:rPr sz="1150" b="0">
                <a:solidFill>
                  <a:srgbClr val="596371"/>
                </a:solidFill>
                <a:latin typeface="Arial"/>
              </a:rPr>
              <a:t>résolution de fenêtre, paliers, clamps de sécurité — déjà déterministe par génération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Knobs de pipeline existants — </a:t>
            </a:r>
            <a:r>
              <a:rPr sz="1150" b="0">
                <a:solidFill>
                  <a:srgbClr val="596371"/>
                </a:solidFill>
                <a:latin typeface="Arial"/>
              </a:rPr>
              <a:t>compression, budget cross-encoder (0.5s), MMR — tous flag-controlés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SkillInvocation ledger — </a:t>
            </a:r>
            <a:r>
              <a:rPr sz="1150" b="0">
                <a:solidFill>
                  <a:srgbClr val="596371"/>
                </a:solidFill>
                <a:latin typeface="Arial"/>
              </a:rPr>
              <a:t>le grain d'attribution de coût existe déjà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727" y="3931920"/>
            <a:ext cx="534603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8727" y="4041648"/>
            <a:ext cx="45720" cy="206654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9895" y="4059935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Risque R&amp;D — assumé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9895" y="4407408"/>
            <a:ext cx="4980279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Ordonnancement multi-tenant — </a:t>
            </a:r>
            <a:r>
              <a:rPr sz="1150" b="0">
                <a:solidFill>
                  <a:srgbClr val="596371"/>
                </a:solidFill>
                <a:latin typeface="Arial"/>
              </a:rPr>
              <a:t>préemption et famine sur GPU partagé — classique mais exigeant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596371"/>
                </a:solidFill>
                <a:latin typeface="Arial"/>
              </a:rPr>
              <a:t>▪ </a:t>
            </a:r>
            <a:r>
              <a:rPr sz="1150" b="1">
                <a:solidFill>
                  <a:srgbClr val="151A23"/>
                </a:solidFill>
                <a:latin typeface="Arial"/>
              </a:rPr>
              <a:t>Calibration des paliers — </a:t>
            </a:r>
            <a:r>
              <a:rPr sz="1150" b="0">
                <a:solidFill>
                  <a:srgbClr val="596371"/>
                </a:solidFill>
                <a:latin typeface="Arial"/>
              </a:rPr>
              <a:t>lier latence cible et budget token par classe de service demande du bench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ourier New"/>
              </a:rPr>
              <a:t>PISTE D — GAIN PAR L'EXEMPLE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Pic de charge sur capacité GPU souveraine finie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7839" cy="77724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91056"/>
            <a:ext cx="1054577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D6CDF"/>
                </a:solidFill>
                <a:latin typeface="Courier New"/>
              </a:rPr>
              <a:t>SITUATION   </a:t>
            </a:r>
            <a:r>
              <a:rPr sz="1300" b="1">
                <a:solidFill>
                  <a:srgbClr val="FFFFFF"/>
                </a:solidFill>
                <a:latin typeface="Arial"/>
              </a:rPr>
              <a:t>Fin de mois : le briefing exécutif interactif et un batch documentaire massif se disputent la même capacité GPU souveraine.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596896"/>
            <a:ext cx="45720" cy="1655063"/>
          </a:xfrm>
          <a:prstGeom prst="rect">
            <a:avLst/>
          </a:prstGeom>
          <a:solidFill>
            <a:srgbClr val="5963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61518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96371"/>
                </a:solidFill>
                <a:latin typeface="Arial"/>
              </a:rPr>
              <a:t>Sans — état de l'art actuel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962656"/>
            <a:ext cx="4980279" cy="1252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Latence imprévisible pour tout le monde — y compris l'exécutif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Seule issue : surprovisionner le GPU (capex) pour absorber le pic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Coûts d'inférence non attribuables aux directions consommatrices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487168"/>
            <a:ext cx="5346039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596896"/>
            <a:ext cx="45720" cy="165506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9895" y="261518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09"/>
                </a:solidFill>
                <a:latin typeface="Arial"/>
              </a:rPr>
              <a:t>Avec la piste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9895" y="2962656"/>
            <a:ext cx="4980279" cy="1252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Classe « critique » garantie : le briefing tient sa latence cible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Le batch dégrade selon l'échelle déterministe — résultat prédictible, jamais aléatoire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596371"/>
                </a:solidFill>
                <a:latin typeface="Arial"/>
              </a:rPr>
              <a:t>▪ Chargeback par direction sur la base du ledger d'invocations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44568"/>
            <a:ext cx="11057839" cy="16916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54296"/>
            <a:ext cx="45720" cy="14721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681728"/>
            <a:ext cx="776599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ourier New"/>
              </a:rPr>
              <a:t>VALEUR POUR LE CLIENT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SLA tenus sans GPU additionnels — le capex évité finance la plateforme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Coûts prédictibles par classe de service — lisible pour un DSI comme pour un CFO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L'arbitrage de capacité devient une décision de gestion, plus un incident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2967" y="468172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ourier New"/>
              </a:rPr>
              <a:t>ORDRE DE GRANDEUR*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capex GPU évité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latence garantie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par classe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151A23"/>
                </a:solidFill>
                <a:latin typeface="Courier New"/>
              </a:rPr>
              <a:t>chargeback / dir.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2967" y="61447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* projection illustrative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ourier New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Évaluation comparative des quatre pistes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08760"/>
          <a:ext cx="1105783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92959"/>
                <a:gridCol w="2192959"/>
                <a:gridCol w="2192959"/>
                <a:gridCol w="2192959"/>
              </a:tblGrid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Critère</a:t>
                      </a:r>
                    </a:p>
                  </a:txBody>
                  <a:tcPr anchor="ctr" marL="73152" marR="54864" marT="27432" marB="27432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 — Exécution certifiée</a:t>
                      </a:r>
                    </a:p>
                  </a:txBody>
                  <a:tcPr anchor="ctr" marL="73152" marR="54864" marT="27432" marB="27432">
                    <a:solidFill>
                      <a:srgbClr val="2D6C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 — Mandats d'agent</a:t>
                      </a:r>
                    </a:p>
                  </a:txBody>
                  <a:tcPr anchor="ctr" marL="73152" marR="54864" marT="27432" marB="27432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 — Auto-amélioration</a:t>
                      </a:r>
                    </a:p>
                  </a:txBody>
                  <a:tcPr anchor="ctr" marL="73152" marR="54864" marT="27432" marB="27432">
                    <a:solidFill>
                      <a:srgbClr val="0E8F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 — QoS token</a:t>
                      </a:r>
                    </a:p>
                  </a:txBody>
                  <a:tcPr anchor="ctr" marL="73152" marR="54864" marT="27432" marB="27432">
                    <a:solidFill>
                      <a:srgbClr val="B4530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51A23"/>
                          </a:solidFill>
                          <a:latin typeface="Arial"/>
                        </a:rPr>
                        <a:t>Piliers PIH servis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Souveraineté · Robustesse · Audit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Sécurité · Audit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Token perf · Robustesse · Observabilité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Token perf · Scalabilité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51A23"/>
                          </a:solidFill>
                          <a:latin typeface="Arial"/>
                        </a:rPr>
                        <a:t>Exclusivité réelle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Très forte — physiquement impossible en cloud-API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Forte — Entra arrive, mais cloud-only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Forte — personne ne boucle avec gouvernance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Forte mais discrète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51A23"/>
                          </a:solidFill>
                          <a:latin typeface="Arial"/>
                        </a:rPr>
                        <a:t>Appui sur l'existant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Élevé (replay lineage, ledger, vLLM)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Élevé (IAM engine, manifestes)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Très élevé (≈70% livré, Vague 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Élevé (RAGGER, knobs pipeline)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51A23"/>
                          </a:solidFill>
                          <a:latin typeface="Arial"/>
                        </a:rPr>
                        <a:t>Défendabilité (brevet / publi)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Forte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Moyenne-forte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Moyenne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6371"/>
                          </a:solidFill>
                          <a:latin typeface="Arial"/>
                        </a:rPr>
                        <a:t>Moyenne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51A23"/>
                          </a:solidFill>
                          <a:latin typeface="Arial"/>
                        </a:rPr>
                        <a:t>Difficulté R&amp;D (1–5)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6CDF"/>
                          </a:solidFill>
                          <a:latin typeface="Courier New"/>
                        </a:rPr>
                        <a:t>● ● ● ● ○ 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D28D9"/>
                          </a:solidFill>
                          <a:latin typeface="Courier New"/>
                        </a:rPr>
                        <a:t>● ● ● ○ ○ 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8F62"/>
                          </a:solidFill>
                          <a:latin typeface="Courier New"/>
                        </a:rPr>
                        <a:t>● ● ○ ○ ○ 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45309"/>
                          </a:solidFill>
                          <a:latin typeface="Courier New"/>
                        </a:rPr>
                        <a:t>● ● ● ○ ○ 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51A23"/>
                          </a:solidFill>
                          <a:latin typeface="Arial"/>
                        </a:rPr>
                        <a:t>Disruption / exclusivité (1–5)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6CDF"/>
                          </a:solidFill>
                          <a:latin typeface="Courier New"/>
                        </a:rPr>
                        <a:t>● ● ● ● ● 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D28D9"/>
                          </a:solidFill>
                          <a:latin typeface="Courier New"/>
                        </a:rPr>
                        <a:t>● ● ● ● ○ 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E8F62"/>
                          </a:solidFill>
                          <a:latin typeface="Courier New"/>
                        </a:rPr>
                        <a:t>● ● ● ● ○ 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B45309"/>
                          </a:solidFill>
                          <a:latin typeface="Courier New"/>
                        </a:rPr>
                        <a:t>● ● ● ○ ○ </a:t>
                      </a:r>
                    </a:p>
                  </a:txBody>
                  <a:tcPr anchor="ctr" marL="73152" marR="54864" marT="27432" marB="27432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96371"/>
                </a:solidFill>
                <a:latin typeface="Arial"/>
              </a:rPr>
              <a:t>Lecture : </a:t>
            </a:r>
            <a:r>
              <a:rPr sz="1100" b="0">
                <a:solidFill>
                  <a:srgbClr val="596371"/>
                </a:solidFill>
                <a:latin typeface="Arial"/>
              </a:rPr>
              <a:t>C est le quick-win démontrable ; A est le différenciateur structurel — sa difficulté est la barrière à l'entrée des concurrents.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ourier New"/>
              </a:rPr>
              <a:t>CADRE RÉGLEMENTAIRE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Qatar &amp; Golfe : pas d'AI Act, une trajectoire exploitable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5346039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45720" cy="215798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0934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Qatar — sectoriel, pas horizontal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56816"/>
            <a:ext cx="4980279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QCB AI Guidelines (09/2024) — </a:t>
            </a:r>
            <a:r>
              <a:rPr sz="1050" b="0">
                <a:solidFill>
                  <a:srgbClr val="151A23"/>
                </a:solidFill>
                <a:latin typeface="Arial"/>
              </a:rPr>
              <a:t>contraignant pour la finance : systèmes « haut risque », supervision humaine, reporting régulateur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NCSA (2024) — </a:t>
            </a:r>
            <a:r>
              <a:rPr sz="1050" b="0">
                <a:solidFill>
                  <a:srgbClr val="151A23"/>
                </a:solidFill>
                <a:latin typeface="Arial"/>
              </a:rPr>
              <a:t>guidelines d'adoption sécurisée de l'IA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QFMA (05/2025) — </a:t>
            </a:r>
            <a:r>
              <a:rPr sz="1050" b="0">
                <a:solidFill>
                  <a:srgbClr val="151A23"/>
                </a:solidFill>
                <a:latin typeface="Arial"/>
              </a:rPr>
              <a:t>projet de règles IA pour les marchés de capitaux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Phase 3 (2026–2027) — </a:t>
            </a:r>
            <a:r>
              <a:rPr sz="1050" b="0">
                <a:solidFill>
                  <a:srgbClr val="151A23"/>
                </a:solidFill>
                <a:latin typeface="Arial"/>
              </a:rPr>
              <a:t>harmonisation inter-sectorielle + alignement Golfe — le cadre horizontal est la trajectoire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481328"/>
            <a:ext cx="5346039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1591056"/>
            <a:ext cx="45720" cy="215798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9895" y="1609344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Région — souveraineté avant conformité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9895" y="1956816"/>
            <a:ext cx="4980279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Arabie Saoudite — </a:t>
            </a:r>
            <a:r>
              <a:rPr sz="1050" b="0">
                <a:solidFill>
                  <a:srgbClr val="151A23"/>
                </a:solidFill>
                <a:latin typeface="Arial"/>
              </a:rPr>
              <a:t>2026 « Year of AI », loi IA attendue ; draft Global AI Hub Law : data embassies, souveraineté numérique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EAU — </a:t>
            </a:r>
            <a:r>
              <a:rPr sz="1050" b="0">
                <a:solidFill>
                  <a:srgbClr val="151A23"/>
                </a:solidFill>
                <a:latin typeface="Arial"/>
              </a:rPr>
              <a:t>soft law assumée (AI Charter 2024) + contraignant sectoriel (CBUAE, 02/2026)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Bahreïn — </a:t>
            </a:r>
            <a:r>
              <a:rPr sz="1050" b="0">
                <a:solidFill>
                  <a:srgbClr val="151A23"/>
                </a:solidFill>
                <a:latin typeface="Arial"/>
              </a:rPr>
              <a:t>seule proposition de loi IA dédiée du GCC (04/2024)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151A23"/>
                </a:solidFill>
                <a:latin typeface="Arial"/>
              </a:rPr>
              <a:t>▪ </a:t>
            </a:r>
            <a:r>
              <a:rPr sz="1050" b="1">
                <a:solidFill>
                  <a:srgbClr val="151A23"/>
                </a:solidFill>
                <a:latin typeface="Arial"/>
              </a:rPr>
              <a:t>AI Act UE — </a:t>
            </a:r>
            <a:r>
              <a:rPr sz="1050" b="0">
                <a:solidFill>
                  <a:srgbClr val="151A23"/>
                </a:solidFill>
                <a:latin typeface="Arial"/>
              </a:rPr>
              <a:t>applicable extraterritorialement si sorties utilisées dans l'UE — pleinement en vigueur depuis 08/2026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41648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69663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CDF"/>
                </a:solidFill>
                <a:latin typeface="Courier New"/>
              </a:rPr>
              <a:t>IMPLICATION POUR LE PITCH PIH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Le driver régional est la souveraineté prouvable, pas la conformité au risque. Construire la traçabilité de niveau « preuve » maintenant = conforme avant que les règles n'atterrissent.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166360"/>
            <a:ext cx="1105783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2545"/>
                </a:solidFill>
                <a:latin typeface="Courier New"/>
              </a:rPr>
              <a:t>SOURCES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D6CDF"/>
                </a:solidFill>
                <a:latin typeface="Arial"/>
                <a:hlinkClick r:id="rId2"/>
              </a:rPr>
              <a:t>↗ Nemko — AI Regulation in Qatar</a:t>
            </a:r>
            <a:r>
              <a:rPr sz="950" b="0">
                <a:solidFill>
                  <a:srgbClr val="596371"/>
                </a:solidFill>
                <a:latin typeface="Arial"/>
              </a:rPr>
              <a:t>      </a:t>
            </a:r>
            <a:r>
              <a:rPr sz="950" b="0">
                <a:solidFill>
                  <a:srgbClr val="2D6CDF"/>
                </a:solidFill>
                <a:latin typeface="Arial"/>
                <a:hlinkClick r:id="rId3"/>
              </a:rPr>
              <a:t>↗ Pinsent Masons — Gulf approach to AI regulation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D6CDF"/>
                </a:solidFill>
                <a:latin typeface="Arial"/>
                <a:hlinkClick r:id="rId4"/>
              </a:rPr>
              <a:t>↗ TransPerfect — Saudi Global AI Hub Law</a:t>
            </a:r>
            <a:r>
              <a:rPr sz="950" b="0">
                <a:solidFill>
                  <a:srgbClr val="596371"/>
                </a:solidFill>
                <a:latin typeface="Arial"/>
              </a:rPr>
              <a:t>      </a:t>
            </a:r>
            <a:r>
              <a:rPr sz="950" b="0">
                <a:solidFill>
                  <a:srgbClr val="2D6CDF"/>
                </a:solidFill>
                <a:latin typeface="Arial"/>
                <a:hlinkClick r:id="rId5"/>
              </a:rPr>
              <a:t>↗ Pinsent Masons — Saudi data sovereignty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D6CDF"/>
                </a:solidFill>
                <a:latin typeface="Arial"/>
                <a:hlinkClick r:id="rId6"/>
              </a:rPr>
              <a:t>↗ Bird &amp; Bird — AI Horizon Tracker (KSA)</a:t>
            </a:r>
            <a:r>
              <a:rPr sz="950" b="0">
                <a:solidFill>
                  <a:srgbClr val="596371"/>
                </a:solidFill>
                <a:latin typeface="Arial"/>
              </a:rPr>
              <a:t>      </a:t>
            </a:r>
            <a:r>
              <a:rPr sz="950" b="0">
                <a:solidFill>
                  <a:srgbClr val="2D6CDF"/>
                </a:solidFill>
                <a:latin typeface="Arial"/>
                <a:hlinkClick r:id="rId7"/>
              </a:rPr>
              <a:t>↗ Modulos — Middle East AI Compliance Guide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D6CDF"/>
                </a:solidFill>
                <a:latin typeface="Arial"/>
                <a:hlinkClick r:id="rId8"/>
              </a:rPr>
              <a:t>↗ Commission européenne — AI Act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74320" cy="411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" y="365760"/>
            <a:ext cx="10673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ourier New"/>
              </a:rPr>
              <a:t>RECOMMANDATION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51A23"/>
                </a:solidFill>
                <a:latin typeface="Arial"/>
              </a:rPr>
              <a:t>Un scope en deux temps sous une bannière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61872"/>
            <a:ext cx="11057839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71"/>
                </a:solidFill>
                <a:latin typeface="Arial"/>
              </a:rPr>
              <a:t>Datategy — Agentium R&amp;D — Confidentiel — Juin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71"/>
                </a:solidFill>
                <a:latin typeface="Courier New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7839" cy="86868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ourier New"/>
              </a:rPr>
              <a:t>« SOVEREIGN PROOF-OF-EXECUTION »  </a:t>
            </a:r>
            <a:r>
              <a:rPr sz="1300" b="0">
                <a:solidFill>
                  <a:srgbClr val="BED0E8"/>
                </a:solidFill>
                <a:latin typeface="Arial"/>
              </a:rPr>
              <a:t>— la souveraineté de PIH cesse d'être une contrainte : elle devient la capacité que personne d'autre ne peut leur offrir.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06040"/>
            <a:ext cx="5346039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15768"/>
            <a:ext cx="45720" cy="1883663"/>
          </a:xfrm>
          <a:prstGeom prst="rect">
            <a:avLst/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734056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8F62"/>
                </a:solidFill>
                <a:latin typeface="Arial"/>
              </a:rPr>
              <a:t>Temps 1 — Piste C : le quick-win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81528"/>
            <a:ext cx="4980279" cy="1481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51A23"/>
                </a:solidFill>
                <a:latin typeface="Arial"/>
              </a:rPr>
              <a:t>▪ Fermer la boucle d'auto-amélioration gouvernée (≈70% livré)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51A23"/>
                </a:solidFill>
                <a:latin typeface="Arial"/>
              </a:rPr>
              <a:t>▪ Preuve de valeur chiffrée dès le premier comité : pass-rate, coût/run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51A23"/>
                </a:solidFill>
                <a:latin typeface="Arial"/>
              </a:rPr>
              <a:t>▪ Démontre la maturité de la chaîne System → Run → Evaluation → Decision →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606040"/>
            <a:ext cx="5346039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715768"/>
            <a:ext cx="45720" cy="1883663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9895" y="2734056"/>
            <a:ext cx="4980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6CDF"/>
                </a:solidFill>
                <a:latin typeface="Arial"/>
              </a:rPr>
              <a:t>Temps 2 — Pistes A + B : le différenciateur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9895" y="3081528"/>
            <a:ext cx="4980279" cy="1481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51A23"/>
                </a:solidFill>
                <a:latin typeface="Arial"/>
              </a:rPr>
              <a:t>▪ Replay déterministe certifié portant la chaîne de mandats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51A23"/>
                </a:solidFill>
                <a:latin typeface="Arial"/>
              </a:rPr>
              <a:t>▪ Non copiable par un concurrent cloud sans renoncer à son modèle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151A23"/>
                </a:solidFill>
                <a:latin typeface="Arial"/>
              </a:rPr>
              <a:t>▪ La piste D suit en extension naturelle du contrat de 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92040"/>
            <a:ext cx="11057839" cy="12344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001768"/>
            <a:ext cx="45720" cy="10149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5029200"/>
            <a:ext cx="1060063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Courier New"/>
              </a:rPr>
              <a:t>POINTS DE VIGILANCE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Ne pas survendre le bit-exact : annoncer « replay certifié + rapport de divergence », le bit-exact strict étant le mode nominal sur couloir épinglé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151A23"/>
                </a:solidFill>
                <a:latin typeface="Arial"/>
              </a:rPr>
              <a:t>▪ Prérequis E0 (rotation des secrets Keycloak / PG) bloquant avant tout engagement client réel — roadmap interne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