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28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6873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51A23"/>
                </a:solidFill>
                <a:latin typeface="Arial"/>
              </a:rPr>
              <a:t>Architecture Agentium — workspace Andritz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85216"/>
            <a:ext cx="113687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596371"/>
                </a:solidFill>
                <a:latin typeface="Arial"/>
              </a:rPr>
              <a:t>Slide 1/2 · Vue applicative · technos &amp; flux métier · inférence Qwen 3.5 on-prem (zéro API cloud IA)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914400"/>
            <a:ext cx="3655466" cy="1499616"/>
          </a:xfrm>
          <a:prstGeom prst="roundRect">
            <a:avLst>
              <a:gd name="adj" fmla="val 6000"/>
            </a:avLst>
          </a:prstGeom>
          <a:solidFill>
            <a:srgbClr val="E8ECF1"/>
          </a:solidFill>
          <a:ln w="12700">
            <a:solidFill>
              <a:srgbClr val="0B2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11480" y="914400"/>
            <a:ext cx="3655466" cy="329184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978408"/>
            <a:ext cx="3472586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50" b="1">
                <a:solidFill>
                  <a:srgbClr val="FFFFFF"/>
                </a:solidFill>
                <a:latin typeface="Arial"/>
              </a:rPr>
              <a:t>Accès &amp; sécurité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3472586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750">
                <a:solidFill>
                  <a:srgbClr val="596371"/>
                </a:solidFill>
                <a:latin typeface="Arial"/>
              </a:rPr>
              <a:t>Périmètre utilisateur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151A23"/>
                </a:solidFill>
                <a:latin typeface="Arial"/>
              </a:rPr>
              <a:t>• Keycloak (OIDC / SSO)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151A23"/>
                </a:solidFill>
                <a:latin typeface="Arial"/>
              </a:rPr>
              <a:t>• nginx + TLS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151A23"/>
                </a:solidFill>
                <a:latin typeface="Arial"/>
              </a:rPr>
              <a:t>• IAM Andritz activé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8114" y="914400"/>
            <a:ext cx="3655466" cy="1499616"/>
          </a:xfrm>
          <a:prstGeom prst="roundRect">
            <a:avLst>
              <a:gd name="adj" fmla="val 6000"/>
            </a:avLst>
          </a:prstGeom>
          <a:solidFill>
            <a:srgbClr val="E8ECF1"/>
          </a:solidFill>
          <a:ln w="12700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268114" y="914400"/>
            <a:ext cx="3655466" cy="329184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59554" y="978408"/>
            <a:ext cx="3472586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50" b="1">
                <a:solidFill>
                  <a:srgbClr val="FFFFFF"/>
                </a:solidFill>
                <a:latin typeface="Arial"/>
              </a:rPr>
              <a:t>Interface métier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9554" y="1280160"/>
            <a:ext cx="3472586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750">
                <a:solidFill>
                  <a:srgbClr val="596371"/>
                </a:solidFill>
                <a:latin typeface="Arial"/>
              </a:rPr>
              <a:t>Profil business Andritz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151A23"/>
                </a:solidFill>
                <a:latin typeface="Arial"/>
              </a:rPr>
              <a:t>• Angular 20 (Chat Recherche)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151A23"/>
                </a:solidFill>
                <a:latin typeface="Arial"/>
              </a:rPr>
              <a:t>• Knowledge Capture (voix)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151A23"/>
                </a:solidFill>
                <a:latin typeface="Arial"/>
              </a:rPr>
              <a:t>• Admin : gouvernance &amp; cockpit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4748" y="914400"/>
            <a:ext cx="3655466" cy="1499616"/>
          </a:xfrm>
          <a:prstGeom prst="roundRect">
            <a:avLst>
              <a:gd name="adj" fmla="val 6000"/>
            </a:avLst>
          </a:prstGeom>
          <a:solidFill>
            <a:srgbClr val="E8ECF1"/>
          </a:solidFill>
          <a:ln w="12700">
            <a:solidFill>
              <a:srgbClr val="0E8F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124748" y="914400"/>
            <a:ext cx="3655466" cy="329184"/>
          </a:xfrm>
          <a:prstGeom prst="roundRect">
            <a:avLst>
              <a:gd name="adj" fmla="val 6000"/>
            </a:avLst>
          </a:prstGeom>
          <a:solidFill>
            <a:srgbClr val="0E8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16188" y="978408"/>
            <a:ext cx="3472586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50" b="1">
                <a:solidFill>
                  <a:srgbClr val="FFFFFF"/>
                </a:solidFill>
                <a:latin typeface="Arial"/>
              </a:rPr>
              <a:t>Orchestration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6188" y="1280160"/>
            <a:ext cx="3472586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750">
                <a:solidFill>
                  <a:srgbClr val="596371"/>
                </a:solidFill>
                <a:latin typeface="Arial"/>
              </a:rPr>
              <a:t>Services applicatifs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151A23"/>
                </a:solidFill>
                <a:latin typeface="Arial"/>
              </a:rPr>
              <a:t>• FastAPI + Uvicorn (API, SSE chat)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151A23"/>
                </a:solidFill>
                <a:latin typeface="Arial"/>
              </a:rPr>
              <a:t>• Celery + RabbitMQ (jobs async)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151A23"/>
                </a:solidFill>
                <a:latin typeface="Arial"/>
              </a:rPr>
              <a:t>• PostgreSQL (sessions, métier)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2578608"/>
            <a:ext cx="7512100" cy="1755648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 w="127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11480" y="2578608"/>
            <a:ext cx="7512100" cy="329184"/>
          </a:xfrm>
          <a:prstGeom prst="roundRect">
            <a:avLst>
              <a:gd name="adj" fmla="val 6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2642616"/>
            <a:ext cx="7329220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50" b="1">
                <a:solidFill>
                  <a:srgbClr val="FFFFFF"/>
                </a:solidFill>
                <a:latin typeface="Arial"/>
              </a:rPr>
              <a:t>Inférence IA — 100 % on-prem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944368"/>
            <a:ext cx="7329220" cy="1353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750">
                <a:solidFill>
                  <a:srgbClr val="596371"/>
                </a:solidFill>
                <a:latin typeface="Arial"/>
              </a:rPr>
              <a:t>vLLM / TEI intra-cluster · zéro API externe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151A23"/>
                </a:solidFill>
                <a:latin typeface="Arial"/>
              </a:rPr>
              <a:t>• Chat RAG · Qwen3.5-122B-A10B (vLLM)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151A23"/>
                </a:solidFill>
                <a:latin typeface="Arial"/>
              </a:rPr>
              <a:t>• Capture oracle · Qwen3.5-35B-A3B (vLLM)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151A23"/>
                </a:solidFill>
                <a:latin typeface="Arial"/>
              </a:rPr>
              <a:t>• Embeddings · BGE-M3 (TEI) · Voix · Whisper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151A23"/>
                </a:solidFill>
                <a:latin typeface="Arial"/>
              </a:rPr>
              <a:t>• Rerank · cross-encoder ms-marco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24748" y="2578608"/>
            <a:ext cx="3655466" cy="1755648"/>
          </a:xfrm>
          <a:prstGeom prst="roundRect">
            <a:avLst>
              <a:gd name="adj" fmla="val 6000"/>
            </a:avLst>
          </a:prstGeom>
          <a:solidFill>
            <a:srgbClr val="E8ECF1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124748" y="2578608"/>
            <a:ext cx="3655466" cy="329184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16188" y="2642616"/>
            <a:ext cx="3472586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50" b="1">
                <a:solidFill>
                  <a:srgbClr val="FFFFFF"/>
                </a:solidFill>
                <a:latin typeface="Arial"/>
              </a:rPr>
              <a:t>Intelligence documentaire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6188" y="2944368"/>
            <a:ext cx="3472586" cy="1353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750" dirty="0">
                <a:solidFill>
                  <a:srgbClr val="596371"/>
                </a:solidFill>
                <a:latin typeface="Arial"/>
              </a:rPr>
              <a:t>RAG </a:t>
            </a:r>
            <a:r>
              <a:rPr sz="750" dirty="0" err="1">
                <a:solidFill>
                  <a:srgbClr val="596371"/>
                </a:solidFill>
                <a:latin typeface="Arial"/>
              </a:rPr>
              <a:t>industriel</a:t>
            </a:r>
            <a:r>
              <a:rPr sz="750" dirty="0">
                <a:solidFill>
                  <a:srgbClr val="596371"/>
                </a:solidFill>
                <a:latin typeface="Arial"/>
              </a:rPr>
              <a:t> SPL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800" dirty="0">
                <a:solidFill>
                  <a:srgbClr val="151A23"/>
                </a:solidFill>
                <a:latin typeface="Arial"/>
              </a:rPr>
              <a:t>• Recherche </a:t>
            </a:r>
            <a:r>
              <a:rPr sz="800" dirty="0" err="1">
                <a:solidFill>
                  <a:srgbClr val="151A23"/>
                </a:solidFill>
                <a:latin typeface="Arial"/>
              </a:rPr>
              <a:t>hybride</a:t>
            </a:r>
            <a:r>
              <a:rPr sz="800" dirty="0">
                <a:solidFill>
                  <a:srgbClr val="151A23"/>
                </a:solidFill>
                <a:latin typeface="Arial"/>
              </a:rPr>
              <a:t> </a:t>
            </a:r>
            <a:r>
              <a:rPr sz="800" dirty="0" err="1">
                <a:solidFill>
                  <a:srgbClr val="151A23"/>
                </a:solidFill>
                <a:latin typeface="Arial"/>
              </a:rPr>
              <a:t>Qdrant</a:t>
            </a:r>
            <a:r>
              <a:rPr sz="800" dirty="0">
                <a:solidFill>
                  <a:srgbClr val="151A23"/>
                </a:solidFill>
                <a:latin typeface="Arial"/>
              </a:rPr>
              <a:t> (dense + sparse)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151A23"/>
                </a:solidFill>
                <a:latin typeface="Arial"/>
              </a:rPr>
              <a:t>• Scope « </a:t>
            </a:r>
            <a:r>
              <a:rPr sz="800" dirty="0" err="1">
                <a:solidFill>
                  <a:srgbClr val="151A23"/>
                </a:solidFill>
                <a:latin typeface="Arial"/>
              </a:rPr>
              <a:t>Contexte</a:t>
            </a:r>
            <a:r>
              <a:rPr sz="800" dirty="0">
                <a:solidFill>
                  <a:srgbClr val="151A23"/>
                </a:solidFill>
                <a:latin typeface="Arial"/>
              </a:rPr>
              <a:t> Andritz SPL »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800" dirty="0">
                <a:solidFill>
                  <a:srgbClr val="151A23"/>
                </a:solidFill>
                <a:latin typeface="Arial"/>
              </a:rPr>
              <a:t>• Fiches </a:t>
            </a:r>
            <a:r>
              <a:rPr sz="800" dirty="0" err="1">
                <a:solidFill>
                  <a:srgbClr val="151A23"/>
                </a:solidFill>
                <a:latin typeface="Arial"/>
              </a:rPr>
              <a:t>expertes</a:t>
            </a:r>
            <a:r>
              <a:rPr sz="800" dirty="0">
                <a:solidFill>
                  <a:srgbClr val="151A23"/>
                </a:solidFill>
                <a:latin typeface="Arial"/>
              </a:rPr>
              <a:t> auto-</a:t>
            </a:r>
            <a:r>
              <a:rPr sz="800" dirty="0" err="1">
                <a:solidFill>
                  <a:srgbClr val="151A23"/>
                </a:solidFill>
                <a:latin typeface="Arial"/>
              </a:rPr>
              <a:t>publiées</a:t>
            </a:r>
            <a:endParaRPr sz="800" dirty="0">
              <a:solidFill>
                <a:srgbClr val="151A23"/>
              </a:solidFill>
              <a:latin typeface="Arial"/>
            </a:endParaRP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800" dirty="0">
                <a:solidFill>
                  <a:srgbClr val="151A23"/>
                </a:solidFill>
                <a:latin typeface="Arial"/>
              </a:rPr>
              <a:t>• Grounding &amp; </a:t>
            </a:r>
            <a:r>
              <a:rPr sz="800" dirty="0" err="1">
                <a:solidFill>
                  <a:srgbClr val="151A23"/>
                </a:solidFill>
                <a:latin typeface="Arial"/>
              </a:rPr>
              <a:t>traçabilité</a:t>
            </a:r>
            <a:r>
              <a:rPr sz="800" dirty="0">
                <a:solidFill>
                  <a:srgbClr val="151A23"/>
                </a:solidFill>
                <a:latin typeface="Arial"/>
              </a:rPr>
              <a:t> retrieval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4498848"/>
            <a:ext cx="3655466" cy="1499616"/>
          </a:xfrm>
          <a:prstGeom prst="roundRect">
            <a:avLst>
              <a:gd name="adj" fmla="val 6000"/>
            </a:avLst>
          </a:prstGeom>
          <a:solidFill>
            <a:srgbClr val="E8ECF1"/>
          </a:solidFill>
          <a:ln w="12700">
            <a:solidFill>
              <a:srgbClr val="0B25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11480" y="4498848"/>
            <a:ext cx="3655466" cy="329184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4562856"/>
            <a:ext cx="3472586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50" b="1">
                <a:solidFill>
                  <a:srgbClr val="FFFFFF"/>
                </a:solidFill>
                <a:latin typeface="Arial"/>
              </a:rPr>
              <a:t>Stockage &amp; données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864608"/>
            <a:ext cx="3472586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750">
                <a:solidFill>
                  <a:srgbClr val="596371"/>
                </a:solidFill>
                <a:latin typeface="Arial"/>
              </a:rPr>
              <a:t>Couche persistance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151A23"/>
                </a:solidFill>
                <a:latin typeface="Arial"/>
              </a:rPr>
              <a:t>• PostgreSQL (métier, ledger, sessions)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151A23"/>
                </a:solidFill>
                <a:latin typeface="Arial"/>
              </a:rPr>
              <a:t>• Qdrant (vecteurs SPL)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151A23"/>
                </a:solidFill>
                <a:latin typeface="Arial"/>
              </a:rPr>
              <a:t>• MinIO (objets &amp; fichiers)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268114" y="4498848"/>
            <a:ext cx="3655466" cy="1499616"/>
          </a:xfrm>
          <a:prstGeom prst="roundRect">
            <a:avLst>
              <a:gd name="adj" fmla="val 6000"/>
            </a:avLst>
          </a:prstGeom>
          <a:solidFill>
            <a:srgbClr val="E8ECF1"/>
          </a:solidFill>
          <a:ln w="12700">
            <a:solidFill>
              <a:srgbClr val="0E8F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4268114" y="4498848"/>
            <a:ext cx="3655466" cy="329184"/>
          </a:xfrm>
          <a:prstGeom prst="roundRect">
            <a:avLst>
              <a:gd name="adj" fmla="val 6000"/>
            </a:avLst>
          </a:prstGeom>
          <a:solidFill>
            <a:srgbClr val="0E8F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359554" y="4562856"/>
            <a:ext cx="3472586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50" b="1">
                <a:solidFill>
                  <a:srgbClr val="FFFFFF"/>
                </a:solidFill>
                <a:latin typeface="Arial"/>
              </a:rPr>
              <a:t>Ingestion documentaire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59554" y="4864608"/>
            <a:ext cx="3472586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750">
                <a:solidFill>
                  <a:srgbClr val="596371"/>
                </a:solidFill>
                <a:latin typeface="Arial"/>
              </a:rPr>
              <a:t>Entrée corpus SPL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151A23"/>
                </a:solidFill>
                <a:latin typeface="Arial"/>
              </a:rPr>
              <a:t>• SFTP Secure Deposit (Andritz)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151A23"/>
                </a:solidFill>
                <a:latin typeface="Arial"/>
              </a:rPr>
              <a:t>• OCR Tesseract · PDF / Excel / DOCX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151A23"/>
                </a:solidFill>
                <a:latin typeface="Arial"/>
              </a:rPr>
              <a:t>• Celery → indexation Qdrant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24748" y="4498848"/>
            <a:ext cx="3655466" cy="1499616"/>
          </a:xfrm>
          <a:prstGeom prst="roundRect">
            <a:avLst>
              <a:gd name="adj" fmla="val 6000"/>
            </a:avLst>
          </a:prstGeom>
          <a:solidFill>
            <a:srgbClr val="E8ECF1"/>
          </a:solidFill>
          <a:ln w="12700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124748" y="4498848"/>
            <a:ext cx="3655466" cy="329184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16188" y="4562856"/>
            <a:ext cx="3472586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50" b="1">
                <a:solidFill>
                  <a:srgbClr val="FFFFFF"/>
                </a:solidFill>
                <a:latin typeface="Arial"/>
              </a:rPr>
              <a:t>Observabilité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6188" y="4864608"/>
            <a:ext cx="3472586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750" dirty="0">
                <a:solidFill>
                  <a:srgbClr val="596371"/>
                </a:solidFill>
                <a:latin typeface="Arial"/>
              </a:rPr>
              <a:t>Pilotage &amp; </a:t>
            </a:r>
            <a:r>
              <a:rPr sz="750" dirty="0" err="1">
                <a:solidFill>
                  <a:srgbClr val="596371"/>
                </a:solidFill>
                <a:latin typeface="Arial"/>
              </a:rPr>
              <a:t>qualité</a:t>
            </a:r>
            <a:endParaRPr sz="750" dirty="0">
              <a:solidFill>
                <a:srgbClr val="596371"/>
              </a:solidFill>
              <a:latin typeface="Arial"/>
            </a:endParaRP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800" dirty="0">
                <a:solidFill>
                  <a:srgbClr val="151A23"/>
                </a:solidFill>
                <a:latin typeface="Arial"/>
              </a:rPr>
              <a:t>• </a:t>
            </a:r>
            <a:r>
              <a:rPr sz="800" dirty="0" err="1">
                <a:solidFill>
                  <a:srgbClr val="151A23"/>
                </a:solidFill>
                <a:latin typeface="Arial"/>
              </a:rPr>
              <a:t>structlog</a:t>
            </a:r>
            <a:r>
              <a:rPr sz="800" dirty="0">
                <a:solidFill>
                  <a:srgbClr val="151A23"/>
                </a:solidFill>
                <a:latin typeface="Arial"/>
              </a:rPr>
              <a:t> · </a:t>
            </a:r>
            <a:r>
              <a:rPr sz="800" dirty="0" err="1">
                <a:solidFill>
                  <a:srgbClr val="151A23"/>
                </a:solidFill>
                <a:latin typeface="Arial"/>
              </a:rPr>
              <a:t>métriques</a:t>
            </a:r>
            <a:r>
              <a:rPr sz="800" dirty="0">
                <a:solidFill>
                  <a:srgbClr val="151A23"/>
                </a:solidFill>
                <a:latin typeface="Arial"/>
              </a:rPr>
              <a:t> API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800" dirty="0">
                <a:solidFill>
                  <a:srgbClr val="151A23"/>
                </a:solidFill>
                <a:latin typeface="Arial"/>
              </a:rPr>
              <a:t>• </a:t>
            </a:r>
            <a:r>
              <a:rPr sz="800" dirty="0" err="1">
                <a:solidFill>
                  <a:srgbClr val="151A23"/>
                </a:solidFill>
                <a:latin typeface="Arial"/>
              </a:rPr>
              <a:t>Historique</a:t>
            </a:r>
            <a:r>
              <a:rPr sz="800" dirty="0">
                <a:solidFill>
                  <a:srgbClr val="151A23"/>
                </a:solidFill>
                <a:latin typeface="Arial"/>
              </a:rPr>
              <a:t> chat / capture (admin)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800" dirty="0">
                <a:solidFill>
                  <a:srgbClr val="151A23"/>
                </a:solidFill>
                <a:latin typeface="Arial"/>
              </a:rPr>
              <a:t>• Golden tests SPL · </a:t>
            </a:r>
            <a:r>
              <a:rPr sz="800" dirty="0" err="1">
                <a:solidFill>
                  <a:srgbClr val="151A23"/>
                </a:solidFill>
                <a:latin typeface="Arial"/>
              </a:rPr>
              <a:t>réconciliation</a:t>
            </a:r>
            <a:r>
              <a:rPr sz="800" dirty="0">
                <a:solidFill>
                  <a:srgbClr val="151A23"/>
                </a:solidFill>
                <a:latin typeface="Arial"/>
              </a:rPr>
              <a:t> </a:t>
            </a:r>
            <a:r>
              <a:rPr sz="800" dirty="0" err="1">
                <a:solidFill>
                  <a:srgbClr val="151A23"/>
                </a:solidFill>
                <a:latin typeface="Arial"/>
              </a:rPr>
              <a:t>PG↔Qdrant</a:t>
            </a:r>
            <a:endParaRPr sz="800" dirty="0">
              <a:solidFill>
                <a:srgbClr val="151A23"/>
              </a:solidFill>
              <a:latin typeface="Arial"/>
            </a:endParaRPr>
          </a:p>
        </p:txBody>
      </p:sp>
      <p:cxnSp>
        <p:nvCxnSpPr>
          <p:cNvPr id="37" name="Connector 36"/>
          <p:cNvCxnSpPr/>
          <p:nvPr/>
        </p:nvCxnSpPr>
        <p:spPr>
          <a:xfrm>
            <a:off x="4066946" y="1664208"/>
            <a:ext cx="201168" cy="0"/>
          </a:xfrm>
          <a:prstGeom prst="line">
            <a:avLst/>
          </a:prstGeom>
          <a:ln w="17780">
            <a:solidFill>
              <a:srgbClr val="C5C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923580" y="1664208"/>
            <a:ext cx="201168" cy="0"/>
          </a:xfrm>
          <a:prstGeom prst="line">
            <a:avLst/>
          </a:prstGeom>
          <a:ln w="17780">
            <a:solidFill>
              <a:srgbClr val="C5C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H="1">
            <a:off x="4167530" y="2414016"/>
            <a:ext cx="5464912" cy="164592"/>
          </a:xfrm>
          <a:prstGeom prst="line">
            <a:avLst/>
          </a:prstGeom>
          <a:ln w="17780">
            <a:solidFill>
              <a:srgbClr val="C5C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9952482" y="2414016"/>
            <a:ext cx="320040" cy="164592"/>
          </a:xfrm>
          <a:prstGeom prst="line">
            <a:avLst/>
          </a:prstGeom>
          <a:ln w="17780">
            <a:solidFill>
              <a:srgbClr val="C5C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7923580" y="3456432"/>
            <a:ext cx="201168" cy="0"/>
          </a:xfrm>
          <a:prstGeom prst="line">
            <a:avLst/>
          </a:prstGeom>
          <a:ln w="17780">
            <a:solidFill>
              <a:srgbClr val="C5C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6095847" y="4334256"/>
            <a:ext cx="3628035" cy="164592"/>
          </a:xfrm>
          <a:prstGeom prst="line">
            <a:avLst/>
          </a:prstGeom>
          <a:ln w="17780">
            <a:solidFill>
              <a:srgbClr val="C5C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2239213" y="4334256"/>
            <a:ext cx="7210349" cy="164592"/>
          </a:xfrm>
          <a:prstGeom prst="line">
            <a:avLst/>
          </a:prstGeom>
          <a:ln w="17780">
            <a:solidFill>
              <a:srgbClr val="C5C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11480" y="6144768"/>
            <a:ext cx="963137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850">
                <a:solidFill>
                  <a:srgbClr val="596371"/>
                </a:solidFill>
                <a:latin typeface="Arial"/>
              </a:rPr>
              <a:t>Flux : SFTP → ingestion → MinIO/PostgreSQL → BGE-M3 → Qdrant → RAG ← Qwen3.5-122B · capture ← Qwen3.5-35B-A3B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596371"/>
                </a:solidFill>
                <a:latin typeface="Arial"/>
              </a:rPr>
              <a:t>Utilisateur → Angular → FastAPI → chat / capture · voix → Whisper → oracle Qwen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34295" y="6144768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0B2545"/>
                </a:solidFill>
                <a:latin typeface="Arial"/>
              </a:rPr>
              <a:t>Datategy · Agentium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>
              <a:gd name="adj" fmla="val 6000"/>
            </a:avLst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68735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51A23"/>
                </a:solidFill>
                <a:latin typeface="Arial"/>
              </a:rPr>
              <a:t>Plateforme on-prem complète — Andritz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85216"/>
            <a:ext cx="1136873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>
                <a:solidFill>
                  <a:srgbClr val="596371"/>
                </a:solidFill>
                <a:latin typeface="Arial"/>
              </a:rPr>
              <a:t>Slide 2/2 · Infrastructure OVH France (gauche) + stack technos Agentium (droite) · Qwen 3.5 · zéro API IA externe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868680"/>
            <a:ext cx="5675223" cy="3703320"/>
          </a:xfrm>
          <a:prstGeom prst="roundRect">
            <a:avLst>
              <a:gd name="adj" fmla="val 6000"/>
            </a:avLst>
          </a:prstGeom>
          <a:solidFill>
            <a:srgbClr val="FAFCFB"/>
          </a:solidFill>
          <a:ln w="12700">
            <a:solidFill>
              <a:srgbClr val="0E6B4F"/>
            </a:solidFill>
            <a:prstDash val="sys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877824"/>
            <a:ext cx="558378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0E6B4F"/>
                </a:solidFill>
                <a:latin typeface="Arial"/>
              </a:rPr>
              <a:t>Infrastructure on-prem · OVHcloud France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96431" y="877824"/>
            <a:ext cx="5583783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 b="1">
                <a:solidFill>
                  <a:srgbClr val="2D6CDF"/>
                </a:solidFill>
                <a:latin typeface="Arial"/>
              </a:rPr>
              <a:t>Stack applicatif &amp; données · workspace Andritz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024128"/>
            <a:ext cx="5583783" cy="1499616"/>
          </a:xfrm>
          <a:prstGeom prst="roundRect">
            <a:avLst>
              <a:gd name="adj" fmla="val 6000"/>
            </a:avLst>
          </a:prstGeom>
          <a:solidFill>
            <a:srgbClr val="F0F7F4"/>
          </a:solidFill>
          <a:ln w="12700">
            <a:solidFill>
              <a:srgbClr val="0E6B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11480" y="1024128"/>
            <a:ext cx="5583783" cy="329184"/>
          </a:xfrm>
          <a:prstGeom prst="roundRect">
            <a:avLst>
              <a:gd name="adj" fmla="val 6000"/>
            </a:avLst>
          </a:prstGeom>
          <a:solidFill>
            <a:srgbClr val="0E6B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088136"/>
            <a:ext cx="5400903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50" b="1">
                <a:solidFill>
                  <a:srgbClr val="FFFFFF"/>
                </a:solidFill>
                <a:latin typeface="Arial"/>
              </a:rPr>
              <a:t>Cloud &amp; plateforme OVH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389888"/>
            <a:ext cx="5400903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750" dirty="0">
                <a:solidFill>
                  <a:srgbClr val="596371"/>
                </a:solidFill>
                <a:latin typeface="Arial"/>
              </a:rPr>
              <a:t>Réseau · K8s · sécurité · France UE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800" dirty="0">
                <a:solidFill>
                  <a:srgbClr val="151A23"/>
                </a:solidFill>
                <a:latin typeface="Arial"/>
              </a:rPr>
              <a:t>• OVH LB · Istio Ingress · cert-manager TLS · VPC </a:t>
            </a:r>
            <a:r>
              <a:rPr sz="800" dirty="0" err="1">
                <a:solidFill>
                  <a:srgbClr val="151A23"/>
                </a:solidFill>
                <a:latin typeface="Arial"/>
              </a:rPr>
              <a:t>privé</a:t>
            </a:r>
            <a:endParaRPr sz="800" dirty="0">
              <a:solidFill>
                <a:srgbClr val="151A23"/>
              </a:solidFill>
              <a:latin typeface="Arial"/>
            </a:endParaRP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800" dirty="0">
                <a:solidFill>
                  <a:srgbClr val="151A23"/>
                </a:solidFill>
                <a:latin typeface="Arial"/>
              </a:rPr>
              <a:t>• OVH MKS · workers CPU (</a:t>
            </a:r>
            <a:r>
              <a:rPr sz="800" dirty="0" err="1">
                <a:solidFill>
                  <a:srgbClr val="151A23"/>
                </a:solidFill>
                <a:latin typeface="Arial"/>
              </a:rPr>
              <a:t>FastAPI</a:t>
            </a:r>
            <a:r>
              <a:rPr sz="800" dirty="0">
                <a:solidFill>
                  <a:srgbClr val="151A23"/>
                </a:solidFill>
                <a:latin typeface="Arial"/>
              </a:rPr>
              <a:t>, Celery, Angular, RabbitMQ)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800" dirty="0">
                <a:solidFill>
                  <a:srgbClr val="151A23"/>
                </a:solidFill>
                <a:latin typeface="Arial"/>
              </a:rPr>
              <a:t>• Cinder PV · </a:t>
            </a:r>
            <a:r>
              <a:rPr sz="800" dirty="0" err="1">
                <a:solidFill>
                  <a:srgbClr val="151A23"/>
                </a:solidFill>
                <a:latin typeface="Arial"/>
              </a:rPr>
              <a:t>MinIO</a:t>
            </a:r>
            <a:r>
              <a:rPr sz="800" dirty="0">
                <a:solidFill>
                  <a:srgbClr val="151A23"/>
                </a:solidFill>
                <a:latin typeface="Arial"/>
              </a:rPr>
              <a:t> </a:t>
            </a:r>
            <a:r>
              <a:rPr sz="800" dirty="0" err="1">
                <a:solidFill>
                  <a:srgbClr val="151A23"/>
                </a:solidFill>
                <a:latin typeface="Arial"/>
              </a:rPr>
              <a:t>registre</a:t>
            </a:r>
            <a:r>
              <a:rPr sz="800" dirty="0">
                <a:solidFill>
                  <a:srgbClr val="151A23"/>
                </a:solidFill>
                <a:latin typeface="Arial"/>
              </a:rPr>
              <a:t> · Vault · </a:t>
            </a:r>
            <a:r>
              <a:rPr sz="800" dirty="0" err="1">
                <a:solidFill>
                  <a:srgbClr val="151A23"/>
                </a:solidFill>
                <a:latin typeface="Arial"/>
              </a:rPr>
              <a:t>Keycloak</a:t>
            </a:r>
            <a:r>
              <a:rPr sz="800" dirty="0">
                <a:solidFill>
                  <a:srgbClr val="151A23"/>
                </a:solidFill>
                <a:latin typeface="Arial"/>
              </a:rPr>
              <a:t> · snapshots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688336"/>
            <a:ext cx="5583783" cy="1499616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 w="127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11480" y="2688336"/>
            <a:ext cx="5583783" cy="329184"/>
          </a:xfrm>
          <a:prstGeom prst="roundRect">
            <a:avLst>
              <a:gd name="adj" fmla="val 6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752344"/>
            <a:ext cx="5400903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50" b="1">
                <a:solidFill>
                  <a:srgbClr val="FFFFFF"/>
                </a:solidFill>
                <a:latin typeface="Arial"/>
              </a:rPr>
              <a:t>Tier GPU — inférence souveraine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054096"/>
            <a:ext cx="5400903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750">
                <a:solidFill>
                  <a:srgbClr val="596371"/>
                </a:solidFill>
                <a:latin typeface="Arial"/>
              </a:rPr>
              <a:t>LLMaaS / EMBaaS · vLLM / TEI · Qwen 3.5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151A23"/>
                </a:solidFill>
                <a:latin typeface="Arial"/>
              </a:rPr>
              <a:t>• 2× L40S 48G · Qwen3.5-122B-A10B · vLLM TP=2 (chat RAG)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151A23"/>
                </a:solidFill>
                <a:latin typeface="Arial"/>
              </a:rPr>
              <a:t>• H100 80G · Qwen3.5-35B-A3B · vLLM (capture oracle)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800">
                <a:solidFill>
                  <a:srgbClr val="151A23"/>
                </a:solidFill>
                <a:latin typeface="Arial"/>
              </a:rPr>
              <a:t>• 4× L4 24G · BGE-M3 (TEI) · Whisper · ms-marco rerank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6431" y="1024128"/>
            <a:ext cx="5583783" cy="1499616"/>
          </a:xfrm>
          <a:prstGeom prst="roundRect">
            <a:avLst>
              <a:gd name="adj" fmla="val 6000"/>
            </a:avLst>
          </a:prstGeom>
          <a:solidFill>
            <a:srgbClr val="E8ECF1"/>
          </a:solidFill>
          <a:ln w="12700">
            <a:solidFill>
              <a:srgbClr val="2D6C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196431" y="1024128"/>
            <a:ext cx="5583783" cy="329184"/>
          </a:xfrm>
          <a:prstGeom prst="roundRect">
            <a:avLst>
              <a:gd name="adj" fmla="val 6000"/>
            </a:avLst>
          </a:prstGeom>
          <a:solidFill>
            <a:srgbClr val="2D6C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87871" y="1088136"/>
            <a:ext cx="5400903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50" b="1">
                <a:solidFill>
                  <a:srgbClr val="FFFFFF"/>
                </a:solidFill>
                <a:latin typeface="Arial"/>
              </a:rPr>
              <a:t>Stack Agentium Andritz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7871" y="1389888"/>
            <a:ext cx="5400903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750" dirty="0">
                <a:solidFill>
                  <a:srgbClr val="596371"/>
                </a:solidFill>
                <a:latin typeface="Arial"/>
              </a:rPr>
              <a:t>Interface · orchestration · RAG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800" dirty="0">
                <a:solidFill>
                  <a:srgbClr val="151A23"/>
                </a:solidFill>
                <a:latin typeface="Arial"/>
              </a:rPr>
              <a:t>• </a:t>
            </a:r>
            <a:r>
              <a:rPr sz="800" dirty="0" err="1">
                <a:solidFill>
                  <a:srgbClr val="151A23"/>
                </a:solidFill>
                <a:latin typeface="Arial"/>
              </a:rPr>
              <a:t>Keycloak</a:t>
            </a:r>
            <a:r>
              <a:rPr sz="800" dirty="0">
                <a:solidFill>
                  <a:srgbClr val="151A23"/>
                </a:solidFill>
                <a:latin typeface="Arial"/>
              </a:rPr>
              <a:t> · IAM · Angular 20 · Chat / Capture / Admin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800" dirty="0">
                <a:solidFill>
                  <a:srgbClr val="151A23"/>
                </a:solidFill>
                <a:latin typeface="Arial"/>
              </a:rPr>
              <a:t>• </a:t>
            </a:r>
            <a:r>
              <a:rPr sz="800" dirty="0" err="1">
                <a:solidFill>
                  <a:srgbClr val="151A23"/>
                </a:solidFill>
                <a:latin typeface="Arial"/>
              </a:rPr>
              <a:t>FastAPI</a:t>
            </a:r>
            <a:r>
              <a:rPr sz="800" dirty="0">
                <a:solidFill>
                  <a:srgbClr val="151A23"/>
                </a:solidFill>
                <a:latin typeface="Arial"/>
              </a:rPr>
              <a:t> + </a:t>
            </a:r>
            <a:r>
              <a:rPr sz="800" dirty="0" err="1">
                <a:solidFill>
                  <a:srgbClr val="151A23"/>
                </a:solidFill>
                <a:latin typeface="Arial"/>
              </a:rPr>
              <a:t>Uvicorn</a:t>
            </a:r>
            <a:r>
              <a:rPr sz="800" dirty="0">
                <a:solidFill>
                  <a:srgbClr val="151A23"/>
                </a:solidFill>
                <a:latin typeface="Arial"/>
              </a:rPr>
              <a:t> (SSE) · Celery · recherche </a:t>
            </a:r>
            <a:r>
              <a:rPr sz="800" dirty="0" err="1">
                <a:solidFill>
                  <a:srgbClr val="151A23"/>
                </a:solidFill>
                <a:latin typeface="Arial"/>
              </a:rPr>
              <a:t>hybride</a:t>
            </a:r>
            <a:r>
              <a:rPr sz="800" dirty="0">
                <a:solidFill>
                  <a:srgbClr val="151A23"/>
                </a:solidFill>
                <a:latin typeface="Arial"/>
              </a:rPr>
              <a:t> </a:t>
            </a:r>
            <a:r>
              <a:rPr sz="800" dirty="0" err="1">
                <a:solidFill>
                  <a:srgbClr val="151A23"/>
                </a:solidFill>
                <a:latin typeface="Arial"/>
              </a:rPr>
              <a:t>Qdrant</a:t>
            </a:r>
            <a:endParaRPr sz="800" dirty="0">
              <a:solidFill>
                <a:srgbClr val="151A23"/>
              </a:solidFill>
              <a:latin typeface="Arial"/>
            </a:endParaRP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800" dirty="0">
                <a:solidFill>
                  <a:srgbClr val="151A23"/>
                </a:solidFill>
                <a:latin typeface="Arial"/>
              </a:rPr>
              <a:t>• Scope SPL · fiches </a:t>
            </a:r>
            <a:r>
              <a:rPr sz="800" dirty="0" err="1">
                <a:solidFill>
                  <a:srgbClr val="151A23"/>
                </a:solidFill>
                <a:latin typeface="Arial"/>
              </a:rPr>
              <a:t>expertes</a:t>
            </a:r>
            <a:r>
              <a:rPr sz="800" dirty="0">
                <a:solidFill>
                  <a:srgbClr val="151A23"/>
                </a:solidFill>
                <a:latin typeface="Arial"/>
              </a:rPr>
              <a:t> · grounding &amp; </a:t>
            </a:r>
            <a:r>
              <a:rPr sz="800" dirty="0" err="1">
                <a:solidFill>
                  <a:srgbClr val="151A23"/>
                </a:solidFill>
                <a:latin typeface="Arial"/>
              </a:rPr>
              <a:t>traçabilité</a:t>
            </a:r>
            <a:endParaRPr sz="800" dirty="0">
              <a:solidFill>
                <a:srgbClr val="151A23"/>
              </a:solidFill>
              <a:latin typeface="Arial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196431" y="2688336"/>
            <a:ext cx="5583783" cy="1499616"/>
          </a:xfrm>
          <a:prstGeom prst="roundRect">
            <a:avLst>
              <a:gd name="adj" fmla="val 6000"/>
            </a:avLst>
          </a:prstGeom>
          <a:solidFill>
            <a:srgbClr val="E8ECF1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196431" y="2688336"/>
            <a:ext cx="5583783" cy="329184"/>
          </a:xfrm>
          <a:prstGeom prst="roundRect">
            <a:avLst>
              <a:gd name="adj" fmla="val 6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287871" y="2752344"/>
            <a:ext cx="5400903" cy="23774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1050" b="1">
                <a:solidFill>
                  <a:srgbClr val="FFFFFF"/>
                </a:solidFill>
                <a:latin typeface="Arial"/>
              </a:rPr>
              <a:t>Données &amp; pipeline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87871" y="3054096"/>
            <a:ext cx="5400903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300"/>
              </a:spcAft>
            </a:pPr>
            <a:r>
              <a:rPr sz="750" dirty="0" err="1">
                <a:solidFill>
                  <a:srgbClr val="596371"/>
                </a:solidFill>
                <a:latin typeface="Arial"/>
              </a:rPr>
              <a:t>Persistance</a:t>
            </a:r>
            <a:r>
              <a:rPr sz="750" dirty="0">
                <a:solidFill>
                  <a:srgbClr val="596371"/>
                </a:solidFill>
                <a:latin typeface="Arial"/>
              </a:rPr>
              <a:t> · ingestion · </a:t>
            </a:r>
            <a:r>
              <a:rPr sz="750" dirty="0" err="1">
                <a:solidFill>
                  <a:srgbClr val="596371"/>
                </a:solidFill>
                <a:latin typeface="Arial"/>
              </a:rPr>
              <a:t>observabilité</a:t>
            </a:r>
            <a:endParaRPr sz="750" dirty="0">
              <a:solidFill>
                <a:srgbClr val="596371"/>
              </a:solidFill>
              <a:latin typeface="Arial"/>
            </a:endParaRP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800" dirty="0">
                <a:solidFill>
                  <a:srgbClr val="151A23"/>
                </a:solidFill>
                <a:latin typeface="Arial"/>
              </a:rPr>
              <a:t>• PostgreSQL · </a:t>
            </a:r>
            <a:r>
              <a:rPr sz="800" dirty="0" err="1">
                <a:solidFill>
                  <a:srgbClr val="151A23"/>
                </a:solidFill>
                <a:latin typeface="Arial"/>
              </a:rPr>
              <a:t>Qdrant</a:t>
            </a:r>
            <a:r>
              <a:rPr sz="800" dirty="0">
                <a:solidFill>
                  <a:srgbClr val="151A23"/>
                </a:solidFill>
                <a:latin typeface="Arial"/>
              </a:rPr>
              <a:t> · </a:t>
            </a:r>
            <a:r>
              <a:rPr sz="800" dirty="0" err="1">
                <a:solidFill>
                  <a:srgbClr val="151A23"/>
                </a:solidFill>
                <a:latin typeface="Arial"/>
              </a:rPr>
              <a:t>MinIO</a:t>
            </a:r>
            <a:r>
              <a:rPr sz="800" dirty="0">
                <a:solidFill>
                  <a:srgbClr val="151A23"/>
                </a:solidFill>
                <a:latin typeface="Arial"/>
              </a:rPr>
              <a:t> · SFTP Secure Deposit</a:t>
            </a: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800" dirty="0">
                <a:solidFill>
                  <a:srgbClr val="151A23"/>
                </a:solidFill>
                <a:latin typeface="Arial"/>
              </a:rPr>
              <a:t>• Tesseract · PDF/Excel/DOCX → BGE-M3 → indexation </a:t>
            </a:r>
            <a:r>
              <a:rPr sz="800" dirty="0" err="1">
                <a:solidFill>
                  <a:srgbClr val="151A23"/>
                </a:solidFill>
                <a:latin typeface="Arial"/>
              </a:rPr>
              <a:t>Qdrant</a:t>
            </a:r>
            <a:endParaRPr sz="800" dirty="0">
              <a:solidFill>
                <a:srgbClr val="151A23"/>
              </a:solidFill>
              <a:latin typeface="Arial"/>
            </a:endParaRPr>
          </a:p>
          <a:p>
            <a:pPr>
              <a:lnSpc>
                <a:spcPct val="105000"/>
              </a:lnSpc>
              <a:spcBef>
                <a:spcPts val="100"/>
              </a:spcBef>
              <a:spcAft>
                <a:spcPts val="100"/>
              </a:spcAft>
            </a:pPr>
            <a:r>
              <a:rPr sz="800" dirty="0">
                <a:solidFill>
                  <a:srgbClr val="151A23"/>
                </a:solidFill>
                <a:latin typeface="Arial"/>
              </a:rPr>
              <a:t>• </a:t>
            </a:r>
            <a:r>
              <a:rPr sz="800" dirty="0" err="1">
                <a:solidFill>
                  <a:srgbClr val="151A23"/>
                </a:solidFill>
                <a:latin typeface="Arial"/>
              </a:rPr>
              <a:t>structlog</a:t>
            </a:r>
            <a:r>
              <a:rPr sz="800" dirty="0">
                <a:solidFill>
                  <a:srgbClr val="151A23"/>
                </a:solidFill>
                <a:latin typeface="Arial"/>
              </a:rPr>
              <a:t> · golden tests · </a:t>
            </a:r>
            <a:r>
              <a:rPr sz="800" dirty="0" err="1">
                <a:solidFill>
                  <a:srgbClr val="151A23"/>
                </a:solidFill>
                <a:latin typeface="Arial"/>
              </a:rPr>
              <a:t>réconciliation</a:t>
            </a:r>
            <a:r>
              <a:rPr sz="800" dirty="0">
                <a:solidFill>
                  <a:srgbClr val="151A23"/>
                </a:solidFill>
                <a:latin typeface="Arial"/>
              </a:rPr>
              <a:t> </a:t>
            </a:r>
            <a:r>
              <a:rPr sz="800" dirty="0" err="1">
                <a:solidFill>
                  <a:srgbClr val="151A23"/>
                </a:solidFill>
                <a:latin typeface="Arial"/>
              </a:rPr>
              <a:t>PG↔Qdrant</a:t>
            </a:r>
            <a:endParaRPr sz="800" dirty="0">
              <a:solidFill>
                <a:srgbClr val="151A23"/>
              </a:solidFill>
              <a:latin typeface="Arial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5995263" y="1773936"/>
            <a:ext cx="201168" cy="0"/>
          </a:xfrm>
          <a:prstGeom prst="line">
            <a:avLst/>
          </a:prstGeom>
          <a:ln w="17780">
            <a:solidFill>
              <a:srgbClr val="C5C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995263" y="3438144"/>
            <a:ext cx="201168" cy="0"/>
          </a:xfrm>
          <a:prstGeom prst="line">
            <a:avLst/>
          </a:prstGeom>
          <a:ln w="17780">
            <a:solidFill>
              <a:srgbClr val="C5C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988323" y="2523744"/>
            <a:ext cx="0" cy="164592"/>
          </a:xfrm>
          <a:prstGeom prst="line">
            <a:avLst/>
          </a:prstGeom>
          <a:ln w="17780">
            <a:solidFill>
              <a:srgbClr val="C5CD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11480" y="4334256"/>
            <a:ext cx="9631375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850">
                <a:solidFill>
                  <a:srgbClr val="596371"/>
                </a:solidFill>
                <a:latin typeface="Arial"/>
              </a:rPr>
              <a:t>Gauche : hébergement &amp; inférence 100 % intra-cluster OVH · Droite : technos Agentium Andritz · aucun prompt/completion vers API externe</a:t>
            </a:r>
          </a:p>
          <a:p>
            <a:pPr>
              <a:spcAft>
                <a:spcPts val="200"/>
              </a:spcAft>
            </a:pPr>
            <a:r>
              <a:rPr sz="850">
                <a:solidFill>
                  <a:srgbClr val="596371"/>
                </a:solidFill>
                <a:latin typeface="Arial"/>
              </a:rPr>
              <a:t>Production cible OVH MKS (cf. fiche hosting Andritz) · démo actuelle : VM Docker Compose — même stack logique, sizing réduit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34295" y="4334256"/>
            <a:ext cx="16459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0B2545"/>
                </a:solidFill>
                <a:latin typeface="Arial"/>
              </a:rPr>
              <a:t>Datategy · Agentium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578</Words>
  <Application>Microsoft Macintosh PowerPoint</Application>
  <PresentationFormat>Widescreen</PresentationFormat>
  <Paragraphs>74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Thibaud Ishacian</cp:lastModifiedBy>
  <cp:revision>2</cp:revision>
  <dcterms:created xsi:type="dcterms:W3CDTF">2013-01-27T09:14:16Z</dcterms:created>
  <dcterms:modified xsi:type="dcterms:W3CDTF">2026-06-23T17:57:49Z</dcterms:modified>
  <cp:category/>
</cp:coreProperties>
</file>