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51A23"/>
                </a:solidFill>
                <a:latin typeface="Calibri"/>
              </a:rPr>
              <a:t>Agentium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Decision, Hypervisor and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How the platform helps an executive committee and a business user observe, consume, monitor and decide — without inventing a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596371"/>
                </a:solidFill>
                <a:latin typeface="Calibri"/>
              </a:rPr>
              <a:t>demo/agentic · agentium.papai.ai Briefing: agentium-hypervisor-decision-strategy.en.md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problem the committee already knows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AI PoCs pile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A prompt, a demo,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no industrialized business objective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Nobody can say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which commit / which System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produced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“We saved money” with no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baseline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no unit, no owner.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Either the human is out of the loop, or they drown in engine jargon.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99231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999231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We do not lack models. We lack a management system for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What Agentium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operating system for intelligent Systems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Not an agent builder.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team creates, orchestrates,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consumes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steers and industrializes Systems aligned with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business capabilities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and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conversation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are first-class interfaces. Same contracts. Same rights. Same evidence.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The model does not 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chain — one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System → Run → Evaluation → Decision →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97510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Do not say: Desk, Board, workflow, pipeline, job, HITL.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40864"/>
          <a:ext cx="11130990" cy="2916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Say this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Industrialized intent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Proven execution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waiting for a signature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Where the business consumes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Cockpit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Where we build, follow, improve, impact, administer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The human surface of a published application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4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Hypervisor / 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The portfolio ledger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Four verbs, four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Mixing the four is the main demo failure.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Observe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did the portfolio return, on what evidence?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Hypervisor / 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Consume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Which task must I finish?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 · Studio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Monitor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running, waiting, drifting?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Executions · review queue · Diagnostics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Decide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is waiting for a signature — and where does it apply?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Impact queue · approval in the app · Steer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Industrialize = five disciplines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Alignment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a System serves a business capability, not an orphan prompt.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Publication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business uses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versioned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application.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Evidence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every answer has an execution (cost, context, lineage).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Governance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rules, access rights, log. Never “prompt only”.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Allocation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we fund, tighten or stop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on evidence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44368"/>
            <a:ext cx="11130991" cy="47548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017520"/>
            <a:ext cx="10838383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Build → Run → Measure → Optimize → Allocate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Adoption starts with execution. Scaling requires economics.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The Hypervisor in one sentence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The AI portfolio ledger.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What ran. What it cost.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declared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as value.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missing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What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waiting for a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The menu may say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name does not establish an economic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Two readings, one opinion to 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Both: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 / Reject = an opinion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Neither: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Apply a rule change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755648"/>
            <a:ext cx="73152" cy="502920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1755648"/>
            <a:ext cx="10929823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“Validating here records an opinion. Changing a System goes through its pilot screen.”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322576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Older view — Value balance sheet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Newer view — Ledger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Estimated net value, ROI, signals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the portfolio returned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+ value-loop summary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Understand → Detail → Decide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Direction · Operations · Compliance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Legend to leave on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ink = measured · teal = declared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Missing data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is not a zero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12140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value base is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signed, dated, versioned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 Without a base: native unit (runs, hours), no fabricated euro.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48716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 completed Run ≠ a validated answer ≠ an economic gain.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529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Diagnostics (throughput, latency) = technical health. They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never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replace the business objective.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Where a decision becomes an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1417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1325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Portfolio                    One System                  The application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Hypervisor / Impact          Pilot (Steer)              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accept / reject              Simulate → Approve          human approval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= an opinion                 → Apply → Measure           required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                             bounded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9169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First allowed change: a guardrail adjustment, if the System declares it and execution control allows it. Otherwise: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not configured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28269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A simulation is not a measurement.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What we do not promise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The Hypervisor does not apply a rule by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Portfolio “what if” / live levers are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retired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Mission Room is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workspace application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not the ledger.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The repository compliance table is not a customer attestation.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“Hours or euros saved” without a measurement after a change = a gap, not a KPI.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Learning curve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389888"/>
            <a:ext cx="11130991" cy="950976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63040"/>
            <a:ext cx="10838383" cy="8595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1. Finish a task                      Work / Studio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2. Bind the result to an execution    Opened source · companion</a:t>
            </a:r>
          </a:p>
          <a:p>
            <a:pPr algn="l">
              <a:spcBef>
                <a:spcPts val="100"/>
              </a:spcBef>
              <a:spcAft>
                <a:spcPts val="200"/>
              </a:spcAft>
            </a:pPr>
            <a:r>
              <a:rPr sz="1300" b="0">
                <a:solidFill>
                  <a:srgbClr val="0E6B6A"/>
                </a:solidFill>
                <a:latin typeface="Consolas"/>
              </a:rPr>
              <a:t>3. Bind the execution to a decision   Impact · approval · Steer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5059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Three layers — do not conflate them: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816352"/>
          <a:ext cx="1113099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Access rights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What I may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Workspace mode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Screen density (build / operate / direct)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Member preference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Guide tone — not rights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C-level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One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application — see that the business has a door.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read the legend, not the largest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One pending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decision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what is waiting for a signature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Value help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observed cost / declared value / attested impact.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Week 1: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30d/90d review, base coverage, decision queue, one audit pass.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Do not expect a “€ saved” total in the chrome.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Business user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look for the application, not the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Ask the business question.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Open the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(Optional) Guided example — four steps, fictional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If an approval appears: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Accept / Reject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not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1">
                <a:solidFill>
                  <a:srgbClr val="151A23"/>
                </a:solidFill>
                <a:latin typeface="Calibri"/>
              </a:rPr>
              <a:t>Completed ≠ validated answer.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2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Acceptance target (not yet measured):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alone, in ten minutes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, a verifiable result.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Decision-maker — 15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Studio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approval or the review queue — read before signing.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The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queue — an opinion, not an application.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If — and only if — the value loop is open on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this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System: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51A23"/>
                </a:solidFill>
                <a:latin typeface="Calibri"/>
              </a:rPr>
              <a:t>Simulate → Approve → Apply → Measure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6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The model cannot accept in your place. A decision that is too old is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Adoption capability —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Say: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the path exists; it is not yet the default; we do not yet have the acceptance sheet.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569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65495"/>
                <a:gridCol w="5565495"/>
              </a:tblGrid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 business path + FR/EN guides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Shipped, welcome path off by default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Conversation companion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— does not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Operational objectives (5 metrics)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— this is not ROI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NorthForge 4 steps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Shipped on Showcase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10 usability sessions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Not run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670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Default flag / retirement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Not signed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Story personas (not accounts)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Claire does not live in the Cockpit. Sarah does not “click Apply” on the portfolio.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755648"/>
          <a:ext cx="1113099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0330"/>
                <a:gridCol w="3710330"/>
                <a:gridCol w="3710330"/>
              </a:tblGrid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Enters through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Sarah CAIO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Allocate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Claire business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Consume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Mehdi pilot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Steer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Bound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Alex builder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Compose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Nadia governance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51A23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Demo — five beats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Hard-reload before speaking.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1.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Work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a question, a citation.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Consume.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66543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2.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Run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the evidence.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Monitor.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77439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3.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Impact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legend + one pending signature. </a:t>
            </a:r>
            <a:r>
              <a:rPr sz="1600" b="0" i="1">
                <a:solidFill>
                  <a:srgbClr val="151A23"/>
                </a:solidFill>
                <a:latin typeface="Calibri"/>
              </a:rPr>
              <a:t>Observe / decide.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5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4.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Steer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only if the value loop is really open. Otherwise say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99231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5. 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Value help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— close on honesty.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310127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NAWA PR→PO: operator playbook, not UI improvisation.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Closing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Agentium does not sell another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11130991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</a:pPr>
            <a:r>
              <a:rPr sz="1600" b="0" i="0">
                <a:solidFill>
                  <a:srgbClr val="151A23"/>
                </a:solidFill>
                <a:latin typeface="Calibri"/>
              </a:rPr>
              <a:t>It gives the enterprise a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portfolio of Systems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: consumable by the business,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observable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without an invented zero,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monitored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without confusing technical health with success, </a:t>
            </a:r>
            <a:r>
              <a:rPr sz="1600" b="1" i="0">
                <a:solidFill>
                  <a:srgbClr val="151A23"/>
                </a:solidFill>
                <a:latin typeface="Calibri"/>
              </a:rPr>
              <a:t>decided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 by a human — and industrialized under evidence.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384048"/>
            <a:ext cx="256032" cy="41148"/>
          </a:xfrm>
          <a:prstGeom prst="rect">
            <a:avLst/>
          </a:prstGeom>
          <a:solidFill>
            <a:srgbClr val="0E6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74320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E6B6A"/>
                </a:solidFill>
                <a:latin typeface="Consolas"/>
              </a:rPr>
              <a:t>AGENTIUM ·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30352"/>
            <a:ext cx="11130991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51A23"/>
                </a:solidFill>
                <a:latin typeface="Calibri"/>
              </a:rPr>
              <a:t>Go further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10972"/>
          </a:xfrm>
          <a:prstGeom prst="rect">
            <a:avLst/>
          </a:prstGeom>
          <a:solidFill>
            <a:srgbClr val="D7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950976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alibri"/>
              </a:rPr>
              <a:t>Datategy — Agentium — Confidential — demo/agentic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9823" y="64922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96371"/>
                </a:solidFill>
                <a:latin typeface="Consola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38988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Briefing: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`agentium-hypervisor-decision-strategy.en.md`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00784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Lexicon: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`agentium-reference.md`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011680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Adoption (contract):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`agentium-adoption-roadmap.md`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322576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Value loop: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`agentium-lot8-value-loop.md`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633472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600" b="0" i="0">
                <a:solidFill>
                  <a:srgbClr val="151A23"/>
                </a:solidFill>
                <a:latin typeface="Calibri"/>
              </a:rPr>
              <a:t>•  Hypervisor v2 grammar: </a:t>
            </a:r>
            <a:r>
              <a:rPr sz="1600" b="0" i="0">
                <a:solidFill>
                  <a:srgbClr val="151A23"/>
                </a:solidFill>
                <a:latin typeface="Calibri"/>
              </a:rPr>
              <a:t>`hypervisor-v2-chart-grammar.md`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