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odulos.ai/middle-east-ai-regulations/" TargetMode="External"/><Relationship Id="rId3" Type="http://schemas.openxmlformats.org/officeDocument/2006/relationships/hyperlink" Target="https://digital.nemko.com/regulations/ai-regulation-in-qatar" TargetMode="External"/><Relationship Id="rId7" Type="http://schemas.openxmlformats.org/officeDocument/2006/relationships/hyperlink" Target="https://www.twobirds.com/en/capabilities/artificial-intelligence/ai-legal-services/ai-regulatory-horizon-tracker/saudi-arabi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insentmasons.com/out-law/news/saudi-arabia-data-sovereignty-ai-hub-law" TargetMode="External"/><Relationship Id="rId5" Type="http://schemas.openxmlformats.org/officeDocument/2006/relationships/hyperlink" Target="https://www.transperfectlegal.com/blog/saudi-arabias-global-ai-hub-law-new-model-digital-sovereignty-gcc" TargetMode="External"/><Relationship Id="rId4" Type="http://schemas.openxmlformats.org/officeDocument/2006/relationships/hyperlink" Target="https://www.pinsentmasons.com/out-law/analysis/gulf-governments-approach-to-ai-regulation" TargetMode="External"/><Relationship Id="rId9" Type="http://schemas.openxmlformats.org/officeDocument/2006/relationships/hyperlink" Target="https://digital-strategy.ec.europa.eu/en/policies/regulatory-framework-ai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6CDF"/>
                </a:solidFill>
                <a:latin typeface="Courier New"/>
              </a:rPr>
              <a:t>R&amp;D AGENTIUM  ·  PROPOSITION DE SCOPE  ·  CONFIDENTIEL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10972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Scope fonctionnel exclusif PIH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BED0E8"/>
                </a:solidFill>
                <a:latin typeface="Arial"/>
              </a:rPr>
              <a:t>Quatre pistes pour faire de votre souveraineté un avantage que personne d'autre n'offre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160520"/>
            <a:ext cx="2926080" cy="16459"/>
          </a:xfrm>
          <a:prstGeom prst="rect">
            <a:avLst/>
          </a:prstGeom>
          <a:solidFill>
            <a:srgbClr val="2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3434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FA8C7"/>
                </a:solidFill>
                <a:latin typeface="Courier New"/>
              </a:rPr>
              <a:t>La boîte noire  ·  La procuration  ·  La répétition générale  ·  La voie prioritaire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FA8C7"/>
                </a:solidFill>
                <a:latin typeface="Arial"/>
              </a:rPr>
              <a:t>Datategy — Juin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42855" y="457200"/>
            <a:ext cx="16002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649277"/>
            <a:ext cx="1325880" cy="896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Un besoin légitime — auquel tout le marché sait répondre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01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1481328"/>
            <a:ext cx="53460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2545"/>
                </a:solidFill>
                <a:latin typeface="Courier New"/>
              </a:rPr>
              <a:t>CE QUE PIH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28800"/>
            <a:ext cx="534603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96371"/>
                </a:solidFill>
                <a:latin typeface="Arial"/>
              </a:rPr>
              <a:t>▪ </a:t>
            </a:r>
            <a:r>
              <a:rPr sz="1250" b="1">
                <a:solidFill>
                  <a:srgbClr val="151A23"/>
                </a:solidFill>
                <a:latin typeface="Arial"/>
              </a:rPr>
              <a:t>Souveraineté — </a:t>
            </a:r>
            <a:r>
              <a:rPr sz="1250" b="0">
                <a:solidFill>
                  <a:srgbClr val="596371"/>
                </a:solidFill>
                <a:latin typeface="Arial"/>
              </a:rPr>
              <a:t>modèles et données chez vous, aucune dépendance à un cloud étranger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596371"/>
                </a:solidFill>
                <a:latin typeface="Arial"/>
              </a:rPr>
              <a:t>▪ </a:t>
            </a:r>
            <a:r>
              <a:rPr sz="1250" b="1">
                <a:solidFill>
                  <a:srgbClr val="151A23"/>
                </a:solidFill>
                <a:latin typeface="Arial"/>
              </a:rPr>
              <a:t>Robustesse — </a:t>
            </a:r>
            <a:r>
              <a:rPr sz="1250" b="0">
                <a:solidFill>
                  <a:srgbClr val="596371"/>
                </a:solidFill>
                <a:latin typeface="Arial"/>
              </a:rPr>
              <a:t>reprendre, rejouer, ne jamais perdre le fil d'une exécution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596371"/>
                </a:solidFill>
                <a:latin typeface="Arial"/>
              </a:rPr>
              <a:t>▪ </a:t>
            </a:r>
            <a:r>
              <a:rPr sz="1250" b="1">
                <a:solidFill>
                  <a:srgbClr val="151A23"/>
                </a:solidFill>
                <a:latin typeface="Arial"/>
              </a:rPr>
              <a:t>Sécurité — </a:t>
            </a:r>
            <a:r>
              <a:rPr sz="1250" b="0">
                <a:solidFill>
                  <a:srgbClr val="596371"/>
                </a:solidFill>
                <a:latin typeface="Arial"/>
              </a:rPr>
              <a:t>des garde-fous, une identité propre à chaque agent, des droits stricts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596371"/>
                </a:solidFill>
                <a:latin typeface="Arial"/>
              </a:rPr>
              <a:t>▪ </a:t>
            </a:r>
            <a:r>
              <a:rPr sz="1250" b="1">
                <a:solidFill>
                  <a:srgbClr val="151A23"/>
                </a:solidFill>
                <a:latin typeface="Arial"/>
              </a:rPr>
              <a:t>Observabilité — </a:t>
            </a:r>
            <a:r>
              <a:rPr sz="1250" b="0">
                <a:solidFill>
                  <a:srgbClr val="596371"/>
                </a:solidFill>
                <a:latin typeface="Arial"/>
              </a:rPr>
              <a:t>savoir tout ce que les agents font, et pouvoir le montrer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596371"/>
                </a:solidFill>
                <a:latin typeface="Arial"/>
              </a:rPr>
              <a:t>▪ </a:t>
            </a:r>
            <a:r>
              <a:rPr sz="1250" b="1">
                <a:solidFill>
                  <a:srgbClr val="151A23"/>
                </a:solidFill>
                <a:latin typeface="Arial"/>
              </a:rPr>
              <a:t>Performance — </a:t>
            </a:r>
            <a:r>
              <a:rPr sz="1250" b="0">
                <a:solidFill>
                  <a:srgbClr val="596371"/>
                </a:solidFill>
                <a:latin typeface="Arial"/>
              </a:rPr>
              <a:t>une dépense de calcul maîtrisée et prévisible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481328"/>
            <a:ext cx="53460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2545"/>
                </a:solidFill>
                <a:latin typeface="Courier New"/>
              </a:rPr>
              <a:t>CE QUE LE MARCHÉ SAIT DÉJÀ FAIRE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7" y="1828800"/>
          <a:ext cx="53460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5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A23"/>
                          </a:solidFill>
                          <a:latin typeface="Arial"/>
                        </a:rPr>
                        <a:t>Robustesse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6371"/>
                          </a:solidFill>
                          <a:latin typeface="Arial"/>
                        </a:rPr>
                        <a:t>standards du marché (Temporal, LangGraph)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A23"/>
                          </a:solidFill>
                          <a:latin typeface="Arial"/>
                        </a:rPr>
                        <a:t>Sécurité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6371"/>
                          </a:solidFill>
                          <a:latin typeface="Arial"/>
                        </a:rPr>
                        <a:t>garde-fous et identités (Microsoft, NVIDIA)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A23"/>
                          </a:solidFill>
                          <a:latin typeface="Arial"/>
                        </a:rPr>
                        <a:t>Observabilité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6371"/>
                          </a:solidFill>
                          <a:latin typeface="Arial"/>
                        </a:rPr>
                        <a:t>tableaux de bord spécialisés (LangSmith…)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A23"/>
                          </a:solidFill>
                          <a:latin typeface="Arial"/>
                        </a:rPr>
                        <a:t>Passage à l'échelle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6371"/>
                          </a:solidFill>
                          <a:latin typeface="Arial"/>
                        </a:rPr>
                        <a:t>acquis pour tout acteur sérieux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A23"/>
                          </a:solidFill>
                          <a:latin typeface="Arial"/>
                        </a:rPr>
                        <a:t>Coûts de calcul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6371"/>
                          </a:solidFill>
                          <a:latin typeface="Arial"/>
                        </a:rPr>
                        <a:t>optimisations généralisées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78727" y="4434840"/>
            <a:ext cx="5346039" cy="13716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4759" y="4617720"/>
            <a:ext cx="483397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Conclusion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Répondre au cahier des charges ne suffit pas à gagner. Il faut proposer ce que les autres ne peuvent pas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Eux louent leurs modèles. Nous possédons toute la machine.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02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148132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96371"/>
                </a:solidFill>
                <a:latin typeface="Arial"/>
              </a:rPr>
              <a:t>Les plateformes concurrentes font tourner des modèles qu'elles louent au cloud : elles ne contrôlent ni le moteur, ni la boîte de vitesses. </a:t>
            </a:r>
            <a:r>
              <a:rPr sz="1350" b="1">
                <a:solidFill>
                  <a:srgbClr val="151A23"/>
                </a:solidFill>
                <a:latin typeface="Arial"/>
              </a:rPr>
              <a:t>Agentium contrôle toute la chaîne — les modèles, le registre des actions, la gouvernance. C'est là que se construisent les quatre pistes.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1460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24328"/>
            <a:ext cx="45720" cy="128930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642616"/>
            <a:ext cx="313730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D6CDF"/>
                </a:solidFill>
                <a:latin typeface="Arial"/>
              </a:rPr>
              <a:t>Mémoire d'exécution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990088"/>
            <a:ext cx="3137306" cy="563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596371"/>
                </a:solidFill>
                <a:latin typeface="Arial"/>
              </a:rPr>
              <a:t>chaque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exécution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est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enregistrée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avec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tous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ses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paramètres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, et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peut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être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rejouée</a:t>
            </a:r>
            <a:endParaRPr sz="1050" b="0" dirty="0">
              <a:solidFill>
                <a:srgbClr val="596371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0" dirty="0">
                <a:solidFill>
                  <a:srgbClr val="2D6CDF"/>
                </a:solidFill>
                <a:latin typeface="Courier New"/>
              </a:rPr>
              <a:t>lineage de runs · </a:t>
            </a:r>
            <a:r>
              <a:rPr lang="fr-FR" sz="850" b="0" dirty="0">
                <a:solidFill>
                  <a:srgbClr val="2D6CDF"/>
                </a:solidFill>
                <a:latin typeface="Courier New"/>
              </a:rPr>
              <a:t>replay</a:t>
            </a:r>
            <a:r>
              <a:rPr sz="850" b="0" dirty="0">
                <a:solidFill>
                  <a:srgbClr val="2D6CDF"/>
                </a:solidFill>
                <a:latin typeface="Courier New"/>
              </a:rPr>
              <a:t> </a:t>
            </a:r>
            <a:r>
              <a:rPr sz="850" b="0" dirty="0" err="1">
                <a:solidFill>
                  <a:srgbClr val="2D6CDF"/>
                </a:solidFill>
                <a:latin typeface="Courier New"/>
              </a:rPr>
              <a:t>paramétré</a:t>
            </a:r>
            <a:endParaRPr sz="850" b="0" dirty="0">
              <a:solidFill>
                <a:srgbClr val="2D6CDF"/>
              </a:solidFill>
              <a:latin typeface="Courier New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44314" y="251460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4314" y="2624328"/>
            <a:ext cx="45720" cy="12893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5482" y="2642616"/>
            <a:ext cx="313730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D28D9"/>
                </a:solidFill>
                <a:latin typeface="Arial"/>
              </a:rPr>
              <a:t>Journal des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5482" y="2990088"/>
            <a:ext cx="3137306" cy="886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596371"/>
                </a:solidFill>
                <a:latin typeface="Arial"/>
              </a:rPr>
              <a:t>chaque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appel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d'outil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par un agent est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tracé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,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horodaté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, avec son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coût</a:t>
            </a:r>
            <a:endParaRPr sz="1050" b="0" dirty="0">
              <a:solidFill>
                <a:srgbClr val="596371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0" dirty="0">
                <a:solidFill>
                  <a:srgbClr val="6D28D9"/>
                </a:solidFill>
                <a:latin typeface="Courier New"/>
              </a:rPr>
              <a:t>ledger </a:t>
            </a:r>
            <a:r>
              <a:rPr sz="850" b="0" dirty="0" err="1">
                <a:solidFill>
                  <a:srgbClr val="6D28D9"/>
                </a:solidFill>
                <a:latin typeface="Courier New"/>
              </a:rPr>
              <a:t>d'invocations</a:t>
            </a:r>
            <a:r>
              <a:rPr sz="850" b="0" dirty="0">
                <a:solidFill>
                  <a:srgbClr val="6D28D9"/>
                </a:solidFill>
                <a:latin typeface="Courier New"/>
              </a:rPr>
              <a:t> </a:t>
            </a:r>
            <a:r>
              <a:rPr sz="850" b="0" dirty="0" err="1">
                <a:solidFill>
                  <a:srgbClr val="6D28D9"/>
                </a:solidFill>
                <a:latin typeface="Courier New"/>
              </a:rPr>
              <a:t>horodaté</a:t>
            </a:r>
            <a:endParaRPr sz="850" b="0" dirty="0">
              <a:solidFill>
                <a:srgbClr val="6D28D9"/>
              </a:solidFill>
              <a:latin typeface="Courier New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21700" y="251460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21700" y="2624328"/>
            <a:ext cx="45720" cy="12893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2868" y="2642616"/>
            <a:ext cx="313730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D28D9"/>
                </a:solidFill>
                <a:latin typeface="Arial"/>
              </a:rPr>
              <a:t>Contrôle des droits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2868" y="2990088"/>
            <a:ext cx="3137306" cy="886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596371"/>
                </a:solidFill>
                <a:latin typeface="Arial"/>
              </a:rPr>
              <a:t>qui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peut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faire quoi : un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moteur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de permissions fin, déjà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en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production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0" dirty="0">
                <a:solidFill>
                  <a:srgbClr val="6D28D9"/>
                </a:solidFill>
                <a:latin typeface="Courier New"/>
              </a:rPr>
              <a:t>RBAC + ABAC · </a:t>
            </a:r>
            <a:r>
              <a:rPr sz="850" b="0" dirty="0" err="1">
                <a:solidFill>
                  <a:srgbClr val="6D28D9"/>
                </a:solidFill>
                <a:latin typeface="Courier New"/>
              </a:rPr>
              <a:t>Keycloak</a:t>
            </a:r>
            <a:r>
              <a:rPr sz="850" b="0" dirty="0">
                <a:solidFill>
                  <a:srgbClr val="6D28D9"/>
                </a:solidFill>
                <a:latin typeface="Courier New"/>
              </a:rPr>
              <a:t> / OIDC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20624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4315968"/>
            <a:ext cx="45720" cy="1289304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4334255"/>
            <a:ext cx="313730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F62"/>
                </a:solidFill>
                <a:latin typeface="Arial"/>
              </a:rPr>
              <a:t>Banc d'essai statistique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681727"/>
            <a:ext cx="3137306" cy="563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596371"/>
                </a:solidFill>
                <a:latin typeface="Arial"/>
              </a:rPr>
              <a:t>aucun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changement ne part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en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production sans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avoir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prouvé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qu'il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fait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mieux</a:t>
            </a:r>
            <a:endParaRPr sz="1050" b="0" dirty="0">
              <a:solidFill>
                <a:srgbClr val="596371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0" dirty="0">
                <a:solidFill>
                  <a:srgbClr val="0E8F62"/>
                </a:solidFill>
                <a:latin typeface="Courier New"/>
              </a:rPr>
              <a:t>tests A/B sur </a:t>
            </a:r>
            <a:r>
              <a:rPr lang="fr-FR" sz="850" b="0" dirty="0">
                <a:solidFill>
                  <a:srgbClr val="0E8F62"/>
                </a:solidFill>
                <a:latin typeface="Courier New"/>
              </a:rPr>
              <a:t>golden set</a:t>
            </a:r>
            <a:endParaRPr sz="850" b="0" dirty="0">
              <a:solidFill>
                <a:srgbClr val="0E8F62"/>
              </a:solidFill>
              <a:latin typeface="Courier New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344314" y="420624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4314" y="4315968"/>
            <a:ext cx="45720" cy="1289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45482" y="4334255"/>
            <a:ext cx="313730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45309"/>
                </a:solidFill>
                <a:latin typeface="Arial"/>
              </a:rPr>
              <a:t>Budget de calcul maîtrisé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5482" y="4681727"/>
            <a:ext cx="3137306" cy="886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596371"/>
                </a:solidFill>
                <a:latin typeface="Arial"/>
              </a:rPr>
              <a:t>la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dépense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de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chaque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réponse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est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calculée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et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plafonnée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à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l'avance</a:t>
            </a:r>
            <a:endParaRPr sz="1050" b="0" dirty="0">
              <a:solidFill>
                <a:srgbClr val="596371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0" dirty="0">
                <a:solidFill>
                  <a:srgbClr val="B45309"/>
                </a:solidFill>
                <a:latin typeface="Courier New"/>
              </a:rPr>
              <a:t>budget </a:t>
            </a:r>
            <a:r>
              <a:rPr sz="850" b="0" dirty="0" err="1">
                <a:solidFill>
                  <a:srgbClr val="B45309"/>
                </a:solidFill>
                <a:latin typeface="Courier New"/>
              </a:rPr>
              <a:t>adaptatif</a:t>
            </a:r>
            <a:r>
              <a:rPr sz="850" b="0" dirty="0">
                <a:solidFill>
                  <a:srgbClr val="B45309"/>
                </a:solidFill>
                <a:latin typeface="Courier New"/>
              </a:rPr>
              <a:t> par </a:t>
            </a:r>
            <a:r>
              <a:rPr sz="850" b="0" dirty="0" err="1">
                <a:solidFill>
                  <a:srgbClr val="B45309"/>
                </a:solidFill>
                <a:latin typeface="Courier New"/>
              </a:rPr>
              <a:t>fenêtre</a:t>
            </a:r>
            <a:r>
              <a:rPr sz="850" b="0" dirty="0">
                <a:solidFill>
                  <a:srgbClr val="B45309"/>
                </a:solidFill>
                <a:latin typeface="Courier New"/>
              </a:rPr>
              <a:t> de </a:t>
            </a:r>
            <a:r>
              <a:rPr sz="850" b="0" dirty="0" err="1">
                <a:solidFill>
                  <a:srgbClr val="B45309"/>
                </a:solidFill>
                <a:latin typeface="Courier New"/>
              </a:rPr>
              <a:t>contexte</a:t>
            </a:r>
            <a:endParaRPr sz="850" b="0" dirty="0">
              <a:solidFill>
                <a:srgbClr val="B45309"/>
              </a:solidFill>
              <a:latin typeface="Courier New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121700" y="420624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21700" y="4315968"/>
            <a:ext cx="45720" cy="128930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2868" y="4334255"/>
            <a:ext cx="313730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Arial"/>
              </a:rPr>
              <a:t>Modèles dans vos murs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2868" y="4681727"/>
            <a:ext cx="3137306" cy="886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les modèles tournent sur l'infrastructure souveraine, pas chez un tiers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0">
                <a:solidFill>
                  <a:srgbClr val="0B2545"/>
                </a:solidFill>
                <a:latin typeface="Courier New"/>
              </a:rPr>
              <a:t>serving vLLM / Ollama on-prem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Six fondations déjà en place — chaque piste en réutilise au moins deux : on ne part pas de zéro.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PORTEFEUILLE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Quatre pistes — quatre images simples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03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600200"/>
            <a:ext cx="2558719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00200"/>
            <a:ext cx="2558719" cy="566928"/>
          </a:xfrm>
          <a:prstGeom prst="roundRect">
            <a:avLst>
              <a:gd name="adj" fmla="val 4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874519"/>
            <a:ext cx="2558719" cy="2926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21929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urier New"/>
              </a:rPr>
              <a:t>PISTE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95144"/>
            <a:ext cx="21929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1A23"/>
                </a:solidFill>
                <a:latin typeface="Arial"/>
              </a:rPr>
              <a:t>La boîte noire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79191"/>
            <a:ext cx="2192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D6CDF"/>
                </a:solidFill>
                <a:latin typeface="Courier New"/>
              </a:rPr>
              <a:t>EXÉCUTION CERTIFIÉE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90088"/>
            <a:ext cx="2192959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596371"/>
                </a:solidFill>
                <a:latin typeface="Arial"/>
              </a:rPr>
              <a:t>Chaque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décision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d'agent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peut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être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rejouée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à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l'identique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des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mois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plus tard — avec un dossier de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preuve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à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remettre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à un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auditeur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77740"/>
            <a:ext cx="7132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17" name="Oval 16"/>
          <p:cNvSpPr/>
          <p:nvPr/>
        </p:nvSpPr>
        <p:spPr>
          <a:xfrm>
            <a:off x="1463040" y="480060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59636" y="480060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856232" y="480060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52828" y="480060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49424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097779"/>
            <a:ext cx="7132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23" name="Oval 22"/>
          <p:cNvSpPr/>
          <p:nvPr/>
        </p:nvSpPr>
        <p:spPr>
          <a:xfrm>
            <a:off x="1463040" y="512064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659636" y="512064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856232" y="512064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052828" y="512064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249424" y="512064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399967" y="1600200"/>
            <a:ext cx="2558719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399967" y="1600200"/>
            <a:ext cx="2558719" cy="566928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99967" y="1874519"/>
            <a:ext cx="2558719" cy="2926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82847" y="1719072"/>
            <a:ext cx="21929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urier New"/>
              </a:rPr>
              <a:t>PISTE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2847" y="2295144"/>
            <a:ext cx="21929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1A23"/>
                </a:solidFill>
                <a:latin typeface="Arial"/>
              </a:rPr>
              <a:t>La procuration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2847" y="2679191"/>
            <a:ext cx="2192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D28D9"/>
                </a:solidFill>
                <a:latin typeface="Courier New"/>
              </a:rPr>
              <a:t>MANDATS D'AGENT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2847" y="2990088"/>
            <a:ext cx="2192959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596371"/>
                </a:solidFill>
                <a:latin typeface="Arial"/>
              </a:rPr>
              <a:t>Un agent ne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peut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jamais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dépasser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le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mandat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reçu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: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actes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, plafonds, durée. Tout est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signé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,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révocable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d'un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clic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2847" y="4777740"/>
            <a:ext cx="7132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36" name="Oval 35"/>
          <p:cNvSpPr/>
          <p:nvPr/>
        </p:nvSpPr>
        <p:spPr>
          <a:xfrm>
            <a:off x="4296079" y="480060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492675" y="480060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89271" y="480060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885867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082463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82847" y="5097779"/>
            <a:ext cx="7132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42" name="Oval 41"/>
          <p:cNvSpPr/>
          <p:nvPr/>
        </p:nvSpPr>
        <p:spPr>
          <a:xfrm>
            <a:off x="4296079" y="512064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492675" y="512064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689271" y="512064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885867" y="512064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082463" y="512064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33007" y="1600200"/>
            <a:ext cx="2558719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233007" y="1600200"/>
            <a:ext cx="2558719" cy="566928"/>
          </a:xfrm>
          <a:prstGeom prst="roundRect">
            <a:avLst>
              <a:gd name="adj" fmla="val 4000"/>
            </a:avLst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33007" y="1874519"/>
            <a:ext cx="2558719" cy="292608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15887" y="1719072"/>
            <a:ext cx="21929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urier New"/>
              </a:rPr>
              <a:t>PISTE 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5887" y="2295144"/>
            <a:ext cx="21929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1A23"/>
                </a:solidFill>
                <a:latin typeface="Arial"/>
              </a:rPr>
              <a:t>La répétition générale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5887" y="2679191"/>
            <a:ext cx="2192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8F62"/>
                </a:solidFill>
                <a:latin typeface="Courier New"/>
              </a:rPr>
              <a:t>AUTO-AMÉLIORATION GOUVERNÉE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5887" y="2990088"/>
            <a:ext cx="2192959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596371"/>
                </a:solidFill>
                <a:latin typeface="Arial"/>
              </a:rPr>
              <a:t>La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plateforme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propose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ses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propres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réglages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, les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prouve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d'abord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sur des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cas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passés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, et un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humain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96371"/>
                </a:solidFill>
                <a:latin typeface="Arial"/>
              </a:rPr>
              <a:t>valide</a:t>
            </a:r>
            <a:r>
              <a:rPr sz="1050" b="0" dirty="0">
                <a:solidFill>
                  <a:srgbClr val="596371"/>
                </a:solidFill>
                <a:latin typeface="Arial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5887" y="4777740"/>
            <a:ext cx="7132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55" name="Oval 54"/>
          <p:cNvSpPr/>
          <p:nvPr/>
        </p:nvSpPr>
        <p:spPr>
          <a:xfrm>
            <a:off x="7129119" y="480060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325715" y="480060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522311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18907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915503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15887" y="5097779"/>
            <a:ext cx="7132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61" name="Oval 60"/>
          <p:cNvSpPr/>
          <p:nvPr/>
        </p:nvSpPr>
        <p:spPr>
          <a:xfrm>
            <a:off x="7129119" y="512064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7325715" y="512064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522311" y="512064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7718907" y="512064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915503" y="512064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066047" y="1600200"/>
            <a:ext cx="2558719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9066047" y="1600200"/>
            <a:ext cx="2558719" cy="566928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066047" y="1874519"/>
            <a:ext cx="2558719" cy="2926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248927" y="1719072"/>
            <a:ext cx="21929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urier New"/>
              </a:rPr>
              <a:t>PISTE 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48927" y="2295144"/>
            <a:ext cx="21929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1A23"/>
                </a:solidFill>
                <a:latin typeface="Arial"/>
              </a:rPr>
              <a:t>La voie prioritaire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48927" y="2679191"/>
            <a:ext cx="2192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urier New"/>
              </a:rPr>
              <a:t>GESTION DE CAPACITÉ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48927" y="2990088"/>
            <a:ext cx="2192959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L'usage critique passe toujours ; le reste ralentit dans un ordre connu. Chaque direction paie ce qu'elle consomme.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48927" y="4777740"/>
            <a:ext cx="7132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74" name="Oval 73"/>
          <p:cNvSpPr/>
          <p:nvPr/>
        </p:nvSpPr>
        <p:spPr>
          <a:xfrm>
            <a:off x="9962159" y="480060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0158755" y="480060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0355351" y="480060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0551947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0748543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248927" y="5097779"/>
            <a:ext cx="7132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80" name="Oval 79"/>
          <p:cNvSpPr/>
          <p:nvPr/>
        </p:nvSpPr>
        <p:spPr>
          <a:xfrm>
            <a:off x="9962159" y="512064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158755" y="512064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355351" y="512064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551947" y="512064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748543" y="512064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66928" y="5897880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Courier New"/>
              </a:rPr>
              <a:t>DIFF. = difficulté (1–5)   ·   DISR. = disruption / exclusivité (1–5). </a:t>
            </a:r>
            <a:r>
              <a:rPr sz="1050" b="1">
                <a:solidFill>
                  <a:srgbClr val="151A23"/>
                </a:solidFill>
                <a:latin typeface="Arial"/>
              </a:rPr>
              <a:t>Tout le monde sait faire tourner des agents. Personne d'autre ne contrôle toute la machine — c'est là que se jouent ces quatre pistes.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PISTE A — L'IDÉE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La boîte noire — exécution certifiée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04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18727" y="397764"/>
            <a:ext cx="685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10" name="Oval 9"/>
          <p:cNvSpPr/>
          <p:nvPr/>
        </p:nvSpPr>
        <p:spPr>
          <a:xfrm>
            <a:off x="9704527" y="420624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01123" y="420624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97719" y="420624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94315" y="420624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490911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18727" y="690372"/>
            <a:ext cx="685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16" name="Oval 15"/>
          <p:cNvSpPr/>
          <p:nvPr/>
        </p:nvSpPr>
        <p:spPr>
          <a:xfrm>
            <a:off x="9704527" y="713232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01123" y="713232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97719" y="713232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294315" y="713232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90911" y="713232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1481328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1591056"/>
            <a:ext cx="45720" cy="192938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160934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6CDF"/>
                </a:solidFill>
                <a:latin typeface="Arial"/>
              </a:rPr>
              <a:t>L'idée, simplement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1956816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Chaque décision d'un agent est enregistrée intégralement, comme dans un avion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Des mois plus tard, on peut la rejouer à l'identique et remettre un dossier de preuve : ce qui a été décidé, pourquoi, sur la base de quoi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Si quelque chose a changé entre-temps, le système dit précisément quoi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94760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904488"/>
            <a:ext cx="45720" cy="192938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392277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6CDF"/>
                </a:solidFill>
                <a:latin typeface="Arial"/>
              </a:rPr>
              <a:t>Pourquoi personne d'autre ne peut le faire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270248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596371"/>
                </a:solidFill>
                <a:latin typeface="Arial"/>
              </a:rPr>
              <a:t>▪ Les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concurrents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louent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leurs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modèles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au cloud :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ces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modèles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changent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sans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prévenir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— impossible de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rejouer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hier</a:t>
            </a:r>
            <a:endParaRPr sz="1150" b="0" dirty="0">
              <a:solidFill>
                <a:srgbClr val="596371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dirty="0">
                <a:solidFill>
                  <a:srgbClr val="596371"/>
                </a:solidFill>
                <a:latin typeface="Arial"/>
              </a:rPr>
              <a:t>▪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Rejouer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à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l'identique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exige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de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contrôler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le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modèle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de bout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en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bout :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c'est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notre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cas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, pas le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leur</a:t>
            </a:r>
            <a:endParaRPr sz="1150" b="0" dirty="0">
              <a:solidFill>
                <a:srgbClr val="596371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dirty="0">
                <a:solidFill>
                  <a:srgbClr val="596371"/>
                </a:solidFill>
                <a:latin typeface="Arial"/>
              </a:rPr>
              <a:t>▪ Face à un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auditeur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,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leur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réponse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sera des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journaux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techniques. La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nôtre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: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une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preuve</a:t>
            </a:r>
            <a:r>
              <a:rPr sz="1150" b="0" dirty="0">
                <a:solidFill>
                  <a:srgbClr val="596371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96371"/>
                </a:solidFill>
                <a:latin typeface="Arial"/>
              </a:rPr>
              <a:t>rejouable</a:t>
            </a:r>
            <a:endParaRPr sz="1150" b="0" dirty="0">
              <a:solidFill>
                <a:srgbClr val="596371"/>
              </a:solidFill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78727" y="1481328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78727" y="1591056"/>
            <a:ext cx="45720" cy="192938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9895" y="160934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Pourquoi nous pouvons aller vite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895" y="1956816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L'enregistrement des exécutions et le re-jeu existent déjà dans la plateforme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Chaque action d'agent est déjà journalisée et horodatée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Les modèles tournent déjà dans nos murs — la condition indispensable est acquise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3794760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78727" y="3904488"/>
            <a:ext cx="45720" cy="1929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9895" y="392277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Ce qui est difficile — et pourquoi ça nous protège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9895" y="4270248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Garantir le « à l'identique » strict sur les calculateurs est un vrai défi scientifique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Notre approche : un mode certifié dédié au re-jeu, et un rapport d'écart quand le strict n'est pas atteignable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Cette difficulté est notre protection : ce qui est dur à faire est dur à copier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10819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D6CDF"/>
                </a:solidFill>
                <a:latin typeface="Courier New"/>
              </a:rPr>
              <a:t>ANCRAGE TECHNIQUE  </a:t>
            </a:r>
            <a:r>
              <a:rPr sz="900" b="0">
                <a:solidFill>
                  <a:srgbClr val="596371"/>
                </a:solidFill>
                <a:latin typeface="Courier New"/>
              </a:rPr>
              <a:t>lineage de runs &amp; snapshots · empreintes SHA-256 · échantillonnage seedé · serving souverain (vLLM) · couloir de re-jeu épinglé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PISTE A — L'EXEMPLE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L'audit, neuf mois après les faits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05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481328"/>
            <a:ext cx="11057839" cy="77724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91056"/>
            <a:ext cx="1054577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SITUATION   </a:t>
            </a:r>
            <a:r>
              <a:rPr sz="1300" b="1">
                <a:solidFill>
                  <a:srgbClr val="FFFFFF"/>
                </a:solidFill>
                <a:latin typeface="Arial"/>
              </a:rPr>
              <a:t>Un agent a recommandé une dérogation de maintenance il y a neuf mois. L'auditeur demande : pourquoi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596896"/>
            <a:ext cx="45720" cy="1655063"/>
          </a:xfrm>
          <a:prstGeom prst="rect">
            <a:avLst/>
          </a:prstGeom>
          <a:solidFill>
            <a:srgbClr val="596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61518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96371"/>
                </a:solidFill>
                <a:latin typeface="Arial"/>
              </a:rPr>
              <a:t>Aujourd'hui, sans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62656"/>
            <a:ext cx="4980279" cy="1252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Des semaines à fouiller les journaux techniques, plusieurs équipes mobilisées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Le modèle a changé depuis : la décision n'est plus reproductible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Au final, une explication déclarative — pas une preuve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8727" y="2596896"/>
            <a:ext cx="45720" cy="1655063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9895" y="261518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6CDF"/>
                </a:solidFill>
                <a:latin typeface="Arial"/>
              </a:rPr>
              <a:t>Demain, avec la piste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895" y="2962656"/>
            <a:ext cx="4980279" cy="1252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La décision est rejouée à l'identique en quelques minutes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Si quelque chose a changé, le rapport d'écart dit précisément quoi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Un dossier signé, remis tel quel à l'auditeur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44568"/>
            <a:ext cx="11057839" cy="16916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4654296"/>
            <a:ext cx="45720" cy="147218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4681728"/>
            <a:ext cx="776599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CE QUE LE CLIENT Y GAGNE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Répondre à un audit : de plusieurs semaines à quelques heures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Une preuve au lieu d'une explication — ça change la relation avec le régulateur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Ouvre les usages dans les secteurs régulés (finance, gouvernement) où l'autonomie était inenvisageable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2967" y="4681728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ORDRE DE GRANDEUR*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-90% tps d'enquête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100% décisions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rejouables &amp; signées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2967" y="61447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* projection illustrative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Courier New"/>
              </a:rPr>
              <a:t>PISTE B — L'IDÉE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La procuration — mandats d'agent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06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18727" y="397764"/>
            <a:ext cx="685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10" name="Oval 9"/>
          <p:cNvSpPr/>
          <p:nvPr/>
        </p:nvSpPr>
        <p:spPr>
          <a:xfrm>
            <a:off x="9704527" y="420624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01123" y="420624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97719" y="420624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94315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490911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18727" y="690372"/>
            <a:ext cx="685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16" name="Oval 15"/>
          <p:cNvSpPr/>
          <p:nvPr/>
        </p:nvSpPr>
        <p:spPr>
          <a:xfrm>
            <a:off x="9704527" y="713232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01123" y="713232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97719" y="713232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294315" y="713232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90911" y="713232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1481328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1591056"/>
            <a:ext cx="45720" cy="1929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160934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</a:rPr>
              <a:t>L'idée, simplement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1956816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On ne lâche pas un agent dans la nature : on lui donne une procuration, comme à un employé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Actes autorisés, plafonds, durée de validité — et règle d'or : un agent ne peut jamais faire plus que la personne qui l'a mandaté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Chaque action est signée ; la procuration se révoque d'un clic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94760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904488"/>
            <a:ext cx="45720" cy="1929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392277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</a:rPr>
              <a:t>Pourquoi personne d'autre ne peut le faire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270248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Les solutions existantes gèrent des identités, pas des procurations : pas de plafond, pas de délégation contrôlée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Les offres cloud arrivent (Microsoft) — mais hors de vos murs, et sans preuve opposable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Notre version : dans vos murs, signée, vérifiable — intégrée au contrôle des droits existant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727" y="1481328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78727" y="1591056"/>
            <a:ext cx="45720" cy="192938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9895" y="160934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Pourquoi nous pouvons aller vite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895" y="1956816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Le moteur de droits et de permissions est déjà en production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Les périmètres d'autorisation par métier sont déjà décrits et appliqués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Il reste à ajouter la couche procuration et la signature — pas à reconstruire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3794760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78727" y="3904488"/>
            <a:ext cx="45720" cy="1929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9895" y="392277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Ce qui est difficile — et pourquoi ça nous protège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9895" y="4270248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Gérer les clés de signature dans vos murs : rotation, révocation, cycle de vie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Garder les procurations simples à administrer pour ne pas créer une usine à gaz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Risque global modéré : le socle existe, la couche s'y greffe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10819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D28D9"/>
                </a:solidFill>
                <a:latin typeface="Courier New"/>
              </a:rPr>
              <a:t>ANCRAGE TECHNIQUE  </a:t>
            </a:r>
            <a:r>
              <a:rPr sz="900" b="0">
                <a:solidFill>
                  <a:srgbClr val="596371"/>
                </a:solidFill>
                <a:latin typeface="Courier New"/>
              </a:rPr>
              <a:t>RBAC + ABAC (Keycloak / OIDC) · mandats signés · registre chaîné par hachage (principe Certificate Transparency) · révocation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Courier New"/>
              </a:rPr>
              <a:t>PISTE B — L'EXEMPLE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Un agent tente de dépasser son mandat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07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481328"/>
            <a:ext cx="11057839" cy="77724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91056"/>
            <a:ext cx="1054577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SITUATION   </a:t>
            </a:r>
            <a:r>
              <a:rPr sz="1300" b="1">
                <a:solidFill>
                  <a:srgbClr val="FFFFFF"/>
                </a:solidFill>
                <a:latin typeface="Arial"/>
              </a:rPr>
              <a:t>Un agent d'achats tente de déclencher un paiement au-delà de son plafond, en dehors de sa période d'autorisation.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596896"/>
            <a:ext cx="45720" cy="1655063"/>
          </a:xfrm>
          <a:prstGeom prst="rect">
            <a:avLst/>
          </a:prstGeom>
          <a:solidFill>
            <a:srgbClr val="596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61518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96371"/>
                </a:solidFill>
                <a:latin typeface="Arial"/>
              </a:rPr>
              <a:t>Aujourd'hui, sans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62656"/>
            <a:ext cx="4980279" cy="1252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Des contrôles dispersés, codés au cas par cas dans chaque agent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Des journaux simples, une responsabilité diluée entre humain et machine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Conclusion du directeur sécurité : pas d'autonomie sur les sujets sensibles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8727" y="2596896"/>
            <a:ext cx="45720" cy="1655063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9895" y="261518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</a:rPr>
              <a:t>Demain, avec la piste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895" y="2962656"/>
            <a:ext cx="4980279" cy="1252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Le paiement est bloqué à la source — par construction, pas par convention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Une trace signée : qui a mandaté quoi, à quel agent, pour quel périmètre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Révocation immédiate de la procuration, effet instantané sur tout ce qui tourne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44568"/>
            <a:ext cx="11057839" cy="16916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4654296"/>
            <a:ext cx="45720" cy="14721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4681728"/>
            <a:ext cx="776599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Courier New"/>
              </a:rPr>
              <a:t>CE QUE LE CLIENT Y GAGNE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L'autonomie devient autorisable sur les périmètres sensibles — le frein n°1 de l'adoption saute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Chaque action a un responsable identifié — la condition de l'engagement juridique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On déploie plus d'agents sans accroître le risque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2967" y="4681728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Courier New"/>
              </a:rPr>
              <a:t>ORDRE DE GRANDEUR*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0 action hors mandat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possible by-design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autoriser un agent :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jours → heures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2967" y="61447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* projection illustrative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8F62"/>
                </a:solidFill>
                <a:latin typeface="Courier New"/>
              </a:rPr>
              <a:t>PISTE C — L'IDÉE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La répétition générale — auto-amélioration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08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18727" y="397764"/>
            <a:ext cx="685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10" name="Oval 9"/>
          <p:cNvSpPr/>
          <p:nvPr/>
        </p:nvSpPr>
        <p:spPr>
          <a:xfrm>
            <a:off x="9704527" y="420624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01123" y="420624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97719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94315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490911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18727" y="690372"/>
            <a:ext cx="685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16" name="Oval 15"/>
          <p:cNvSpPr/>
          <p:nvPr/>
        </p:nvSpPr>
        <p:spPr>
          <a:xfrm>
            <a:off x="9704527" y="713232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01123" y="713232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97719" y="713232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294315" y="713232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90911" y="713232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1481328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1591056"/>
            <a:ext cx="45720" cy="1929384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160934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F62"/>
                </a:solidFill>
                <a:latin typeface="Arial"/>
              </a:rPr>
              <a:t>L'idée, simplement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1956816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La plateforme se surveille elle-même et détecte les baisses de qualité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Elle propose un réglage correctif — mais le répète d'abord sur des centaines de cas passés, chiffres à l'appui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Un humain valide d'un clic ; en cas de problème, retour arrière automatique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94760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904488"/>
            <a:ext cx="45720" cy="1929384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392277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F62"/>
                </a:solidFill>
                <a:latin typeface="Arial"/>
              </a:rPr>
              <a:t>Pourquoi personne d'autre ne peut le faire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270248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Les outils du marché observent et alertent — aucun ne boucle : proposer, prouver, faire valider, déployer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La recherche sait optimiser, mais sans cadre de validation ni chemin vers la production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Nous livrons l'amélioration continue comme une fonction de la plateforme, sous contrôle humain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727" y="1481328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78727" y="1591056"/>
            <a:ext cx="45720" cy="192938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9895" y="160934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Pourquoi nous pouvons aller vite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895" y="1956816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La notation automatique des exécutions et les recommandations proactives sont déjà livrées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Le banc d'essai statistique — le réglage doit prouver qu'il fait mieux — est déjà livré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Environ 70% du chemin est déjà construit : il reste à fermer la boucle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3794760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78727" y="3904488"/>
            <a:ext cx="45720" cy="1929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9895" y="392277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Ce qui est difficile — et pourquoi ça nous protège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9895" y="4270248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Risque faible : il s'agit d'assembler des briques existantes, pas de recherche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Point d'attention : s'assurer que les cas passés utilisés pour la répétition sont représentatifs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10819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8F62"/>
                </a:solidFill>
                <a:latin typeface="Courier New"/>
              </a:rPr>
              <a:t>ANCRAGE TECHNIQUE  </a:t>
            </a:r>
            <a:r>
              <a:rPr sz="900" b="0">
                <a:solidFill>
                  <a:srgbClr val="596371"/>
                </a:solidFill>
                <a:latin typeface="Courier New"/>
              </a:rPr>
              <a:t>scoring automatique des runs · gate statistique A/B (golden set) · simulation what-if sur historique · rollout progressif + rollback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8F62"/>
                </a:solidFill>
                <a:latin typeface="Courier New"/>
              </a:rPr>
              <a:t>PISTE C — L'EXEMPLE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La qualité baisse après un ajout de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09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481328"/>
            <a:ext cx="11057839" cy="77724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91056"/>
            <a:ext cx="1054577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SITUATION   </a:t>
            </a:r>
            <a:r>
              <a:rPr sz="1300" b="1">
                <a:solidFill>
                  <a:srgbClr val="FFFFFF"/>
                </a:solidFill>
                <a:latin typeface="Arial"/>
              </a:rPr>
              <a:t>Un nouveau fonds documentaire est ajouté. Le taux de bonnes réponses chute de 91% à 84%.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596896"/>
            <a:ext cx="45720" cy="1655063"/>
          </a:xfrm>
          <a:prstGeom prst="rect">
            <a:avLst/>
          </a:prstGeom>
          <a:solidFill>
            <a:srgbClr val="596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61518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96371"/>
                </a:solidFill>
                <a:latin typeface="Arial"/>
              </a:rPr>
              <a:t>Aujourd'hui, sans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62656"/>
            <a:ext cx="4980279" cy="1252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Des réglages manuels, à tâtons, directement en production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Le risque de casser ce qui marchait ailleurs sans s'en apercevoir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Aucune trace de qui a changé quoi, ni pourquoi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8727" y="2596896"/>
            <a:ext cx="45720" cy="1655063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9895" y="261518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F62"/>
                </a:solidFill>
                <a:latin typeface="Arial"/>
              </a:rPr>
              <a:t>Demain, avec la piste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895" y="2962656"/>
            <a:ext cx="4980279" cy="1252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La plateforme propose d'elle-même un réglage correctif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Répétition générale sur 500 cas passés : 84% → 93%, coût par réponse −18%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Validation humaine en un clic, déploiement progressif, retour arrière automatique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44568"/>
            <a:ext cx="11057839" cy="16916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4654296"/>
            <a:ext cx="45720" cy="1472184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4681728"/>
            <a:ext cx="776599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8F62"/>
                </a:solidFill>
                <a:latin typeface="Courier New"/>
              </a:rPr>
              <a:t>CE QUE LE CLIENT Y GAGNE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La qualité et les coûts se pilotent avec des chiffres, en continu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Aucun changement sauvage : chaque évolution a son dossier — l'essai, les chiffres, le validateur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Démontrable dès le premier comité : les chiffres parlent d'eux-mêmes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2967" y="4681728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8F62"/>
                </a:solidFill>
                <a:latin typeface="Courier New"/>
              </a:rPr>
              <a:t>ORDRE DE GRANDEUR*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qualité 84 → 93%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coût/réponse −18%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0 changement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non tracé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2967" y="61447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* projection illustrative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ourier New"/>
              </a:rPr>
              <a:t>PISTE D — L'IDÉE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La voie prioritaire — gestion de capacité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10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18727" y="397764"/>
            <a:ext cx="685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10" name="Oval 9"/>
          <p:cNvSpPr/>
          <p:nvPr/>
        </p:nvSpPr>
        <p:spPr>
          <a:xfrm>
            <a:off x="9704527" y="420624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01123" y="420624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97719" y="420624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94315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490911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18727" y="690372"/>
            <a:ext cx="685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16" name="Oval 15"/>
          <p:cNvSpPr/>
          <p:nvPr/>
        </p:nvSpPr>
        <p:spPr>
          <a:xfrm>
            <a:off x="9704527" y="713232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01123" y="713232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97719" y="713232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294315" y="713232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90911" y="713232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1481328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1591056"/>
            <a:ext cx="45720" cy="1929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160934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L'idée, simplement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1956816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La puissance de calcul souveraine est limitée : on décide à l'avance qui est prioritaire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L'usage critique passe toujours ; les traitements de fond ralentissent dans un ordre connu, jamais au hasard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Chaque direction paie ce qu'elle consomme réellement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94760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904488"/>
            <a:ext cx="45720" cy="1929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392277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Pourquoi personne d'autre ne peut le faire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270248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Les géants du cloud font cela en interne — ils ne l'offrent jamais à leurs clients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Les boîtes à outils du marché ne gèrent pas la capacité : elles la consomment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Sur une capacité finie — votre cas par définition — c'est ce qui transforme une promesse en contrat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727" y="1481328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78727" y="1591056"/>
            <a:ext cx="45720" cy="192938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9895" y="160934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Pourquoi nous pouvons aller vite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895" y="1956816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Le calcul et le plafonnement de la dépense de chaque réponse sont déjà en production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Les leviers de réglage fin du pipeline existent déjà, prêts à être orchestrés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La consommation est déjà mesurée action par action — la facturation interne en découle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3794760"/>
            <a:ext cx="5346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78727" y="3904488"/>
            <a:ext cx="45720" cy="1929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9895" y="392277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Ce qui est difficile — et pourquoi ça nous protège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9895" y="4270248"/>
            <a:ext cx="4980279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Arbitrer entre plusieurs équipes sur une machine partagée demande du soin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Calibrer les niveaux de service demande des campagnes de mesure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Moins spectaculaire en démonstration — mais très parlant pour un DSI et un CFO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10819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Courier New"/>
              </a:rPr>
              <a:t>ANCRAGE TECHNIQUE  </a:t>
            </a:r>
            <a:r>
              <a:rPr sz="900" b="0">
                <a:solidFill>
                  <a:srgbClr val="596371"/>
                </a:solidFill>
                <a:latin typeface="Courier New"/>
              </a:rPr>
              <a:t>budget de génération adaptatif · admission control · classes de QoS · mesure de coût par invocation (chargeback)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ourier New"/>
              </a:rPr>
              <a:t>PISTE D — L'EXEMPLE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Tout le monde veut la machine en même temps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11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481328"/>
            <a:ext cx="11057839" cy="77724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91056"/>
            <a:ext cx="1054577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SITUATION   </a:t>
            </a:r>
            <a:r>
              <a:rPr sz="1300" b="1">
                <a:solidFill>
                  <a:srgbClr val="FFFFFF"/>
                </a:solidFill>
                <a:latin typeface="Arial"/>
              </a:rPr>
              <a:t>Fin de mois : le briefing de la direction et un gros traitement documentaire se disputent la même capacité de calcul.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596896"/>
            <a:ext cx="45720" cy="1655063"/>
          </a:xfrm>
          <a:prstGeom prst="rect">
            <a:avLst/>
          </a:prstGeom>
          <a:solidFill>
            <a:srgbClr val="596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61518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96371"/>
                </a:solidFill>
                <a:latin typeface="Arial"/>
              </a:rPr>
              <a:t>Aujourd'hui, sans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62656"/>
            <a:ext cx="4980279" cy="1252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Des lenteurs imprévisibles pour tout le monde — y compris la direction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Seule issue : acheter plus de machines pour absorber les pics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Impossible de savoir quelle direction consomme quoi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8727" y="2596896"/>
            <a:ext cx="45720" cy="165506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9895" y="261518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Demain, avec la piste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895" y="2962656"/>
            <a:ext cx="4980279" cy="1252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Le briefing passe en voie prioritaire : temps de réponse garanti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Le traitement de fond ralentit dans un ordre prévu, jamais au hasard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Chaque direction est facturée sur sa consommation réelle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44568"/>
            <a:ext cx="11057839" cy="16916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4654296"/>
            <a:ext cx="45720" cy="14721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4681728"/>
            <a:ext cx="776599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ourier New"/>
              </a:rPr>
              <a:t>CE QUE LE CLIENT Y GAGNE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Les engagements de service sont tenus sans acheter de machines supplémentaires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Des coûts prévisibles et lisibles, direction par direction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L'arbitrage de capacité devient une décision de gestion, plus jamais un incident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2967" y="4681728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ourier New"/>
              </a:rPr>
              <a:t>ORDRE DE GRANDEUR*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achats machines évités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temps de réponse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garanti par priorité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facturation / dir.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2967" y="61447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* projection illustrative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Évaluation comparative des quatre pistes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12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08760"/>
          <a:ext cx="1105783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2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2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2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Critère</a:t>
                      </a:r>
                    </a:p>
                  </a:txBody>
                  <a:tcPr marL="73152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 — La boîte noire</a:t>
                      </a:r>
                    </a:p>
                  </a:txBody>
                  <a:tcPr marL="73152" marR="54864" marT="27432" marB="27432" anchor="ctr"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 — La procuration</a:t>
                      </a:r>
                    </a:p>
                  </a:txBody>
                  <a:tcPr marL="73152" marR="54864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 — La répétition générale</a:t>
                      </a:r>
                    </a:p>
                  </a:txBody>
                  <a:tcPr marL="73152" marR="54864" marT="27432" marB="27432" anchor="ctr">
                    <a:solidFill>
                      <a:srgbClr val="0E8F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 — La voie prioritaire</a:t>
                      </a:r>
                    </a:p>
                  </a:txBody>
                  <a:tcPr marL="73152" marR="54864" marT="27432" marB="27432" anchor="ctr"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Besoins PIH servis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Souveraineté · Robustesse · Audit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Sécurité · Audit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Performance · Robustesse · Observabilité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Performance · Échelle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Exclusivité réelle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Très forte — impossible pour un acteur cloud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Forte — les offres cloud restent hors de vos murs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Forte — personne ne boucle sous contrôle humain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Forte mais discrète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Ce qui existe déjà chez nous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Enregistrement et re-jeu des exécutions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Moteur de droits en production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≈ 70% du chemin déjà construit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Budgets et mesure de consommation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Protection (brevet / publication)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Forte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Moyenne-forte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Moyenne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Moyenne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Difficulté (1–5)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6CDF"/>
                          </a:solidFill>
                          <a:latin typeface="Courier New"/>
                        </a:rPr>
                        <a:t>● ● ● ● ○ 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D28D9"/>
                          </a:solidFill>
                          <a:latin typeface="Courier New"/>
                        </a:rPr>
                        <a:t>● ● ● ○ ○ 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E8F62"/>
                          </a:solidFill>
                          <a:latin typeface="Courier New"/>
                        </a:rPr>
                        <a:t>● ● ○ ○ ○ 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45309"/>
                          </a:solidFill>
                          <a:latin typeface="Courier New"/>
                        </a:rPr>
                        <a:t>● ● ● ○ ○ 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Disruption / exclusivité (1–5)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6CDF"/>
                          </a:solidFill>
                          <a:latin typeface="Courier New"/>
                        </a:rPr>
                        <a:t>● ● ● ● ● 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D28D9"/>
                          </a:solidFill>
                          <a:latin typeface="Courier New"/>
                        </a:rPr>
                        <a:t>● ● ● ● ○ 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E8F62"/>
                          </a:solidFill>
                          <a:latin typeface="Courier New"/>
                        </a:rPr>
                        <a:t>● ● ● ● ○ 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45309"/>
                          </a:solidFill>
                          <a:latin typeface="Courier New"/>
                        </a:rPr>
                        <a:t>● ● ● ○ ○ </a:t>
                      </a:r>
                    </a:p>
                  </a:txBody>
                  <a:tcPr marL="73152" marR="54864" marT="27432" marB="2743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96371"/>
                </a:solidFill>
                <a:latin typeface="Arial"/>
              </a:rPr>
              <a:t>Lecture : </a:t>
            </a:r>
            <a:r>
              <a:rPr sz="1100" b="0">
                <a:solidFill>
                  <a:srgbClr val="596371"/>
                </a:solidFill>
                <a:latin typeface="Arial"/>
              </a:rPr>
              <a:t>la répétition générale est le gain visible en premier ; la boîte noire est l'avantage de fond — sa difficulté est ce qui empêche de la copier.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CADRE RÉGLEMENTAIRE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Qatar &amp; Golfe : pas d'AI Act, une trajectoire favorable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13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481328"/>
            <a:ext cx="5346039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5720" cy="215798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60934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Qatar — des règles par secteur, pas de loi globale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56816"/>
            <a:ext cx="4980279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Banque centrale (09/2024) — </a:t>
            </a:r>
            <a:r>
              <a:rPr sz="1050" b="0">
                <a:solidFill>
                  <a:srgbClr val="151A23"/>
                </a:solidFill>
                <a:latin typeface="Arial"/>
              </a:rPr>
              <a:t>règles contraignantes pour la finance : supervision humaine, signalement au régulateur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Agence cybersécurité (2024) — </a:t>
            </a:r>
            <a:r>
              <a:rPr sz="1050" b="0">
                <a:solidFill>
                  <a:srgbClr val="151A23"/>
                </a:solidFill>
                <a:latin typeface="Arial"/>
              </a:rPr>
              <a:t>lignes directrices pour un usage sûr de l'IA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Marchés financiers (05/2025) — </a:t>
            </a:r>
            <a:r>
              <a:rPr sz="1050" b="0">
                <a:solidFill>
                  <a:srgbClr val="151A23"/>
                </a:solidFill>
                <a:latin typeface="Arial"/>
              </a:rPr>
              <a:t>projet de règles dédiées en préparation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2026–2027 — </a:t>
            </a:r>
            <a:r>
              <a:rPr sz="1050" b="0">
                <a:solidFill>
                  <a:srgbClr val="151A23"/>
                </a:solidFill>
                <a:latin typeface="Arial"/>
              </a:rPr>
              <a:t>harmonisation entre secteurs et alignement régional : une loi globale est la trajectoire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481328"/>
            <a:ext cx="5346039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78727" y="1591056"/>
            <a:ext cx="45720" cy="215798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9895" y="1609344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Région — la souveraineté avant la conformité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1956816"/>
            <a:ext cx="4980279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Arabie Saoudite — </a:t>
            </a:r>
            <a:r>
              <a:rPr sz="1050" b="0">
                <a:solidFill>
                  <a:srgbClr val="151A23"/>
                </a:solidFill>
                <a:latin typeface="Arial"/>
              </a:rPr>
              <a:t>2026 « année de l'IA », loi attendue ; projet phare sur la souveraineté des données (« data embassies »)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Émirats — </a:t>
            </a:r>
            <a:r>
              <a:rPr sz="1050" b="0">
                <a:solidFill>
                  <a:srgbClr val="151A23"/>
                </a:solidFill>
                <a:latin typeface="Arial"/>
              </a:rPr>
              <a:t>approche souple assumée, avec des règles sectorielles qui arrivent (banque centrale, 02/2026)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Bahreïn — </a:t>
            </a:r>
            <a:r>
              <a:rPr sz="1050" b="0">
                <a:solidFill>
                  <a:srgbClr val="151A23"/>
                </a:solidFill>
                <a:latin typeface="Arial"/>
              </a:rPr>
              <a:t>seule proposition de loi IA dédiée de la région (2024)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Europe — </a:t>
            </a:r>
            <a:r>
              <a:rPr sz="1050" b="0">
                <a:solidFill>
                  <a:srgbClr val="151A23"/>
                </a:solidFill>
                <a:latin typeface="Arial"/>
              </a:rPr>
              <a:t>l'AI Act s'applique aussi hors d'Europe dès que les résultats y sont utilisés — en vigueur depuis 08/2026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41648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169663"/>
            <a:ext cx="1054577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CDF"/>
                </a:solidFill>
                <a:latin typeface="Courier New"/>
              </a:rPr>
              <a:t>CE QUE ÇA VEUT DIRE POUR PIH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Dans la région, le moteur n'est pas la conformité : c'est la souveraineté prouvable. Construire la preuve maintenant, c'est être prêt avant que les règles n'arrivent.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166360"/>
            <a:ext cx="11057839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2545"/>
                </a:solidFill>
                <a:latin typeface="Courier New"/>
              </a:rPr>
              <a:t>SOURCES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D6CDF"/>
                </a:solidFill>
                <a:latin typeface="Arial"/>
                <a:hlinkClick r:id="rId3"/>
              </a:rPr>
              <a:t>↗ Nemko — AI Regulation in Qatar</a:t>
            </a:r>
            <a:r>
              <a:rPr sz="950" b="0">
                <a:solidFill>
                  <a:srgbClr val="596371"/>
                </a:solidFill>
                <a:latin typeface="Arial"/>
              </a:rPr>
              <a:t>      </a:t>
            </a:r>
            <a:r>
              <a:rPr sz="950" b="0">
                <a:solidFill>
                  <a:srgbClr val="2D6CDF"/>
                </a:solidFill>
                <a:latin typeface="Arial"/>
                <a:hlinkClick r:id="rId4"/>
              </a:rPr>
              <a:t>↗ Pinsent Masons — Gulf approach to AI regulation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D6CDF"/>
                </a:solidFill>
                <a:latin typeface="Arial"/>
                <a:hlinkClick r:id="rId5"/>
              </a:rPr>
              <a:t>↗ TransPerfect — Saudi Global AI Hub Law</a:t>
            </a:r>
            <a:r>
              <a:rPr sz="950" b="0">
                <a:solidFill>
                  <a:srgbClr val="596371"/>
                </a:solidFill>
                <a:latin typeface="Arial"/>
              </a:rPr>
              <a:t>      </a:t>
            </a:r>
            <a:r>
              <a:rPr sz="950" b="0">
                <a:solidFill>
                  <a:srgbClr val="2D6CDF"/>
                </a:solidFill>
                <a:latin typeface="Arial"/>
                <a:hlinkClick r:id="rId6"/>
              </a:rPr>
              <a:t>↗ Pinsent Masons — Saudi data sovereignty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D6CDF"/>
                </a:solidFill>
                <a:latin typeface="Arial"/>
                <a:hlinkClick r:id="rId7"/>
              </a:rPr>
              <a:t>↗ Bird &amp; Bird — AI Horizon Tracker (KSA)</a:t>
            </a:r>
            <a:r>
              <a:rPr sz="950" b="0">
                <a:solidFill>
                  <a:srgbClr val="596371"/>
                </a:solidFill>
                <a:latin typeface="Arial"/>
              </a:rPr>
              <a:t>      </a:t>
            </a:r>
            <a:r>
              <a:rPr sz="950" b="0">
                <a:solidFill>
                  <a:srgbClr val="2D6CDF"/>
                </a:solidFill>
                <a:latin typeface="Arial"/>
                <a:hlinkClick r:id="rId8"/>
              </a:rPr>
              <a:t>↗ Modulos — Middle East AI Compliance Guide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D6CDF"/>
                </a:solidFill>
                <a:latin typeface="Arial"/>
                <a:hlinkClick r:id="rId9"/>
              </a:rPr>
              <a:t>↗ Commission européenne — AI Act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RECOMMANDATION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Un scope en deux temps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14</a:t>
            </a:r>
          </a:p>
        </p:txBody>
      </p:sp>
      <p:pic>
        <p:nvPicPr>
          <p:cNvPr id="8" name="Picture 7" descr="logo_dat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99" y="310896"/>
            <a:ext cx="658368" cy="444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481328"/>
            <a:ext cx="11057839" cy="86868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ourier New"/>
              </a:rPr>
              <a:t>LA SOUVERAINETÉ CESSE D'ÊTRE UNE CONTRAINTE — ELLE DEVIENT L'AVANTAGE.  </a:t>
            </a:r>
            <a:r>
              <a:rPr sz="1300" b="0">
                <a:solidFill>
                  <a:srgbClr val="BED0E8"/>
                </a:solidFill>
                <a:latin typeface="Arial"/>
              </a:rPr>
              <a:t>Personne d'autre ne contrôle toute la chaîne ; personne d'autre ne peut offrir la preuve.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34603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715768"/>
            <a:ext cx="45720" cy="1883663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73405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F62"/>
                </a:solidFill>
                <a:latin typeface="Arial"/>
              </a:rPr>
              <a:t>Temps 1 — La répétition générale : le gain visible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081528"/>
            <a:ext cx="4980279" cy="14813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70% du chemin est déjà construit : résultat rapide, risque faible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La preuve de valeur arrive en chiffres dès le premier comité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Démontre que la plateforme sait s'améliorer sous contrôle humain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606040"/>
            <a:ext cx="534603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8727" y="2715768"/>
            <a:ext cx="45720" cy="1883663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9895" y="273405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6CDF"/>
                </a:solidFill>
                <a:latin typeface="Arial"/>
              </a:rPr>
              <a:t>Temps 2 — Boîte noire + procuration : l'avantage de fond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895" y="3081528"/>
            <a:ext cx="4980279" cy="14813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La preuve rejouable, portée par des mandats signés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Incopiable par un acteur cloud sans renoncer à son modèle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La voie prioritaire suit, en extension naturelle du contrat de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92040"/>
            <a:ext cx="11057839" cy="12344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5001768"/>
            <a:ext cx="45720" cy="10149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5029200"/>
            <a:ext cx="1060063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Courier New"/>
              </a:rPr>
              <a:t>POINTS DE VIGILANCE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Promettre le « re-jeu certifié avec rapport d'écart » : le strict à l'identique est le mode nominal, pas un slogan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Finaliser le durcissement sécurité interne avant tout engagement client — prérequis identifié dans notre feuille de route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3129</Words>
  <Application>Microsoft Macintosh PowerPoint</Application>
  <PresentationFormat>Widescreen</PresentationFormat>
  <Paragraphs>340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Thibaud Ishacian</cp:lastModifiedBy>
  <cp:revision>2</cp:revision>
  <dcterms:created xsi:type="dcterms:W3CDTF">2013-01-27T09:14:16Z</dcterms:created>
  <dcterms:modified xsi:type="dcterms:W3CDTF">2026-06-12T12:35:01Z</dcterms:modified>
  <cp:category/>
</cp:coreProperties>
</file>