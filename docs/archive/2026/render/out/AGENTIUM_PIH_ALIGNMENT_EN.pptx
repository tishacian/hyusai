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35"/>
  </p:normalViewPr>
  <p:slideViewPr>
    <p:cSldViewPr snapToGrid="0" snapToObjects="1">
      <p:cViewPr varScale="1">
        <p:scale>
          <a:sx n="150" d="100"/>
          <a:sy n="150" d="100"/>
        </p:scale>
        <p:origin x="90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datateg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1051560"/>
            <a:ext cx="1623721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331720"/>
            <a:ext cx="11277295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>
                <a:solidFill>
                  <a:srgbClr val="000000"/>
                </a:solidFill>
                <a:latin typeface="Helvetica"/>
              </a:rPr>
              <a:t>Agentium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77295" cy="5943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0">
                <a:solidFill>
                  <a:srgbClr val="1B3A5C"/>
                </a:solidFill>
                <a:latin typeface="Helvetica"/>
              </a:rPr>
              <a:t>Enterprise alignment with PIH 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703320"/>
            <a:ext cx="11277295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555555"/>
                </a:solidFill>
                <a:latin typeface="Helvetica"/>
              </a:rPr>
              <a:t>Intro deck before live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43400"/>
            <a:ext cx="11277295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 b="0">
                <a:solidFill>
                  <a:srgbClr val="444444"/>
                </a:solidFill>
                <a:latin typeface="Helvetica"/>
              </a:rPr>
              <a:t>Sovereignty  ·  Robustness  ·  Security</a:t>
            </a:r>
          </a:p>
          <a:p>
            <a:pPr algn="ctr">
              <a:lnSpc>
                <a:spcPct val="135000"/>
              </a:lnSpc>
            </a:pPr>
            <a:r>
              <a:rPr sz="1400" b="0">
                <a:solidFill>
                  <a:srgbClr val="444444"/>
                </a:solidFill>
                <a:latin typeface="Helvetica"/>
              </a:rPr>
              <a:t>Observability &amp; Scalability  ·  Token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080760"/>
            <a:ext cx="11277295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555555"/>
                </a:solidFill>
                <a:latin typeface="Helvetica"/>
              </a:rPr>
              <a:t>Datategy —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datateg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74320"/>
            <a:ext cx="744205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265615" y="292608"/>
            <a:ext cx="260604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1B3A5C"/>
                </a:solidFill>
                <a:latin typeface="Helvetica"/>
              </a:rPr>
              <a:t>Agentium</a:t>
            </a:r>
          </a:p>
        </p:txBody>
      </p:sp>
      <p:sp>
        <p:nvSpPr>
          <p:cNvPr id="5" name="Rectangle 4"/>
          <p:cNvSpPr/>
          <p:nvPr/>
        </p:nvSpPr>
        <p:spPr>
          <a:xfrm>
            <a:off x="3352647" y="292608"/>
            <a:ext cx="5486400" cy="457200"/>
          </a:xfrm>
          <a:prstGeom prst="rect">
            <a:avLst/>
          </a:prstGeom>
          <a:solidFill>
            <a:srgbClr val="EEF2FF"/>
          </a:solidFill>
          <a:ln w="12700">
            <a:solidFill>
              <a:srgbClr val="1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352647" y="301752"/>
            <a:ext cx="5486400" cy="43891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B3A5C"/>
                </a:solidFill>
                <a:latin typeface="Helvetica"/>
              </a:rP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1277295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000000"/>
                </a:solidFill>
                <a:latin typeface="Helvetica"/>
              </a:rPr>
              <a:t>What this deck covers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27729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55555"/>
                </a:solidFill>
                <a:latin typeface="Helvetica"/>
              </a:rPr>
              <a:t>How Agentium's operating model maps to PIH's five enterprise pillars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74519"/>
            <a:ext cx="11185855" cy="1051560"/>
          </a:xfrm>
          <a:prstGeom prst="rect">
            <a:avLst/>
          </a:prstGeom>
          <a:solidFill>
            <a:srgbClr val="FAFAFA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011679"/>
            <a:ext cx="50292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4F46E5"/>
                </a:solidFill>
                <a:latin typeface="Helvetica"/>
              </a:rPr>
              <a:t>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965960"/>
            <a:ext cx="10362895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0000"/>
                </a:solidFill>
                <a:latin typeface="Helvetica"/>
              </a:rPr>
              <a:t>Agentium in one picture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377439"/>
            <a:ext cx="10362895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33333"/>
                </a:solidFill>
                <a:latin typeface="Helvetica"/>
              </a:rPr>
              <a:t>An OS for intelligent systems — not a chatbot builder.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044952"/>
            <a:ext cx="11185855" cy="1051560"/>
          </a:xfrm>
          <a:prstGeom prst="rect">
            <a:avLst/>
          </a:prstGeom>
          <a:solidFill>
            <a:srgbClr val="FAFAFA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3182112"/>
            <a:ext cx="50292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4F46E5"/>
                </a:solidFill>
                <a:latin typeface="Helvetica"/>
              </a:rPr>
              <a:t>2.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136392"/>
            <a:ext cx="10362895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0000"/>
                </a:solidFill>
                <a:latin typeface="Helvetica"/>
              </a:rPr>
              <a:t>PIH requirements → Agentium capabilities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547872"/>
            <a:ext cx="10362895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33333"/>
                </a:solidFill>
                <a:latin typeface="Helvetica"/>
              </a:rPr>
              <a:t>Five pillars, one alignment matrix.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215384"/>
            <a:ext cx="11185855" cy="1051560"/>
          </a:xfrm>
          <a:prstGeom prst="rect">
            <a:avLst/>
          </a:prstGeom>
          <a:solidFill>
            <a:srgbClr val="FAFAFA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4352544"/>
            <a:ext cx="50292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4F46E5"/>
                </a:solidFill>
                <a:latin typeface="Helvetica"/>
              </a:rPr>
              <a:t>3.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06824"/>
            <a:ext cx="10362895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0000"/>
                </a:solidFill>
                <a:latin typeface="Helvetica"/>
              </a:rPr>
              <a:t>Deep dive per pillar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718304"/>
            <a:ext cx="10362895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33333"/>
                </a:solidFill>
                <a:latin typeface="Helvetica"/>
              </a:rPr>
              <a:t>Sovereignty, robustness, security, observability, token performance.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385816"/>
            <a:ext cx="11185855" cy="1051560"/>
          </a:xfrm>
          <a:prstGeom prst="rect">
            <a:avLst/>
          </a:prstGeom>
          <a:solidFill>
            <a:srgbClr val="FAFAFA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5522976"/>
            <a:ext cx="50292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4F46E5"/>
                </a:solidFill>
                <a:latin typeface="Helvetica"/>
              </a:rPr>
              <a:t>4.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477256"/>
            <a:ext cx="10362895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0000"/>
                </a:solidFill>
                <a:latin typeface="Helvetica"/>
              </a:rPr>
              <a:t>Live demo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5888736"/>
            <a:ext cx="10362895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33333"/>
                </a:solidFill>
                <a:latin typeface="Helvetica"/>
              </a:rPr>
              <a:t>System → Run → Evaluation → Decision → Action.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20040" y="6473952"/>
            <a:ext cx="82296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55555"/>
                </a:solidFill>
                <a:latin typeface="Helvetica"/>
              </a:rPr>
              <a:t>Datategy — Agentium — PIH alignment intro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80015" y="6473952"/>
            <a:ext cx="169164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55555"/>
                </a:solidFill>
                <a:latin typeface="Helvetica"/>
              </a:rPr>
              <a:t>Page 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datateg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74320"/>
            <a:ext cx="744205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265615" y="292608"/>
            <a:ext cx="260604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1B3A5C"/>
                </a:solidFill>
                <a:latin typeface="Helvetica"/>
              </a:rPr>
              <a:t>Agentium</a:t>
            </a:r>
          </a:p>
        </p:txBody>
      </p:sp>
      <p:sp>
        <p:nvSpPr>
          <p:cNvPr id="5" name="Rectangle 4"/>
          <p:cNvSpPr/>
          <p:nvPr/>
        </p:nvSpPr>
        <p:spPr>
          <a:xfrm>
            <a:off x="3352647" y="292608"/>
            <a:ext cx="5486400" cy="457200"/>
          </a:xfrm>
          <a:prstGeom prst="rect">
            <a:avLst/>
          </a:prstGeom>
          <a:solidFill>
            <a:srgbClr val="EEF2FF"/>
          </a:solidFill>
          <a:ln w="12700">
            <a:solidFill>
              <a:srgbClr val="1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352647" y="301752"/>
            <a:ext cx="5486400" cy="43891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B3A5C"/>
                </a:solidFill>
                <a:latin typeface="Helvetica"/>
              </a:rPr>
              <a:t>Mental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1277295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000000"/>
                </a:solidFill>
                <a:latin typeface="Helvetica"/>
              </a:rPr>
              <a:t>Agentium — operating system for intelligent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27729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55555"/>
                </a:solidFill>
                <a:latin typeface="Helvetica"/>
              </a:rPr>
              <a:t>Objectives in, governed and measurable outcomes out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965960"/>
            <a:ext cx="1965960" cy="1417320"/>
          </a:xfrm>
          <a:prstGeom prst="rect">
            <a:avLst/>
          </a:prstGeom>
          <a:solidFill>
            <a:srgbClr val="EEF2FF"/>
          </a:solidFill>
          <a:ln w="1651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2057400"/>
            <a:ext cx="19659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B3A5C"/>
                </a:solidFill>
                <a:latin typeface="Helvetica"/>
              </a:rPr>
              <a:t>Objective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2404872"/>
            <a:ext cx="1819656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000000"/>
                </a:solidFill>
                <a:latin typeface="Helvetica"/>
              </a:rPr>
              <a:t>Business intent</a:t>
            </a: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000000"/>
                </a:solidFill>
                <a:latin typeface="Helvetica"/>
              </a:rPr>
              <a:t>declared on System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432646" y="2537460"/>
            <a:ext cx="274320" cy="274320"/>
          </a:xfrm>
          <a:prstGeom prst="rightArrow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62173" y="1965960"/>
            <a:ext cx="1965960" cy="1417320"/>
          </a:xfrm>
          <a:prstGeom prst="rect">
            <a:avLst/>
          </a:prstGeom>
          <a:solidFill>
            <a:srgbClr val="EEF2FF"/>
          </a:solidFill>
          <a:ln w="1651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62173" y="2057400"/>
            <a:ext cx="19659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B3A5C"/>
                </a:solidFill>
                <a:latin typeface="Helvetica"/>
              </a:rPr>
              <a:t>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5325" y="2404872"/>
            <a:ext cx="1819656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000000"/>
                </a:solidFill>
                <a:latin typeface="Helvetica"/>
              </a:rPr>
              <a:t>Capability + Flow</a:t>
            </a: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000000"/>
                </a:solidFill>
                <a:latin typeface="Helvetica"/>
              </a:rPr>
              <a:t>+ Skills + Context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783340" y="2537460"/>
            <a:ext cx="274320" cy="274320"/>
          </a:xfrm>
          <a:prstGeom prst="rightArrow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112867" y="1965960"/>
            <a:ext cx="1965960" cy="1417320"/>
          </a:xfrm>
          <a:prstGeom prst="rect">
            <a:avLst/>
          </a:prstGeom>
          <a:solidFill>
            <a:srgbClr val="EEF2FF"/>
          </a:solidFill>
          <a:ln w="1651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12867" y="2057400"/>
            <a:ext cx="19659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B3A5C"/>
                </a:solidFill>
                <a:latin typeface="Helvetica"/>
              </a:rPr>
              <a:t>Run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6019" y="2404872"/>
            <a:ext cx="1819656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000000"/>
                </a:solidFill>
                <a:latin typeface="Helvetica"/>
              </a:rPr>
              <a:t>Stateful execution</a:t>
            </a: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000000"/>
                </a:solidFill>
                <a:latin typeface="Helvetica"/>
              </a:rPr>
              <a:t>instance with ledger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134034" y="2537460"/>
            <a:ext cx="274320" cy="274320"/>
          </a:xfrm>
          <a:prstGeom prst="rightArrow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463561" y="1965960"/>
            <a:ext cx="1965960" cy="1417320"/>
          </a:xfrm>
          <a:prstGeom prst="rect">
            <a:avLst/>
          </a:prstGeom>
          <a:solidFill>
            <a:srgbClr val="EEF2FF"/>
          </a:solidFill>
          <a:ln w="1651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63561" y="2057400"/>
            <a:ext cx="19659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B3A5C"/>
                </a:solidFill>
                <a:latin typeface="Helvetica"/>
              </a:rPr>
              <a:t>Impact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713" y="2404872"/>
            <a:ext cx="1819656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000000"/>
                </a:solidFill>
                <a:latin typeface="Helvetica"/>
              </a:rPr>
              <a:t>Cost · latency ·</a:t>
            </a: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000000"/>
                </a:solidFill>
                <a:latin typeface="Helvetica"/>
              </a:rPr>
              <a:t>confidence · value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484728" y="2537460"/>
            <a:ext cx="274320" cy="274320"/>
          </a:xfrm>
          <a:prstGeom prst="rightArrow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814255" y="1965960"/>
            <a:ext cx="1965960" cy="1417320"/>
          </a:xfrm>
          <a:prstGeom prst="rect">
            <a:avLst/>
          </a:prstGeom>
          <a:solidFill>
            <a:srgbClr val="EEF2FF"/>
          </a:solidFill>
          <a:ln w="1651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814255" y="2057400"/>
            <a:ext cx="19659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B3A5C"/>
                </a:solidFill>
                <a:latin typeface="Helvetica"/>
              </a:rPr>
              <a:t>Optimize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87407" y="2404872"/>
            <a:ext cx="1819656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000000"/>
                </a:solidFill>
                <a:latin typeface="Helvetica"/>
              </a:rPr>
              <a:t>Hypervisor +</a:t>
            </a: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000000"/>
                </a:solidFill>
                <a:latin typeface="Helvetica"/>
              </a:rPr>
              <a:t>Control Plane loop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3703320"/>
            <a:ext cx="11368735" cy="1417320"/>
          </a:xfrm>
          <a:prstGeom prst="rect">
            <a:avLst/>
          </a:prstGeom>
          <a:solidFill>
            <a:srgbClr val="FFF7DD"/>
          </a:solidFill>
          <a:ln w="15240">
            <a:solidFill>
              <a:srgbClr val="1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3776472"/>
            <a:ext cx="11094415" cy="1271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1B3A5C"/>
                </a:solidFill>
                <a:latin typeface="Helvetica"/>
              </a:rPr>
              <a:t>Canonical chain (shipped):  </a:t>
            </a:r>
            <a:r>
              <a:rPr sz="1200">
                <a:solidFill>
                  <a:srgbClr val="000000"/>
                </a:solidFill>
                <a:latin typeface="Helvetica"/>
              </a:rPr>
              <a:t>System → Run → Evaluation → Decision → Action. Replay, feedback, and canonical answers close the loop.</a:t>
            </a:r>
          </a:p>
          <a:p>
            <a:pPr algn="l">
              <a:lnSpc>
                <a:spcPct val="118000"/>
              </a:lnSpc>
            </a:pPr>
            <a:r>
              <a:rPr sz="1200" b="1">
                <a:solidFill>
                  <a:srgbClr val="1B3A5C"/>
                </a:solidFill>
                <a:latin typeface="Helvetica"/>
              </a:rPr>
              <a:t>Positioning:  </a:t>
            </a:r>
            <a:r>
              <a:rPr sz="1200">
                <a:solidFill>
                  <a:srgbClr val="000000"/>
                </a:solidFill>
                <a:latin typeface="Helvetica"/>
              </a:rPr>
              <a:t>You don't build isolated agents — you compose intelligence into systems that produce measurable, governed value.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0040" y="6473952"/>
            <a:ext cx="82296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55555"/>
                </a:solidFill>
                <a:latin typeface="Helvetica"/>
              </a:rPr>
              <a:t>Datategy — Agentium — PIH alignment intro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80015" y="6473952"/>
            <a:ext cx="169164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55555"/>
                </a:solidFill>
                <a:latin typeface="Helvetica"/>
              </a:rPr>
              <a:t>Page 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datateg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74320"/>
            <a:ext cx="744205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265615" y="292608"/>
            <a:ext cx="260604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1B3A5C"/>
                </a:solidFill>
                <a:latin typeface="Helvetica"/>
              </a:rPr>
              <a:t>Agentium</a:t>
            </a:r>
          </a:p>
        </p:txBody>
      </p:sp>
      <p:sp>
        <p:nvSpPr>
          <p:cNvPr id="5" name="Rectangle 4"/>
          <p:cNvSpPr/>
          <p:nvPr/>
        </p:nvSpPr>
        <p:spPr>
          <a:xfrm>
            <a:off x="3352647" y="292608"/>
            <a:ext cx="5486400" cy="457200"/>
          </a:xfrm>
          <a:prstGeom prst="rect">
            <a:avLst/>
          </a:prstGeom>
          <a:solidFill>
            <a:srgbClr val="EEF2FF"/>
          </a:solidFill>
          <a:ln w="12700">
            <a:solidFill>
              <a:srgbClr val="1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352647" y="301752"/>
            <a:ext cx="5486400" cy="43891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B3A5C"/>
                </a:solidFill>
                <a:latin typeface="Helvetica"/>
              </a:rPr>
              <a:t>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1277295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000000"/>
                </a:solidFill>
                <a:latin typeface="Helvetica"/>
              </a:rPr>
              <a:t>Agentium in production — agentium.papai.ai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27729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55555"/>
                </a:solidFill>
                <a:latin typeface="Helvetica"/>
              </a:rPr>
              <a:t>Hypervisor cockpit: portfolio view, impact metrics, proactive recommendations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874519"/>
            <a:ext cx="11368735" cy="3977639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0" name="Picture 9" descr="01_hypervis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" y="1929384"/>
            <a:ext cx="11259007" cy="359359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6344" y="5541264"/>
            <a:ext cx="11259007" cy="2560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555555"/>
                </a:solidFill>
                <a:latin typeface="Helvetica"/>
              </a:rPr>
              <a:t>Live capture — Agentium Showcase workspace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0040" y="6473952"/>
            <a:ext cx="82296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55555"/>
                </a:solidFill>
                <a:latin typeface="Helvetica"/>
              </a:rPr>
              <a:t>Datategy — Agentium — PIH alignment intro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80015" y="6473952"/>
            <a:ext cx="169164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55555"/>
                </a:solidFill>
                <a:latin typeface="Helvetica"/>
              </a:rPr>
              <a:t>Page 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datateg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74320"/>
            <a:ext cx="744205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265615" y="292608"/>
            <a:ext cx="260604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1B3A5C"/>
                </a:solidFill>
                <a:latin typeface="Helvetica"/>
              </a:rPr>
              <a:t>Agentium</a:t>
            </a:r>
          </a:p>
        </p:txBody>
      </p:sp>
      <p:sp>
        <p:nvSpPr>
          <p:cNvPr id="5" name="Rectangle 4"/>
          <p:cNvSpPr/>
          <p:nvPr/>
        </p:nvSpPr>
        <p:spPr>
          <a:xfrm>
            <a:off x="3352647" y="292608"/>
            <a:ext cx="5486400" cy="457200"/>
          </a:xfrm>
          <a:prstGeom prst="rect">
            <a:avLst/>
          </a:prstGeom>
          <a:solidFill>
            <a:srgbClr val="EEF2FF"/>
          </a:solidFill>
          <a:ln w="12700">
            <a:solidFill>
              <a:srgbClr val="1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352647" y="301752"/>
            <a:ext cx="5486400" cy="43891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B3A5C"/>
                </a:solidFill>
                <a:latin typeface="Helvetica"/>
              </a:rPr>
              <a:t>PIH requirements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1277295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000000"/>
                </a:solidFill>
                <a:latin typeface="Helvetica"/>
              </a:rPr>
              <a:t>PIH enterprise pillars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27729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55555"/>
                </a:solidFill>
                <a:latin typeface="Helvetica"/>
              </a:rPr>
              <a:t>What regulated autonomous-agent platforms must guarantee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828800"/>
            <a:ext cx="2148840" cy="658368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1901952"/>
            <a:ext cx="2148840" cy="51206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Helvetica"/>
              </a:rPr>
              <a:t>Sovereignty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1828800"/>
            <a:ext cx="9128455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88920" y="1901952"/>
            <a:ext cx="8854135" cy="51206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00000"/>
                </a:solidFill>
                <a:latin typeface="Helvetica"/>
              </a:rPr>
              <a:t>Deploy and operate without mandatory external dependency; data and models under customer control.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578608"/>
            <a:ext cx="2148840" cy="65836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" y="2651760"/>
            <a:ext cx="2148840" cy="51206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Helvetica"/>
              </a:rPr>
              <a:t>Robustness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51760" y="2578608"/>
            <a:ext cx="9128455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88920" y="2651760"/>
            <a:ext cx="8854135" cy="51206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00000"/>
                </a:solidFill>
                <a:latin typeface="Helvetica"/>
              </a:rPr>
              <a:t>Replay, resubmission, and stateful execution — failures are recoverable, not silent.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328415"/>
            <a:ext cx="2148840" cy="6583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3401568"/>
            <a:ext cx="2148840" cy="51206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Helvetica"/>
              </a:rPr>
              <a:t>Security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51760" y="3328415"/>
            <a:ext cx="9128455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788920" y="3401568"/>
            <a:ext cx="8854135" cy="51206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00000"/>
                </a:solidFill>
                <a:latin typeface="Helvetica"/>
              </a:rPr>
              <a:t>Model guardrails, distinct agent identity, strict RBAC for autonomous agents.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078224"/>
            <a:ext cx="2148840" cy="65836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1480" y="4151376"/>
            <a:ext cx="2148840" cy="51206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Helvetica"/>
              </a:rPr>
              <a:t>Observability &amp; Scalability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51760" y="4078224"/>
            <a:ext cx="9128455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788920" y="4151376"/>
            <a:ext cx="8854135" cy="51206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00000"/>
                </a:solidFill>
                <a:latin typeface="Helvetica"/>
              </a:rPr>
              <a:t>Full auditability of agent tool-calling; enterprise-grade scaling.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4828032"/>
            <a:ext cx="2148840" cy="65836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1480" y="4901184"/>
            <a:ext cx="2148840" cy="51206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Helvetica"/>
              </a:rPr>
              <a:t>Token Performance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51760" y="4828032"/>
            <a:ext cx="9128455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788920" y="4901184"/>
            <a:ext cx="8854135" cy="51206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00000"/>
                </a:solidFill>
                <a:latin typeface="Helvetica"/>
              </a:rPr>
              <a:t>Efficient, deterministic sovereign model orchestration.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5897880"/>
            <a:ext cx="11368735" cy="548640"/>
          </a:xfrm>
          <a:prstGeom prst="rect">
            <a:avLst/>
          </a:prstGeom>
          <a:solidFill>
            <a:srgbClr val="FFF7DD"/>
          </a:solidFill>
          <a:ln w="1524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8640" y="5971032"/>
            <a:ext cx="11094415" cy="4023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4F46E5"/>
                </a:solidFill>
                <a:latin typeface="Helvetica"/>
              </a:rPr>
              <a:t>Next slides:  </a:t>
            </a:r>
            <a:r>
              <a:rPr sz="1200">
                <a:solidFill>
                  <a:srgbClr val="000000"/>
                </a:solidFill>
                <a:latin typeface="Helvetica"/>
              </a:rPr>
              <a:t>For each pillar — PIH ask → Agentium answer → what you will see in the demo.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20040" y="6473952"/>
            <a:ext cx="82296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55555"/>
                </a:solidFill>
                <a:latin typeface="Helvetica"/>
              </a:rPr>
              <a:t>Datategy — Agentium — PIH alignment intro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80015" y="6473952"/>
            <a:ext cx="169164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55555"/>
                </a:solidFill>
                <a:latin typeface="Helvetica"/>
              </a:rPr>
              <a:t>Page 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datateg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74320"/>
            <a:ext cx="744205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265615" y="292608"/>
            <a:ext cx="260604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1B3A5C"/>
                </a:solidFill>
                <a:latin typeface="Helvetica"/>
              </a:rPr>
              <a:t>Agentium</a:t>
            </a:r>
          </a:p>
        </p:txBody>
      </p:sp>
      <p:sp>
        <p:nvSpPr>
          <p:cNvPr id="5" name="Rectangle 4"/>
          <p:cNvSpPr/>
          <p:nvPr/>
        </p:nvSpPr>
        <p:spPr>
          <a:xfrm>
            <a:off x="3352647" y="292608"/>
            <a:ext cx="5486400" cy="457200"/>
          </a:xfrm>
          <a:prstGeom prst="rect">
            <a:avLst/>
          </a:prstGeom>
          <a:solidFill>
            <a:srgbClr val="EEF2FF"/>
          </a:solidFill>
          <a:ln w="12700">
            <a:solidFill>
              <a:srgbClr val="1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352647" y="301752"/>
            <a:ext cx="5486400" cy="43891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B3A5C"/>
                </a:solidFill>
                <a:latin typeface="Helvetica"/>
              </a:rPr>
              <a:t>Alignment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1277295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000000"/>
                </a:solidFill>
                <a:latin typeface="Helvetica"/>
              </a:rPr>
              <a:t>PIH requirements → Agentium capabilities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27729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55555"/>
                </a:solidFill>
                <a:latin typeface="Helvetica"/>
              </a:rPr>
              <a:t>At-a-glance mapping before the live walkthrough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828800"/>
            <a:ext cx="1828800" cy="384048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1828800"/>
            <a:ext cx="1828800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Helvetica"/>
              </a:rPr>
              <a:t>PIH pillar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48840" y="1828800"/>
            <a:ext cx="2331720" cy="384048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148840" y="1828800"/>
            <a:ext cx="2331720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Helvetica"/>
              </a:rPr>
              <a:t>Requirement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828800"/>
            <a:ext cx="5074920" cy="384048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80560" y="1828800"/>
            <a:ext cx="5074920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Helvetica"/>
              </a:rPr>
              <a:t>Agentium capability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55480" y="1828800"/>
            <a:ext cx="1234440" cy="384048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55480" y="1828800"/>
            <a:ext cx="1234440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Helvetica"/>
              </a:rPr>
              <a:t>Status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212848"/>
            <a:ext cx="1828800" cy="713232"/>
          </a:xfrm>
          <a:prstGeom prst="rect">
            <a:avLst/>
          </a:prstGeom>
          <a:solidFill>
            <a:srgbClr val="EEF2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74904" y="2267712"/>
            <a:ext cx="1719072" cy="60350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00000"/>
                </a:solidFill>
                <a:latin typeface="Helvetica"/>
              </a:rPr>
              <a:t>Sovereignty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48840" y="2212848"/>
            <a:ext cx="23317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203704" y="2267712"/>
            <a:ext cx="2221991" cy="60350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0000"/>
                </a:solidFill>
                <a:latin typeface="Helvetica"/>
              </a:rPr>
              <a:t>On-prem / hybrid / sovereign cloud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0" y="2212848"/>
            <a:ext cx="50749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35424" y="2475335"/>
            <a:ext cx="4965192" cy="188257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lang="fr-FR" sz="900" dirty="0">
                <a:solidFill>
                  <a:srgbClr val="000000"/>
                </a:solidFill>
                <a:latin typeface="Helvetica"/>
              </a:rPr>
              <a:t>Local</a:t>
            </a:r>
            <a:r>
              <a:rPr sz="900" b="0" dirty="0">
                <a:solidFill>
                  <a:srgbClr val="000000"/>
                </a:solidFill>
                <a:latin typeface="Helvetica"/>
              </a:rPr>
              <a:t> &amp; </a:t>
            </a:r>
            <a:r>
              <a:rPr lang="fr-FR" sz="900" b="0" dirty="0">
                <a:solidFill>
                  <a:srgbClr val="000000"/>
                </a:solidFill>
                <a:latin typeface="Helvetica"/>
              </a:rPr>
              <a:t>cloud</a:t>
            </a:r>
            <a:r>
              <a:rPr sz="900" b="0" dirty="0">
                <a:solidFill>
                  <a:srgbClr val="000000"/>
                </a:solidFill>
                <a:latin typeface="Helvetica"/>
              </a:rPr>
              <a:t> providers, </a:t>
            </a:r>
            <a:r>
              <a:rPr sz="900" b="0" dirty="0" err="1">
                <a:solidFill>
                  <a:srgbClr val="000000"/>
                </a:solidFill>
                <a:latin typeface="Helvetica"/>
              </a:rPr>
              <a:t>Qdrant</a:t>
            </a:r>
            <a:r>
              <a:rPr sz="900" b="0" dirty="0">
                <a:solidFill>
                  <a:srgbClr val="000000"/>
                </a:solidFill>
                <a:latin typeface="Helvetica"/>
              </a:rPr>
              <a:t>, </a:t>
            </a:r>
            <a:r>
              <a:rPr sz="900" b="0" dirty="0" err="1">
                <a:solidFill>
                  <a:srgbClr val="000000"/>
                </a:solidFill>
                <a:latin typeface="Helvetica"/>
              </a:rPr>
              <a:t>MinIO</a:t>
            </a:r>
            <a:r>
              <a:rPr sz="900" b="0" dirty="0">
                <a:solidFill>
                  <a:srgbClr val="000000"/>
                </a:solidFill>
                <a:latin typeface="Helvetica"/>
              </a:rPr>
              <a:t> — no cloud lock-in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55480" y="2212848"/>
            <a:ext cx="12344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10344" y="2267712"/>
            <a:ext cx="1124712" cy="60350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59669"/>
                </a:solidFill>
                <a:latin typeface="Helvetica"/>
              </a:rPr>
              <a:t>✅ Shipped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2926080"/>
            <a:ext cx="1828800" cy="713232"/>
          </a:xfrm>
          <a:prstGeom prst="rect">
            <a:avLst/>
          </a:prstGeom>
          <a:solidFill>
            <a:srgbClr val="EEF2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74904" y="2980944"/>
            <a:ext cx="1719072" cy="60350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00000"/>
                </a:solidFill>
                <a:latin typeface="Helvetica"/>
              </a:rPr>
              <a:t>Robustness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48840" y="2926080"/>
            <a:ext cx="23317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203704" y="2980944"/>
            <a:ext cx="2221991" cy="60350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0000"/>
                </a:solidFill>
                <a:latin typeface="Helvetica"/>
              </a:rPr>
              <a:t>Replay, resubmission, stateful runs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80560" y="2926080"/>
            <a:ext cx="50749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35424" y="2980944"/>
            <a:ext cx="4965192" cy="60350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000000"/>
                </a:solidFill>
                <a:latin typeface="Helvetica"/>
              </a:rPr>
              <a:t>Run lineage, /runs/{id}/replay, </a:t>
            </a:r>
            <a:r>
              <a:rPr sz="900" b="0" dirty="0" err="1">
                <a:solidFill>
                  <a:srgbClr val="000000"/>
                </a:solidFill>
                <a:latin typeface="Helvetica"/>
              </a:rPr>
              <a:t>skill_invocations</a:t>
            </a:r>
            <a:r>
              <a:rPr sz="900" b="0" dirty="0">
                <a:solidFill>
                  <a:srgbClr val="000000"/>
                </a:solidFill>
                <a:latin typeface="Helvetica"/>
              </a:rPr>
              <a:t> ledger, DAG HITL resume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55480" y="2926080"/>
            <a:ext cx="12344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610344" y="2980944"/>
            <a:ext cx="1124712" cy="60350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59669"/>
                </a:solidFill>
                <a:latin typeface="Helvetica"/>
              </a:rPr>
              <a:t>✅ Shipped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3639312"/>
            <a:ext cx="1828800" cy="713232"/>
          </a:xfrm>
          <a:prstGeom prst="rect">
            <a:avLst/>
          </a:prstGeom>
          <a:solidFill>
            <a:srgbClr val="EEF2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74904" y="3694176"/>
            <a:ext cx="1719072" cy="60350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00000"/>
                </a:solidFill>
                <a:latin typeface="Helvetica"/>
              </a:rPr>
              <a:t>Security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148840" y="3639312"/>
            <a:ext cx="23317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203704" y="3694176"/>
            <a:ext cx="2221991" cy="60350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0000"/>
                </a:solidFill>
                <a:latin typeface="Helvetica"/>
              </a:rPr>
              <a:t>Guardrails, agent identity, RBAC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80560" y="3639312"/>
            <a:ext cx="50749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35424" y="3694176"/>
            <a:ext cx="4965192" cy="60350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000000"/>
                </a:solidFill>
                <a:latin typeface="Helvetica"/>
              </a:rPr>
              <a:t>ControlPolicy, claim_audit_v1, Keycloak workspaces, audit on every mutation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555480" y="3639312"/>
            <a:ext cx="12344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610344" y="3694176"/>
            <a:ext cx="1124712" cy="60350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59669"/>
                </a:solidFill>
                <a:latin typeface="Helvetica"/>
              </a:rPr>
              <a:t>✅ Shipped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4352544"/>
            <a:ext cx="1828800" cy="713232"/>
          </a:xfrm>
          <a:prstGeom prst="rect">
            <a:avLst/>
          </a:prstGeom>
          <a:solidFill>
            <a:srgbClr val="EEF2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74904" y="4407408"/>
            <a:ext cx="1719072" cy="60350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00000"/>
                </a:solidFill>
                <a:latin typeface="Helvetica"/>
              </a:rPr>
              <a:t>Observability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48840" y="4352544"/>
            <a:ext cx="23317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203704" y="4407408"/>
            <a:ext cx="2221991" cy="60350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0000"/>
                </a:solidFill>
                <a:latin typeface="Helvetica"/>
              </a:rPr>
              <a:t>Tool-call auditability, scale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480560" y="4352544"/>
            <a:ext cx="50749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535424" y="4407408"/>
            <a:ext cx="4965192" cy="60350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000000"/>
                </a:solidFill>
                <a:latin typeface="Helvetica"/>
              </a:rPr>
              <a:t>/audit, /observability, SSE stream, per-skill cost &amp; latency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555480" y="4352544"/>
            <a:ext cx="12344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610344" y="4407408"/>
            <a:ext cx="1124712" cy="60350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59669"/>
                </a:solidFill>
                <a:latin typeface="Helvetica"/>
              </a:rPr>
              <a:t>✅ Shipped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5065776"/>
            <a:ext cx="1828800" cy="713232"/>
          </a:xfrm>
          <a:prstGeom prst="rect">
            <a:avLst/>
          </a:prstGeom>
          <a:solidFill>
            <a:srgbClr val="EEF2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74904" y="5120640"/>
            <a:ext cx="1719072" cy="60350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00000"/>
                </a:solidFill>
                <a:latin typeface="Helvetica"/>
              </a:rPr>
              <a:t>Token performance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148840" y="5065776"/>
            <a:ext cx="23317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203704" y="5120640"/>
            <a:ext cx="2221991" cy="60350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0000"/>
                </a:solidFill>
                <a:latin typeface="Helvetica"/>
              </a:rPr>
              <a:t>Deterministic model orchestration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480560" y="5065776"/>
            <a:ext cx="50749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535424" y="5120640"/>
            <a:ext cx="4965192" cy="60350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000000"/>
                </a:solidFill>
                <a:latin typeface="Helvetica"/>
              </a:rPr>
              <a:t>allowed_models routing, Flow/DAG engine, token_delta streaming, budget caps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555480" y="5065776"/>
            <a:ext cx="12344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10344" y="5120640"/>
            <a:ext cx="1124712" cy="60350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59669"/>
                </a:solidFill>
                <a:latin typeface="Helvetica"/>
              </a:rPr>
              <a:t>✅ Shipped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20040" y="6473952"/>
            <a:ext cx="82296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55555"/>
                </a:solidFill>
                <a:latin typeface="Helvetica"/>
              </a:rPr>
              <a:t>Datategy — Agentium — PIH alignment intro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180015" y="6473952"/>
            <a:ext cx="169164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55555"/>
                </a:solidFill>
                <a:latin typeface="Helvetica"/>
              </a:rPr>
              <a:t>Page 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datateg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74320"/>
            <a:ext cx="744205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265615" y="292608"/>
            <a:ext cx="260604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1B3A5C"/>
                </a:solidFill>
                <a:latin typeface="Helvetica"/>
              </a:rPr>
              <a:t>Agentium</a:t>
            </a:r>
          </a:p>
        </p:txBody>
      </p:sp>
      <p:sp>
        <p:nvSpPr>
          <p:cNvPr id="5" name="Rectangle 4"/>
          <p:cNvSpPr/>
          <p:nvPr/>
        </p:nvSpPr>
        <p:spPr>
          <a:xfrm>
            <a:off x="3352647" y="292608"/>
            <a:ext cx="5486400" cy="457200"/>
          </a:xfrm>
          <a:prstGeom prst="rect">
            <a:avLst/>
          </a:prstGeom>
          <a:solidFill>
            <a:srgbClr val="EEF2FF"/>
          </a:solidFill>
          <a:ln w="12700">
            <a:solidFill>
              <a:srgbClr val="1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352647" y="301752"/>
            <a:ext cx="5486400" cy="43891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B3A5C"/>
                </a:solidFill>
                <a:latin typeface="Helvetica"/>
              </a:rPr>
              <a:t>UI gallery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1277295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000000"/>
                </a:solidFill>
                <a:latin typeface="Helvetica"/>
              </a:rPr>
              <a:t>Key surfaces — captured from agentium.papai.ai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27729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55555"/>
                </a:solidFill>
                <a:latin typeface="Helvetica"/>
              </a:rPr>
              <a:t>Each screen maps to a PIH pillar in the following slides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874519"/>
            <a:ext cx="371033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0" name="Picture 9" descr="04_syste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1929384"/>
            <a:ext cx="3600602" cy="16093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0624" y="3557016"/>
            <a:ext cx="3600602" cy="2560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555555"/>
                </a:solidFill>
                <a:latin typeface="Helvetica"/>
              </a:rPr>
              <a:t>Systems · (agent identity)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40682" y="1874519"/>
            <a:ext cx="371033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3" name="Picture 12" descr="08_run_deta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5546" y="1929384"/>
            <a:ext cx="3600602" cy="1609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95546" y="3557016"/>
            <a:ext cx="3600602" cy="2560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555555"/>
                </a:solidFill>
                <a:latin typeface="Helvetica"/>
              </a:rPr>
              <a:t>Run detail · (stateful execution)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15604" y="1874519"/>
            <a:ext cx="371033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6" name="Picture 15" descr="03_governance_audi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0468" y="1929384"/>
            <a:ext cx="3600602" cy="160934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170468" y="3557016"/>
            <a:ext cx="3600602" cy="2560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555555"/>
                </a:solidFill>
                <a:latin typeface="Helvetica"/>
              </a:rPr>
              <a:t>Audit log · (governance)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069080"/>
            <a:ext cx="371033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9" name="Picture 18" descr="05_observabilit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624" y="4123944"/>
            <a:ext cx="3600602" cy="160934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20624" y="5751576"/>
            <a:ext cx="3600602" cy="2560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555555"/>
                </a:solidFill>
                <a:latin typeface="Helvetica"/>
              </a:rPr>
              <a:t>Observability · (SLO metrics)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40682" y="4069080"/>
            <a:ext cx="371033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2" name="Picture 21" descr="02_steerin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5546" y="4123944"/>
            <a:ext cx="3600602" cy="160934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295546" y="5751576"/>
            <a:ext cx="3600602" cy="2560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555555"/>
                </a:solidFill>
                <a:latin typeface="Helvetica"/>
              </a:rPr>
              <a:t>Control Plane · (model guardrails)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15604" y="4069080"/>
            <a:ext cx="371033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5" name="Picture 24" descr="06_cha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70468" y="4123944"/>
            <a:ext cx="3600602" cy="160934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170468" y="5751576"/>
            <a:ext cx="3600602" cy="2560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555555"/>
                </a:solidFill>
                <a:latin typeface="Helvetica"/>
              </a:rPr>
              <a:t>Chat + stream · (token orchestration)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0040" y="6473952"/>
            <a:ext cx="82296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55555"/>
                </a:solidFill>
                <a:latin typeface="Helvetica"/>
              </a:rPr>
              <a:t>Datategy — Agentium — PIH alignment intro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80015" y="6473952"/>
            <a:ext cx="169164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55555"/>
                </a:solidFill>
                <a:latin typeface="Helvetica"/>
              </a:rPr>
              <a:t>Page 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datateg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74320"/>
            <a:ext cx="744205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265615" y="292608"/>
            <a:ext cx="260604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1B3A5C"/>
                </a:solidFill>
                <a:latin typeface="Helvetica"/>
              </a:rPr>
              <a:t>Agentium</a:t>
            </a:r>
          </a:p>
        </p:txBody>
      </p:sp>
      <p:sp>
        <p:nvSpPr>
          <p:cNvPr id="5" name="Rectangle 4"/>
          <p:cNvSpPr/>
          <p:nvPr/>
        </p:nvSpPr>
        <p:spPr>
          <a:xfrm>
            <a:off x="3352647" y="292608"/>
            <a:ext cx="5486400" cy="457200"/>
          </a:xfrm>
          <a:prstGeom prst="rect">
            <a:avLst/>
          </a:prstGeom>
          <a:solidFill>
            <a:srgbClr val="EEF2FF"/>
          </a:solidFill>
          <a:ln w="12700">
            <a:solidFill>
              <a:srgbClr val="1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352647" y="301752"/>
            <a:ext cx="5486400" cy="43891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B3A5C"/>
                </a:solidFill>
                <a:latin typeface="Helvetica"/>
              </a:rPr>
              <a:t>Sovereignty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1277295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000000"/>
                </a:solidFill>
                <a:latin typeface="Helvetica"/>
              </a:rPr>
              <a:t>Sovereignty — PIH alignment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27729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55555"/>
                </a:solidFill>
                <a:latin typeface="Helvetica"/>
              </a:rPr>
              <a:t>Operate intelligent systems under customer control — on-prem, hybrid, or sovereign cloud.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874519"/>
            <a:ext cx="4709160" cy="3794760"/>
          </a:xfrm>
          <a:prstGeom prst="rect">
            <a:avLst/>
          </a:prstGeom>
          <a:solidFill>
            <a:srgbClr val="FAFAFA"/>
          </a:solidFill>
          <a:ln w="15240">
            <a:solidFill>
              <a:srgbClr val="1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965960"/>
            <a:ext cx="443484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3A5C"/>
                </a:solidFill>
                <a:latin typeface="Helvetica"/>
              </a:rPr>
              <a:t>How Agentium delivers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13432"/>
            <a:ext cx="4434840" cy="32644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00000"/>
                </a:solidFill>
                <a:latin typeface="Helvetica"/>
              </a:rPr>
              <a:t>•  Deploy fully on-prem: local LLM (Ollama / vLLM), Qdrant vectors, MinIO storage.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000000"/>
                </a:solidFill>
                <a:latin typeface="Helvetica"/>
              </a:rPr>
              <a:t>•  Hybrid mode: keep data local while optionally routing to approved cloud models.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000000"/>
                </a:solidFill>
                <a:latin typeface="Helvetica"/>
              </a:rPr>
              <a:t>•  Workspace isolation — multi-tenant boundaries tested in production paths.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000000"/>
                </a:solidFill>
                <a:latin typeface="Helvetica"/>
              </a:rPr>
              <a:t>•  No mandatory external SaaS: every skill, run, and policy stays in your perimeter.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000000"/>
                </a:solidFill>
                <a:latin typeface="Helvetica"/>
              </a:rPr>
              <a:t>•  Same architecture philosophy as papAI — convergence-ready enterprise stack.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0" y="1874519"/>
            <a:ext cx="6476695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3" name="Picture 12" descr="04_syste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8384" y="1929384"/>
            <a:ext cx="6366967" cy="341071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358384" y="5358384"/>
            <a:ext cx="6366967" cy="2560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555555"/>
                </a:solidFill>
                <a:latin typeface="Helvetica"/>
              </a:rPr>
              <a:t>Systems — distinct agent identity per workspace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6473952"/>
            <a:ext cx="82296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55555"/>
                </a:solidFill>
                <a:latin typeface="Helvetica"/>
              </a:rPr>
              <a:t>Datategy — Agentium — PIH alignment intro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80015" y="6473952"/>
            <a:ext cx="169164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55555"/>
                </a:solidFill>
                <a:latin typeface="Helvetica"/>
              </a:rPr>
              <a:t>Page 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datateg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74320"/>
            <a:ext cx="744205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265615" y="292608"/>
            <a:ext cx="260604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1B3A5C"/>
                </a:solidFill>
                <a:latin typeface="Helvetica"/>
              </a:rPr>
              <a:t>Agentium</a:t>
            </a:r>
          </a:p>
        </p:txBody>
      </p:sp>
      <p:sp>
        <p:nvSpPr>
          <p:cNvPr id="5" name="Rectangle 4"/>
          <p:cNvSpPr/>
          <p:nvPr/>
        </p:nvSpPr>
        <p:spPr>
          <a:xfrm>
            <a:off x="3352647" y="292608"/>
            <a:ext cx="5486400" cy="457200"/>
          </a:xfrm>
          <a:prstGeom prst="rect">
            <a:avLst/>
          </a:prstGeom>
          <a:solidFill>
            <a:srgbClr val="EEF2FF"/>
          </a:solidFill>
          <a:ln w="12700">
            <a:solidFill>
              <a:srgbClr val="1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352647" y="301752"/>
            <a:ext cx="5486400" cy="43891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B3A5C"/>
                </a:solidFill>
                <a:latin typeface="Helvetica"/>
              </a:rPr>
              <a:t>Robustness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1277295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000000"/>
                </a:solidFill>
                <a:latin typeface="Helvetica"/>
              </a:rPr>
              <a:t>Robustness — PIH alignment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27729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55555"/>
                </a:solidFill>
                <a:latin typeface="Helvetica"/>
              </a:rPr>
              <a:t>Replay, resubmission, and stateful execution — autonomous agents must recover, not fail silently.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874519"/>
            <a:ext cx="4709160" cy="3794760"/>
          </a:xfrm>
          <a:prstGeom prst="rect">
            <a:avLst/>
          </a:prstGeom>
          <a:solidFill>
            <a:srgbClr val="FAFAFA"/>
          </a:solidFill>
          <a:ln w="1524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965960"/>
            <a:ext cx="443484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59669"/>
                </a:solidFill>
                <a:latin typeface="Helvetica"/>
              </a:rPr>
              <a:t>How Agentium delivers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13432"/>
            <a:ext cx="4434840" cy="32644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00000"/>
                </a:solidFill>
                <a:latin typeface="Helvetica"/>
              </a:rPr>
              <a:t>•  Every Run is a durable execution record with status, input_ref, outcome, lineage.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000000"/>
                </a:solidFill>
                <a:latin typeface="Helvetica"/>
              </a:rPr>
              <a:t>•  POST /runs/{id}/replay — resubmit with overrides (model, prompt, RAG mode, tokens).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000000"/>
                </a:solidFill>
                <a:latin typeface="Helvetica"/>
              </a:rPr>
              <a:t>•  parent_run_id + replay_overrides preserve full audit lineage.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000000"/>
                </a:solidFill>
                <a:latin typeface="Helvetica"/>
              </a:rPr>
              <a:t>•  skill_invocations[] ledger = per-step checkpoint (cost, latency, I/O).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000000"/>
                </a:solidFill>
                <a:latin typeface="Helvetica"/>
              </a:rPr>
              <a:t>•  DAG engine: retry with backoff, HITL pause/resume, parallel branches.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000000"/>
                </a:solidFill>
                <a:latin typeface="Helvetica"/>
              </a:rPr>
              <a:t>•  Evaluation → Decision → replay closes the quality loop without manual re-entry.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0" y="1874519"/>
            <a:ext cx="6476695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3" name="Picture 12" descr="08_run_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8384" y="1929384"/>
            <a:ext cx="6366967" cy="341071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358384" y="5358384"/>
            <a:ext cx="6366967" cy="2560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555555"/>
                </a:solidFill>
                <a:latin typeface="Helvetica"/>
              </a:rPr>
              <a:t>Run detail — skill ledger, cost, latency, lineage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6473952"/>
            <a:ext cx="82296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55555"/>
                </a:solidFill>
                <a:latin typeface="Helvetica"/>
              </a:rPr>
              <a:t>Datategy — Agentium — PIH alignment intro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80015" y="6473952"/>
            <a:ext cx="169164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55555"/>
                </a:solidFill>
                <a:latin typeface="Helvetica"/>
              </a:rPr>
              <a:t>Page 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datateg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74320"/>
            <a:ext cx="744205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265615" y="292608"/>
            <a:ext cx="260604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1B3A5C"/>
                </a:solidFill>
                <a:latin typeface="Helvetica"/>
              </a:rPr>
              <a:t>Agentium</a:t>
            </a:r>
          </a:p>
        </p:txBody>
      </p:sp>
      <p:sp>
        <p:nvSpPr>
          <p:cNvPr id="5" name="Rectangle 4"/>
          <p:cNvSpPr/>
          <p:nvPr/>
        </p:nvSpPr>
        <p:spPr>
          <a:xfrm>
            <a:off x="3352647" y="292608"/>
            <a:ext cx="5486400" cy="457200"/>
          </a:xfrm>
          <a:prstGeom prst="rect">
            <a:avLst/>
          </a:prstGeom>
          <a:solidFill>
            <a:srgbClr val="EEF2FF"/>
          </a:solidFill>
          <a:ln w="12700">
            <a:solidFill>
              <a:srgbClr val="1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352647" y="301752"/>
            <a:ext cx="5486400" cy="43891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B3A5C"/>
                </a:solidFill>
                <a:latin typeface="Helvetica"/>
              </a:rPr>
              <a:t>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1277295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000000"/>
                </a:solidFill>
                <a:latin typeface="Helvetica"/>
              </a:rPr>
              <a:t>Security — PIH alignment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27729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55555"/>
                </a:solidFill>
                <a:latin typeface="Helvetica"/>
              </a:rPr>
              <a:t>Model guardrails, distinct agent identity, and strict RBAC for autonomous agents.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874519"/>
            <a:ext cx="4709160" cy="3794760"/>
          </a:xfrm>
          <a:prstGeom prst="rect">
            <a:avLst/>
          </a:prstGeom>
          <a:solidFill>
            <a:srgbClr val="FAFAFA"/>
          </a:solidFill>
          <a:ln w="1524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965960"/>
            <a:ext cx="443484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7C3AED"/>
                </a:solidFill>
                <a:latin typeface="Helvetica"/>
              </a:rPr>
              <a:t>How Agentium delivers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13432"/>
            <a:ext cx="4434840" cy="32644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00000"/>
                </a:solidFill>
                <a:latin typeface="Helvetica"/>
              </a:rPr>
              <a:t>•  ControlPolicy: allowed_models, max_cost, max_latency, mandatory HITL thresholds.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000000"/>
                </a:solidFill>
                <a:latin typeface="Helvetica"/>
              </a:rPr>
              <a:t>•  claim_audit_v1 — faithfulness guardrails on generated outputs.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000000"/>
                </a:solidFill>
                <a:latin typeface="Helvetica"/>
              </a:rPr>
              <a:t>•  Each System = distinct agent identity (objective, capability, flow, policies).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000000"/>
                </a:solidFill>
                <a:latin typeface="Helvetica"/>
              </a:rPr>
              <a:t>•  Keycloak / OIDC authentication; workspace members with built-in roles.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000000"/>
                </a:solidFill>
                <a:latin typeface="Helvetica"/>
              </a:rPr>
              <a:t>•  Context permissions JSON + audit log on every mutation (actor, target, diff).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000000"/>
                </a:solidFill>
                <a:latin typeface="Helvetica"/>
              </a:rPr>
              <a:t>•  AdaptivePolicy gates autonomous actions — no silent policy bypass.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0" y="1874519"/>
            <a:ext cx="6476695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3" name="Picture 12" descr="03_governance_aud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8384" y="1929384"/>
            <a:ext cx="6366967" cy="341071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358384" y="5358384"/>
            <a:ext cx="6366967" cy="2560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555555"/>
                </a:solidFill>
                <a:latin typeface="Helvetica"/>
              </a:rPr>
              <a:t>Audit log — actor, action, target, full traceability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6473952"/>
            <a:ext cx="82296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55555"/>
                </a:solidFill>
                <a:latin typeface="Helvetica"/>
              </a:rPr>
              <a:t>Datategy — Agentium — PIH alignment intro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80015" y="6473952"/>
            <a:ext cx="169164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55555"/>
                </a:solidFill>
                <a:latin typeface="Helvetica"/>
              </a:rPr>
              <a:t>Page 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datateg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74320"/>
            <a:ext cx="744205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265615" y="292608"/>
            <a:ext cx="260604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1B3A5C"/>
                </a:solidFill>
                <a:latin typeface="Helvetica"/>
              </a:rPr>
              <a:t>Agentium</a:t>
            </a:r>
          </a:p>
        </p:txBody>
      </p:sp>
      <p:sp>
        <p:nvSpPr>
          <p:cNvPr id="5" name="Rectangle 4"/>
          <p:cNvSpPr/>
          <p:nvPr/>
        </p:nvSpPr>
        <p:spPr>
          <a:xfrm>
            <a:off x="3352647" y="292608"/>
            <a:ext cx="5486400" cy="457200"/>
          </a:xfrm>
          <a:prstGeom prst="rect">
            <a:avLst/>
          </a:prstGeom>
          <a:solidFill>
            <a:srgbClr val="EEF2FF"/>
          </a:solidFill>
          <a:ln w="12700">
            <a:solidFill>
              <a:srgbClr val="1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352647" y="301752"/>
            <a:ext cx="5486400" cy="43891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B3A5C"/>
                </a:solidFill>
                <a:latin typeface="Helvetica"/>
              </a:rPr>
              <a:t>Observability &amp; Scalability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1277295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000000"/>
                </a:solidFill>
                <a:latin typeface="Helvetica"/>
              </a:rPr>
              <a:t>Observability &amp; Scalability — PIH alignment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27729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55555"/>
                </a:solidFill>
                <a:latin typeface="Helvetica"/>
              </a:rPr>
              <a:t>Full auditability of agent tool-calling and enterprise-grade scaling.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874519"/>
            <a:ext cx="4709160" cy="3794760"/>
          </a:xfrm>
          <a:prstGeom prst="rect">
            <a:avLst/>
          </a:prstGeom>
          <a:solidFill>
            <a:srgbClr val="FAFAFA"/>
          </a:solidFill>
          <a:ln w="1524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965960"/>
            <a:ext cx="443484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D97706"/>
                </a:solidFill>
                <a:latin typeface="Helvetica"/>
              </a:rPr>
              <a:t>How Agentium delivers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13432"/>
            <a:ext cx="4434840" cy="32644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00000"/>
                </a:solidFill>
                <a:latin typeface="Helvetica"/>
              </a:rPr>
              <a:t>•  Structured /audit stream — every mutation, upload, and policy change logged.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000000"/>
                </a:solidFill>
                <a:latin typeface="Helvetica"/>
              </a:rPr>
              <a:t>•  skill_invocations persist full tool-call ledger: inputs, outputs, status, metrics.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000000"/>
                </a:solidFill>
                <a:latin typeface="Helvetica"/>
              </a:rPr>
              <a:t>•  SSE /runs/{id}/stream — token_delta + structural node events in real time.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000000"/>
                </a:solidFill>
                <a:latin typeface="Helvetica"/>
              </a:rPr>
              <a:t>•  /observability surfaces SLO: cost, latency, success rate, live telemetry.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000000"/>
                </a:solidFill>
                <a:latin typeface="Helvetica"/>
              </a:rPr>
              <a:t>•  Async execution via background workers; Postgres-backed durable state.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000000"/>
                </a:solidFill>
                <a:latin typeface="Helvetica"/>
              </a:rPr>
              <a:t>•  Horizontal scaling path: Celery runtime alignment for batch &amp; event workloads.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0" y="1874519"/>
            <a:ext cx="6476695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3" name="Picture 12" descr="05_observabi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8384" y="1929384"/>
            <a:ext cx="6366967" cy="341071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358384" y="5358384"/>
            <a:ext cx="6366967" cy="2560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555555"/>
                </a:solidFill>
                <a:latin typeface="Helvetica"/>
              </a:rPr>
              <a:t>Observability — SLO metrics and live telemetry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6473952"/>
            <a:ext cx="82296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55555"/>
                </a:solidFill>
                <a:latin typeface="Helvetica"/>
              </a:rPr>
              <a:t>Datategy — Agentium — PIH alignment intro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80015" y="6473952"/>
            <a:ext cx="169164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55555"/>
                </a:solidFill>
                <a:latin typeface="Helvetica"/>
              </a:rPr>
              <a:t>Page 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datateg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74320"/>
            <a:ext cx="744205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265615" y="292608"/>
            <a:ext cx="260604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1B3A5C"/>
                </a:solidFill>
                <a:latin typeface="Helvetica"/>
              </a:rPr>
              <a:t>Agentium</a:t>
            </a:r>
          </a:p>
        </p:txBody>
      </p:sp>
      <p:sp>
        <p:nvSpPr>
          <p:cNvPr id="5" name="Rectangle 4"/>
          <p:cNvSpPr/>
          <p:nvPr/>
        </p:nvSpPr>
        <p:spPr>
          <a:xfrm>
            <a:off x="3352647" y="292608"/>
            <a:ext cx="5486400" cy="457200"/>
          </a:xfrm>
          <a:prstGeom prst="rect">
            <a:avLst/>
          </a:prstGeom>
          <a:solidFill>
            <a:srgbClr val="EEF2FF"/>
          </a:solidFill>
          <a:ln w="12700">
            <a:solidFill>
              <a:srgbClr val="1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352647" y="301752"/>
            <a:ext cx="5486400" cy="43891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B3A5C"/>
                </a:solidFill>
                <a:latin typeface="Helvetica"/>
              </a:rPr>
              <a:t>Token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1277295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000000"/>
                </a:solidFill>
                <a:latin typeface="Helvetica"/>
              </a:rPr>
              <a:t>Token Performance — PIH alignment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27729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55555"/>
                </a:solidFill>
                <a:latin typeface="Helvetica"/>
              </a:rPr>
              <a:t>Efficient and deterministic sovereign model orchestration.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874519"/>
            <a:ext cx="4709160" cy="3794760"/>
          </a:xfrm>
          <a:prstGeom prst="rect">
            <a:avLst/>
          </a:prstGeom>
          <a:solidFill>
            <a:srgbClr val="FAFAFA"/>
          </a:solidFill>
          <a:ln w="1524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965960"/>
            <a:ext cx="443484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4F46E5"/>
                </a:solidFill>
                <a:latin typeface="Helvetica"/>
              </a:rPr>
              <a:t>How Agentium delivers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13432"/>
            <a:ext cx="4434840" cy="32644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00000"/>
                </a:solidFill>
                <a:latin typeface="Helvetica"/>
              </a:rPr>
              <a:t>•  Control Plane routes to allowed_models only — no rogue model selection.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000000"/>
                </a:solidFill>
                <a:latin typeface="Helvetica"/>
              </a:rPr>
              <a:t>•  Flow / DAG engine executes skills in declared order (sequential, parallel, gated).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000000"/>
                </a:solidFill>
                <a:latin typeface="Helvetica"/>
              </a:rPr>
              <a:t>•  Per-skill cost_per_call + Run-level budget caps prevent token sprawl.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000000"/>
                </a:solidFill>
                <a:latin typeface="Helvetica"/>
              </a:rPr>
              <a:t>•  token_delta SSE streaming — efficient UX without polling overhead.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000000"/>
                </a:solidFill>
                <a:latin typeface="Helvetica"/>
              </a:rPr>
              <a:t>•  Deterministic paths: canonical answers bypass LLM when approved response exists.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000000"/>
                </a:solidFill>
                <a:latin typeface="Helvetica"/>
              </a:rPr>
              <a:t>•  Impact preview (&lt;300ms) before applying policy levers — predictable trade-offs.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0" y="1874519"/>
            <a:ext cx="6476695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3" name="Picture 12" descr="02_stee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8384" y="1929384"/>
            <a:ext cx="6366967" cy="341071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358384" y="5358384"/>
            <a:ext cx="6366967" cy="2560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555555"/>
                </a:solidFill>
                <a:latin typeface="Helvetica"/>
              </a:rPr>
              <a:t>Control Plane — allowed models, cost &amp; latency guardrails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6053328"/>
            <a:ext cx="11368735" cy="438912"/>
          </a:xfrm>
          <a:prstGeom prst="rect">
            <a:avLst/>
          </a:prstGeom>
          <a:solidFill>
            <a:srgbClr val="FFF7DD"/>
          </a:solidFill>
          <a:ln w="1524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6126480"/>
            <a:ext cx="11094415" cy="2926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4F46E5"/>
                </a:solidFill>
                <a:latin typeface="Helvetica"/>
              </a:rPr>
              <a:t>Honest boundary:  </a:t>
            </a:r>
            <a:r>
              <a:rPr sz="1200">
                <a:solidFill>
                  <a:srgbClr val="000000"/>
                </a:solidFill>
                <a:latin typeface="Helvetica"/>
              </a:rPr>
              <a:t>Advanced custom RBAC roles and checkpoint resume tokens are on the roadmap; core governance, replay, and audit paths are shipped today.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0040" y="6473952"/>
            <a:ext cx="82296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55555"/>
                </a:solidFill>
                <a:latin typeface="Helvetica"/>
              </a:rPr>
              <a:t>Datategy — Agentium — PIH alignment intro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80015" y="6473952"/>
            <a:ext cx="169164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55555"/>
                </a:solidFill>
                <a:latin typeface="Helvetica"/>
              </a:rPr>
              <a:t>Page 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datateg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74320"/>
            <a:ext cx="744205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265615" y="292608"/>
            <a:ext cx="260604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1B3A5C"/>
                </a:solidFill>
                <a:latin typeface="Helvetica"/>
              </a:rPr>
              <a:t>Agentium</a:t>
            </a:r>
          </a:p>
        </p:txBody>
      </p:sp>
      <p:sp>
        <p:nvSpPr>
          <p:cNvPr id="5" name="Rectangle 4"/>
          <p:cNvSpPr/>
          <p:nvPr/>
        </p:nvSpPr>
        <p:spPr>
          <a:xfrm>
            <a:off x="3352647" y="292608"/>
            <a:ext cx="5486400" cy="457200"/>
          </a:xfrm>
          <a:prstGeom prst="rect">
            <a:avLst/>
          </a:prstGeom>
          <a:solidFill>
            <a:srgbClr val="EEF2FF"/>
          </a:solidFill>
          <a:ln w="12700">
            <a:solidFill>
              <a:srgbClr val="1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352647" y="301752"/>
            <a:ext cx="5486400" cy="43891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B3A5C"/>
                </a:solidFill>
                <a:latin typeface="Helvetica"/>
              </a:rPr>
              <a:t>Security &amp; execution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1277295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000000"/>
                </a:solidFill>
                <a:latin typeface="Helvetica"/>
              </a:rPr>
              <a:t>RBAC perimeter + live agent execution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27729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55555"/>
                </a:solidFill>
                <a:latin typeface="Helvetica"/>
              </a:rPr>
              <a:t>Access control before execution · token stream during run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874519"/>
            <a:ext cx="5565495" cy="3977639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0" name="Picture 9" descr="07_access_ro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" y="1929384"/>
            <a:ext cx="5455767" cy="359359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6344" y="5541264"/>
            <a:ext cx="5455767" cy="2560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555555"/>
                </a:solidFill>
                <a:latin typeface="Helvetica"/>
              </a:rPr>
              <a:t>Access &amp; Roles — workspace RBAC (Keycloak / OIDC)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3279" y="1874519"/>
            <a:ext cx="5565495" cy="3977639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3" name="Picture 12" descr="06_ch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8143" y="1929384"/>
            <a:ext cx="5455767" cy="359359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78143" y="5541264"/>
            <a:ext cx="5455767" cy="2560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555555"/>
                </a:solidFill>
                <a:latin typeface="Helvetica"/>
              </a:rPr>
              <a:t>Chat — grounded answers with streaming token orchestration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6473952"/>
            <a:ext cx="82296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55555"/>
                </a:solidFill>
                <a:latin typeface="Helvetica"/>
              </a:rPr>
              <a:t>Datategy — Agentium — PIH alignment intro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80015" y="6473952"/>
            <a:ext cx="169164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55555"/>
                </a:solidFill>
                <a:latin typeface="Helvetica"/>
              </a:rPr>
              <a:t>Page 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datateg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74320"/>
            <a:ext cx="744205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265615" y="292608"/>
            <a:ext cx="260604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1B3A5C"/>
                </a:solidFill>
                <a:latin typeface="Helvetica"/>
              </a:rPr>
              <a:t>Agentium</a:t>
            </a:r>
          </a:p>
        </p:txBody>
      </p:sp>
      <p:sp>
        <p:nvSpPr>
          <p:cNvPr id="5" name="Rectangle 4"/>
          <p:cNvSpPr/>
          <p:nvPr/>
        </p:nvSpPr>
        <p:spPr>
          <a:xfrm>
            <a:off x="3352647" y="292608"/>
            <a:ext cx="5486400" cy="457200"/>
          </a:xfrm>
          <a:prstGeom prst="rect">
            <a:avLst/>
          </a:prstGeom>
          <a:solidFill>
            <a:srgbClr val="EEF2FF"/>
          </a:solidFill>
          <a:ln w="12700">
            <a:solidFill>
              <a:srgbClr val="1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352647" y="301752"/>
            <a:ext cx="5486400" cy="43891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B3A5C"/>
                </a:solidFill>
                <a:latin typeface="Helvetica"/>
              </a:rPr>
              <a:t>Live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1277295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000000"/>
                </a:solidFill>
                <a:latin typeface="Helvetica"/>
              </a:rPr>
              <a:t>From requirements to proof — demo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27729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55555"/>
                </a:solidFill>
                <a:latin typeface="Helvetica"/>
              </a:rPr>
              <a:t>Five minutes to connect PIH pillars to what you will see on screen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011680"/>
            <a:ext cx="2057400" cy="2148840"/>
          </a:xfrm>
          <a:prstGeom prst="rect">
            <a:avLst/>
          </a:prstGeom>
          <a:solidFill>
            <a:srgbClr val="EEF2FF"/>
          </a:solidFill>
          <a:ln w="1651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Oval 9"/>
          <p:cNvSpPr/>
          <p:nvPr/>
        </p:nvSpPr>
        <p:spPr>
          <a:xfrm>
            <a:off x="1275588" y="2194560"/>
            <a:ext cx="512064" cy="51206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75588" y="2267712"/>
            <a:ext cx="512064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Helvetica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834640"/>
            <a:ext cx="1874519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1B3A5C"/>
                </a:solidFill>
                <a:latin typeface="Helvetica"/>
              </a:rPr>
              <a:t>Login &amp; workspace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383280"/>
            <a:ext cx="1874519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444444"/>
                </a:solidFill>
                <a:latin typeface="Helvetica"/>
              </a:rPr>
              <a:t>RBAC, sovereign perimeter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535516" y="2948940"/>
            <a:ext cx="274320" cy="274320"/>
          </a:xfrm>
          <a:prstGeom prst="rightArrow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85033" y="2011680"/>
            <a:ext cx="2057400" cy="2148840"/>
          </a:xfrm>
          <a:prstGeom prst="rect">
            <a:avLst/>
          </a:prstGeom>
          <a:solidFill>
            <a:srgbClr val="EEF2FF"/>
          </a:solidFill>
          <a:ln w="1651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Oval 15"/>
          <p:cNvSpPr/>
          <p:nvPr/>
        </p:nvSpPr>
        <p:spPr>
          <a:xfrm>
            <a:off x="3557701" y="2194560"/>
            <a:ext cx="512064" cy="51206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57701" y="2267712"/>
            <a:ext cx="512064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Helvetic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76473" y="2834640"/>
            <a:ext cx="1874519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1B3A5C"/>
                </a:solidFill>
                <a:latin typeface="Helvetica"/>
              </a:rPr>
              <a:t>System &amp; Control Plane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76473" y="3383280"/>
            <a:ext cx="1874519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444444"/>
                </a:solidFill>
                <a:latin typeface="Helvetica"/>
              </a:rPr>
              <a:t>Agent identity + model guardrails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817630" y="2948940"/>
            <a:ext cx="274320" cy="274320"/>
          </a:xfrm>
          <a:prstGeom prst="rightArrow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67147" y="2011680"/>
            <a:ext cx="2057400" cy="2148840"/>
          </a:xfrm>
          <a:prstGeom prst="rect">
            <a:avLst/>
          </a:prstGeom>
          <a:solidFill>
            <a:srgbClr val="EEF2FF"/>
          </a:solidFill>
          <a:ln w="1651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Oval 21"/>
          <p:cNvSpPr/>
          <p:nvPr/>
        </p:nvSpPr>
        <p:spPr>
          <a:xfrm>
            <a:off x="5839815" y="2194560"/>
            <a:ext cx="512064" cy="51206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839815" y="2267712"/>
            <a:ext cx="512064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Helvetica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58587" y="2834640"/>
            <a:ext cx="1874519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1B3A5C"/>
                </a:solidFill>
                <a:latin typeface="Helvetica"/>
              </a:rPr>
              <a:t>Run + stream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8587" y="3383280"/>
            <a:ext cx="1874519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444444"/>
                </a:solidFill>
                <a:latin typeface="Helvetica"/>
              </a:rPr>
              <a:t>Stateful execution + token orchestration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7099744" y="2948940"/>
            <a:ext cx="274320" cy="274320"/>
          </a:xfrm>
          <a:prstGeom prst="rightArrow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349261" y="2011680"/>
            <a:ext cx="2057400" cy="2148840"/>
          </a:xfrm>
          <a:prstGeom prst="rect">
            <a:avLst/>
          </a:prstGeom>
          <a:solidFill>
            <a:srgbClr val="EEF2FF"/>
          </a:solidFill>
          <a:ln w="1651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Oval 27"/>
          <p:cNvSpPr/>
          <p:nvPr/>
        </p:nvSpPr>
        <p:spPr>
          <a:xfrm>
            <a:off x="8121929" y="2194560"/>
            <a:ext cx="512064" cy="51206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21929" y="2267712"/>
            <a:ext cx="512064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Helvetica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40701" y="2834640"/>
            <a:ext cx="1874519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1B3A5C"/>
                </a:solidFill>
                <a:latin typeface="Helvetica"/>
              </a:rPr>
              <a:t>Skill ledger &amp; audit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40701" y="3383280"/>
            <a:ext cx="1874519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444444"/>
                </a:solidFill>
                <a:latin typeface="Helvetica"/>
              </a:rPr>
              <a:t>Full tool-call traceability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9381858" y="2948940"/>
            <a:ext cx="274320" cy="274320"/>
          </a:xfrm>
          <a:prstGeom prst="rightArrow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631375" y="2011680"/>
            <a:ext cx="2057400" cy="2148840"/>
          </a:xfrm>
          <a:prstGeom prst="rect">
            <a:avLst/>
          </a:prstGeom>
          <a:solidFill>
            <a:srgbClr val="EEF2FF"/>
          </a:solidFill>
          <a:ln w="1651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404043" y="2194560"/>
            <a:ext cx="512064" cy="51206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404043" y="2267712"/>
            <a:ext cx="512064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Helvetica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22815" y="2834640"/>
            <a:ext cx="1874519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1B3A5C"/>
                </a:solidFill>
                <a:latin typeface="Helvetica"/>
              </a:rPr>
              <a:t>Evaluation → Replay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22815" y="3383280"/>
            <a:ext cx="1874519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444444"/>
                </a:solidFill>
                <a:latin typeface="Helvetica"/>
              </a:rPr>
              <a:t>Robustness loop in action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4434840"/>
            <a:ext cx="11368735" cy="960120"/>
          </a:xfrm>
          <a:prstGeom prst="rect">
            <a:avLst/>
          </a:prstGeom>
          <a:solidFill>
            <a:srgbClr val="FFF7DD"/>
          </a:solidFill>
          <a:ln w="15240">
            <a:solidFill>
              <a:srgbClr val="1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48640" y="4507992"/>
            <a:ext cx="11094415" cy="8138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1B3A5C"/>
                </a:solidFill>
                <a:latin typeface="Helvetica"/>
              </a:rPr>
              <a:t>Key message:  </a:t>
            </a:r>
            <a:r>
              <a:rPr sz="1200">
                <a:solidFill>
                  <a:srgbClr val="000000"/>
                </a:solidFill>
                <a:latin typeface="Helvetica"/>
              </a:rPr>
              <a:t>Agentium is not an agent playground — it is the control layer that makes autonomous systems sovereign, recoverable, secure, observable, and token-efficient.</a:t>
            </a:r>
          </a:p>
          <a:p>
            <a:pPr algn="l">
              <a:lnSpc>
                <a:spcPct val="118000"/>
              </a:lnSpc>
            </a:pPr>
            <a:r>
              <a:rPr sz="1200" b="1">
                <a:solidFill>
                  <a:srgbClr val="1B3A5C"/>
                </a:solidFill>
                <a:latin typeface="Helvetica"/>
              </a:rPr>
              <a:t>Let's demo.  </a:t>
            </a:r>
            <a:r>
              <a:rPr sz="1200">
                <a:solidFill>
                  <a:srgbClr val="000000"/>
                </a:solidFill>
                <a:latin typeface="Helvetica"/>
              </a:rPr>
              <a:t>Questions welcome throughout — we will map each screen back to the PIH pillars.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20040" y="6473952"/>
            <a:ext cx="82296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55555"/>
                </a:solidFill>
                <a:latin typeface="Helvetica"/>
              </a:rPr>
              <a:t>Datategy — Agentium — PIH alignment intro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80015" y="6473952"/>
            <a:ext cx="169164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55555"/>
                </a:solidFill>
                <a:latin typeface="Helvetica"/>
              </a:rPr>
              <a:t>Page 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datateg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1234440"/>
            <a:ext cx="1488411" cy="1005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514600"/>
            <a:ext cx="11277295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>
                <a:solidFill>
                  <a:srgbClr val="000000"/>
                </a:solidFill>
                <a:latin typeface="Helvetica"/>
              </a:rPr>
              <a:t>Ready for the 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46120"/>
            <a:ext cx="11277295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1B3A5C"/>
                </a:solidFill>
                <a:latin typeface="Helvetica"/>
              </a:rPr>
              <a:t>Agentium — governed intelligent systems at enterprise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86200"/>
            <a:ext cx="11277295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555555"/>
                </a:solidFill>
                <a:latin typeface="Helvetica"/>
              </a:rPr>
              <a:t>Sovereign  ·  Robust  ·  Secure  ·  Observable  ·  Token-efficient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080760"/>
            <a:ext cx="11277295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555555"/>
                </a:solidFill>
                <a:latin typeface="Helvetica"/>
              </a:rPr>
              <a:t>Datategy —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1482</Words>
  <Application>Microsoft Macintosh PowerPoint</Application>
  <PresentationFormat>Widescreen</PresentationFormat>
  <Paragraphs>218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Thibaud Ishacian</cp:lastModifiedBy>
  <cp:revision>3</cp:revision>
  <dcterms:created xsi:type="dcterms:W3CDTF">2013-01-27T09:14:16Z</dcterms:created>
  <dcterms:modified xsi:type="dcterms:W3CDTF">2026-06-09T11:12:28Z</dcterms:modified>
  <cp:category/>
</cp:coreProperties>
</file>