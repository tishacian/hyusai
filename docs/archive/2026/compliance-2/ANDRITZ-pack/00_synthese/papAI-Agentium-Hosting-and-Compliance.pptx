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4630400" cy="8229600"/>
  <p:notesSz cx="8229600" cy="14630400"/>
  <p:embeddedFontLst>
    <p:embeddedFont>
      <p:font typeface="Crimson Pro Semi Bold"/>
      <p:regular r:id="rId26"/>
    </p:embeddedFont>
    <p:embeddedFont>
      <p:font typeface="Crimson Pro Semi Bold"/>
      <p:regular r:id="rId27"/>
    </p:embeddedFont>
    <p:embeddedFont>
      <p:font typeface="Crimson Pro Semi Bold"/>
      <p:regular r:id="rId28"/>
    </p:embeddedFont>
    <p:embeddedFont>
      <p:font typeface="Crimson Pro Semi Bold"/>
      <p:regular r:id="rId29"/>
    </p:embeddedFont>
    <p:embeddedFont>
      <p:font typeface="Heebo"/>
      <p:regular r:id="rId30"/>
    </p:embeddedFont>
    <p:embeddedFont>
      <p:font typeface="Heebo"/>
      <p:regular r:id="rId3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9.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9.png"/><Relationship Id="rId10" Type="http://schemas.openxmlformats.org/officeDocument/2006/relationships/image" Target="../media/image-15-10.svg"/><Relationship Id="rId11" Type="http://schemas.openxmlformats.org/officeDocument/2006/relationships/slideLayout" Target="../slideLayouts/slideLayout16.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mailto:thibaud.ishacian@datategy.net" TargetMode="External"/><Relationship Id="rId2" Type="http://schemas.openxmlformats.org/officeDocument/2006/relationships/hyperlink" Target="mailto:eric.chau@datategy.net" TargetMode="External"/><Relationship Id="rId3" Type="http://schemas.openxmlformats.org/officeDocument/2006/relationships/hyperlink" Target="mailto:support@papai.ai" TargetMode="External"/><Relationship Id="rId4" Type="http://schemas.openxmlformats.org/officeDocument/2006/relationships/slideLayout" Target="../slideLayouts/slideLayout20.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93790" y="1869519"/>
            <a:ext cx="3259574" cy="373142"/>
          </a:xfrm>
          <a:prstGeom prst="roundRect">
            <a:avLst>
              <a:gd name="adj" fmla="val 6383"/>
            </a:avLst>
          </a:prstGeom>
          <a:solidFill>
            <a:srgbClr val="CCD7FF"/>
          </a:solidFill>
          <a:ln/>
        </p:spPr>
      </p:sp>
      <p:sp>
        <p:nvSpPr>
          <p:cNvPr id="3" name="Text 1"/>
          <p:cNvSpPr/>
          <p:nvPr/>
        </p:nvSpPr>
        <p:spPr>
          <a:xfrm>
            <a:off x="912852" y="1929051"/>
            <a:ext cx="3021449"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ENTERPRISE SAAS · EU INFRASTRUCTURE</a:t>
            </a:r>
            <a:endParaRPr lang="en-US" sz="1250" dirty="0"/>
          </a:p>
        </p:txBody>
      </p:sp>
      <p:sp>
        <p:nvSpPr>
          <p:cNvPr id="4" name="Text 2"/>
          <p:cNvSpPr/>
          <p:nvPr/>
        </p:nvSpPr>
        <p:spPr>
          <a:xfrm>
            <a:off x="793790" y="2321957"/>
            <a:ext cx="8949809"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papAI / Agentium — Hosting &amp; Compliance</a:t>
            </a:r>
            <a:endParaRPr lang="en-US" sz="3900" dirty="0"/>
          </a:p>
        </p:txBody>
      </p:sp>
      <p:sp>
        <p:nvSpPr>
          <p:cNvPr id="5" name="Text 3"/>
          <p:cNvSpPr/>
          <p:nvPr/>
        </p:nvSpPr>
        <p:spPr>
          <a:xfrm>
            <a:off x="793790" y="3239691"/>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Powered by OVHcloud · Operated by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Datategy SAS</a:t>
            </a:r>
            <a:endParaRPr lang="en-US" sz="1550" dirty="0"/>
          </a:p>
        </p:txBody>
      </p:sp>
      <p:sp>
        <p:nvSpPr>
          <p:cNvPr id="6" name="Shape 4"/>
          <p:cNvSpPr/>
          <p:nvPr/>
        </p:nvSpPr>
        <p:spPr>
          <a:xfrm>
            <a:off x="793790" y="3830003"/>
            <a:ext cx="13042821" cy="14883"/>
          </a:xfrm>
          <a:prstGeom prst="rect">
            <a:avLst/>
          </a:prstGeom>
          <a:solidFill>
            <a:srgbClr val="4C4C4D">
              <a:alpha val="50000"/>
            </a:srgbClr>
          </a:solidFill>
          <a:ln/>
        </p:spPr>
      </p:sp>
      <p:sp>
        <p:nvSpPr>
          <p:cNvPr id="7" name="Text 5"/>
          <p:cNvSpPr/>
          <p:nvPr/>
        </p:nvSpPr>
        <p:spPr>
          <a:xfrm>
            <a:off x="793790" y="4296251"/>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This briefing provides security, compliance, and data protection officers with a structured account of how papAI / Agentium is hosted, secured, and governed — aligned to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ISO/IEC 27001:2022 Annex A</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and the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GDPR shared-responsibility model</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a:t>
            </a:r>
            <a:endParaRPr lang="en-US" sz="1550" dirty="0"/>
          </a:p>
        </p:txBody>
      </p:sp>
      <p:sp>
        <p:nvSpPr>
          <p:cNvPr id="8" name="Text 6"/>
          <p:cNvSpPr/>
          <p:nvPr/>
        </p:nvSpPr>
        <p:spPr>
          <a:xfrm>
            <a:off x="793790" y="5427464"/>
            <a:ext cx="7632025"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Reference document: </a:t>
            </a:r>
            <a:pPr algn="l" indent="0" marL="0">
              <a:lnSpc>
                <a:spcPts val="2500"/>
              </a:lnSpc>
              <a:buNone/>
            </a:pPr>
            <a:r>
              <a:rPr lang="en-US" sz="1550" i="1" dirty="0">
                <a:solidFill>
                  <a:srgbClr val="4C4C4D"/>
                </a:solidFill>
                <a:latin typeface="Heebo" pitchFamily="34" charset="0"/>
                <a:ea typeface="Heebo" pitchFamily="34" charset="-122"/>
                <a:cs typeface="Heebo" pitchFamily="34" charset="-120"/>
              </a:rPr>
              <a:t>fiche-hosting-ovh-andritz.docx</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(full ISO/IEC 27001:2022–aligned hosting note)</a:t>
            </a:r>
            <a:endParaRPr lang="en-US" sz="1550" dirty="0"/>
          </a:p>
        </p:txBody>
      </p:sp>
      <p:sp>
        <p:nvSpPr>
          <p:cNvPr id="9" name="Shape 7"/>
          <p:cNvSpPr/>
          <p:nvPr/>
        </p:nvSpPr>
        <p:spPr>
          <a:xfrm>
            <a:off x="8917543" y="4340900"/>
            <a:ext cx="4926568" cy="1795820"/>
          </a:xfrm>
          <a:prstGeom prst="roundRect">
            <a:avLst>
              <a:gd name="adj" fmla="val 1658"/>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9115901" y="4628555"/>
            <a:ext cx="248007" cy="198358"/>
          </a:xfrm>
          <a:prstGeom prst="rect">
            <a:avLst/>
          </a:prstGeom>
        </p:spPr>
      </p:pic>
      <p:sp>
        <p:nvSpPr>
          <p:cNvPr id="11" name="Text 8"/>
          <p:cNvSpPr/>
          <p:nvPr/>
        </p:nvSpPr>
        <p:spPr>
          <a:xfrm>
            <a:off x="9562267" y="4588788"/>
            <a:ext cx="4083487" cy="127015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Heebo" pitchFamily="34" charset="0"/>
                <a:ea typeface="Heebo" pitchFamily="34" charset="-122"/>
                <a:cs typeface="Heebo" pitchFamily="34" charset="-120"/>
              </a:rPr>
              <a:t>April 2026</a:t>
            </a:r>
            <a:pPr algn="l" indent="0" marL="0">
              <a:lnSpc>
                <a:spcPts val="2500"/>
              </a:lnSpc>
              <a:buNone/>
            </a:pPr>
            <a:r>
              <a:rPr lang="en-US" sz="1550" dirty="0">
                <a:solidFill>
                  <a:srgbClr val="000000"/>
                </a:solidFill>
                <a:latin typeface="Heebo" pitchFamily="34" charset="0"/>
                <a:ea typeface="Heebo" pitchFamily="34" charset="-122"/>
                <a:cs typeface="Heebo" pitchFamily="34" charset="-120"/>
              </a:rPr>
              <a:t>Audience: Security Officers, Compliance Officers &amp; DPOs</a:t>
            </a:r>
            <a:endParaRPr lang="en-US" sz="1550" dirty="0"/>
          </a:p>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Format: Video call briefing</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603528"/>
            <a:ext cx="876538" cy="388382"/>
          </a:xfrm>
          <a:prstGeom prst="roundRect">
            <a:avLst>
              <a:gd name="adj" fmla="val 6132"/>
            </a:avLst>
          </a:prstGeom>
          <a:noFill/>
          <a:ln w="7620">
            <a:solidFill>
              <a:srgbClr val="2150FE"/>
            </a:solidFill>
            <a:prstDash val="solid"/>
          </a:ln>
        </p:spPr>
      </p:sp>
      <p:sp>
        <p:nvSpPr>
          <p:cNvPr id="3" name="Text 1"/>
          <p:cNvSpPr/>
          <p:nvPr/>
        </p:nvSpPr>
        <p:spPr>
          <a:xfrm>
            <a:off x="920472" y="670679"/>
            <a:ext cx="623173" cy="254079"/>
          </a:xfrm>
          <a:prstGeom prst="rect">
            <a:avLst/>
          </a:prstGeom>
          <a:noFill/>
          <a:ln/>
        </p:spPr>
        <p:txBody>
          <a:bodyPr wrap="none" lIns="0" tIns="0" rIns="0" bIns="0" rtlCol="0" anchor="t"/>
          <a:lstStyle/>
          <a:p>
            <a:pPr algn="l" indent="0" marL="0">
              <a:lnSpc>
                <a:spcPts val="2000"/>
              </a:lnSpc>
              <a:buNone/>
            </a:pPr>
            <a:r>
              <a:rPr lang="en-US" sz="1250" dirty="0">
                <a:solidFill>
                  <a:srgbClr val="2150FE"/>
                </a:solidFill>
                <a:latin typeface="Heebo" pitchFamily="34" charset="0"/>
                <a:ea typeface="Heebo" pitchFamily="34" charset="-122"/>
                <a:cs typeface="Heebo" pitchFamily="34" charset="-120"/>
              </a:rPr>
              <a:t>AGENDA</a:t>
            </a:r>
            <a:endParaRPr lang="en-US" sz="1250" dirty="0"/>
          </a:p>
        </p:txBody>
      </p:sp>
      <p:sp>
        <p:nvSpPr>
          <p:cNvPr id="4" name="Text 2"/>
          <p:cNvSpPr/>
          <p:nvPr/>
        </p:nvSpPr>
        <p:spPr>
          <a:xfrm>
            <a:off x="793790" y="1071205"/>
            <a:ext cx="5522952"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What We Will Cover Today</a:t>
            </a:r>
            <a:endParaRPr lang="en-US" sz="3900" dirty="0"/>
          </a:p>
        </p:txBody>
      </p:sp>
      <p:sp>
        <p:nvSpPr>
          <p:cNvPr id="5" name="Text 3"/>
          <p:cNvSpPr/>
          <p:nvPr/>
        </p:nvSpPr>
        <p:spPr>
          <a:xfrm>
            <a:off x="793790" y="1988939"/>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This session is structured to give your team a clear, evidence-based view of the platform — from architecture through to contractual assurance.</a:t>
            </a:r>
            <a:endParaRPr lang="en-US" sz="1550" dirty="0"/>
          </a:p>
        </p:txBody>
      </p:sp>
      <p:sp>
        <p:nvSpPr>
          <p:cNvPr id="6" name="Text 4"/>
          <p:cNvSpPr/>
          <p:nvPr/>
        </p:nvSpPr>
        <p:spPr>
          <a:xfrm>
            <a:off x="793790" y="2529721"/>
            <a:ext cx="396835" cy="248007"/>
          </a:xfrm>
          <a:prstGeom prst="rect">
            <a:avLst/>
          </a:prstGeom>
          <a:noFill/>
          <a:ln/>
        </p:spPr>
        <p:txBody>
          <a:bodyPr wrap="none" lIns="0" tIns="0" rIns="0" bIns="0" rtlCol="0" anchor="ctr"/>
          <a:lstStyle/>
          <a:p>
            <a:pPr algn="l" indent="0" marL="0">
              <a:lnSpc>
                <a:spcPts val="2500"/>
              </a:lnSpc>
              <a:buNone/>
            </a:pPr>
            <a:r>
              <a:rPr lang="en-US" sz="1550" dirty="0">
                <a:solidFill>
                  <a:srgbClr val="4C4C4D"/>
                </a:solidFill>
                <a:latin typeface="Crimson Pro Light" pitchFamily="34" charset="0"/>
                <a:ea typeface="Crimson Pro Light" pitchFamily="34" charset="-122"/>
                <a:cs typeface="Crimson Pro Light" pitchFamily="34" charset="-120"/>
              </a:rPr>
              <a:t>01</a:t>
            </a:r>
            <a:endParaRPr lang="en-US" sz="1550" dirty="0"/>
          </a:p>
        </p:txBody>
      </p:sp>
      <p:sp>
        <p:nvSpPr>
          <p:cNvPr id="7" name="Shape 5"/>
          <p:cNvSpPr/>
          <p:nvPr/>
        </p:nvSpPr>
        <p:spPr>
          <a:xfrm>
            <a:off x="793790" y="2844046"/>
            <a:ext cx="6422231" cy="22860"/>
          </a:xfrm>
          <a:prstGeom prst="rect">
            <a:avLst/>
          </a:prstGeom>
          <a:solidFill>
            <a:srgbClr val="2150FE"/>
          </a:solidFill>
          <a:ln/>
        </p:spPr>
      </p:sp>
      <p:sp>
        <p:nvSpPr>
          <p:cNvPr id="8" name="Text 6"/>
          <p:cNvSpPr/>
          <p:nvPr/>
        </p:nvSpPr>
        <p:spPr>
          <a:xfrm>
            <a:off x="793790" y="29889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Executive Overview</a:t>
            </a:r>
            <a:endParaRPr lang="en-US" sz="1950" dirty="0"/>
          </a:p>
        </p:txBody>
      </p:sp>
      <p:sp>
        <p:nvSpPr>
          <p:cNvPr id="9" name="Text 7"/>
          <p:cNvSpPr/>
          <p:nvPr/>
        </p:nvSpPr>
        <p:spPr>
          <a:xfrm>
            <a:off x="793790" y="341816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What we propose, why it matters, and the trust basis for your procurement decision.</a:t>
            </a:r>
            <a:endParaRPr lang="en-US" sz="1550" dirty="0"/>
          </a:p>
        </p:txBody>
      </p:sp>
      <p:sp>
        <p:nvSpPr>
          <p:cNvPr id="10" name="Text 8"/>
          <p:cNvSpPr/>
          <p:nvPr/>
        </p:nvSpPr>
        <p:spPr>
          <a:xfrm>
            <a:off x="7414379" y="2529721"/>
            <a:ext cx="396835" cy="248007"/>
          </a:xfrm>
          <a:prstGeom prst="rect">
            <a:avLst/>
          </a:prstGeom>
          <a:noFill/>
          <a:ln/>
        </p:spPr>
        <p:txBody>
          <a:bodyPr wrap="none" lIns="0" tIns="0" rIns="0" bIns="0" rtlCol="0" anchor="ctr"/>
          <a:lstStyle/>
          <a:p>
            <a:pPr algn="l" indent="0" marL="0">
              <a:lnSpc>
                <a:spcPts val="2500"/>
              </a:lnSpc>
              <a:buNone/>
            </a:pPr>
            <a:r>
              <a:rPr lang="en-US" sz="1550" dirty="0">
                <a:solidFill>
                  <a:srgbClr val="4C4C4D"/>
                </a:solidFill>
                <a:latin typeface="Crimson Pro Light" pitchFamily="34" charset="0"/>
                <a:ea typeface="Crimson Pro Light" pitchFamily="34" charset="-122"/>
                <a:cs typeface="Crimson Pro Light" pitchFamily="34" charset="-120"/>
              </a:rPr>
              <a:t>02</a:t>
            </a:r>
            <a:endParaRPr lang="en-US" sz="1550" dirty="0"/>
          </a:p>
        </p:txBody>
      </p:sp>
      <p:sp>
        <p:nvSpPr>
          <p:cNvPr id="11" name="Shape 9"/>
          <p:cNvSpPr/>
          <p:nvPr/>
        </p:nvSpPr>
        <p:spPr>
          <a:xfrm>
            <a:off x="7414379" y="2844046"/>
            <a:ext cx="6422231" cy="22860"/>
          </a:xfrm>
          <a:prstGeom prst="rect">
            <a:avLst/>
          </a:prstGeom>
          <a:solidFill>
            <a:srgbClr val="2150FE"/>
          </a:solidFill>
          <a:ln/>
        </p:spPr>
      </p:sp>
      <p:sp>
        <p:nvSpPr>
          <p:cNvPr id="12" name="Text 10"/>
          <p:cNvSpPr/>
          <p:nvPr/>
        </p:nvSpPr>
        <p:spPr>
          <a:xfrm>
            <a:off x="7414379" y="2988945"/>
            <a:ext cx="2704148"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Architecture &amp; Operations</a:t>
            </a:r>
            <a:endParaRPr lang="en-US" sz="1950" dirty="0"/>
          </a:p>
        </p:txBody>
      </p:sp>
      <p:sp>
        <p:nvSpPr>
          <p:cNvPr id="13" name="Text 11"/>
          <p:cNvSpPr/>
          <p:nvPr/>
        </p:nvSpPr>
        <p:spPr>
          <a:xfrm>
            <a:off x="7414379" y="341816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OVHcloud Managed Kubernetes (MKS) and the Datategy platform footprint.</a:t>
            </a:r>
            <a:endParaRPr lang="en-US" sz="1550" dirty="0"/>
          </a:p>
        </p:txBody>
      </p:sp>
      <p:sp>
        <p:nvSpPr>
          <p:cNvPr id="14" name="Text 12"/>
          <p:cNvSpPr/>
          <p:nvPr/>
        </p:nvSpPr>
        <p:spPr>
          <a:xfrm>
            <a:off x="793790" y="4400431"/>
            <a:ext cx="396835" cy="248007"/>
          </a:xfrm>
          <a:prstGeom prst="rect">
            <a:avLst/>
          </a:prstGeom>
          <a:noFill/>
          <a:ln/>
        </p:spPr>
        <p:txBody>
          <a:bodyPr wrap="none" lIns="0" tIns="0" rIns="0" bIns="0" rtlCol="0" anchor="ctr"/>
          <a:lstStyle/>
          <a:p>
            <a:pPr algn="l" indent="0" marL="0">
              <a:lnSpc>
                <a:spcPts val="2500"/>
              </a:lnSpc>
              <a:buNone/>
            </a:pPr>
            <a:r>
              <a:rPr lang="en-US" sz="1550" dirty="0">
                <a:solidFill>
                  <a:srgbClr val="4C4C4D"/>
                </a:solidFill>
                <a:latin typeface="Crimson Pro Light" pitchFamily="34" charset="0"/>
                <a:ea typeface="Crimson Pro Light" pitchFamily="34" charset="-122"/>
                <a:cs typeface="Crimson Pro Light" pitchFamily="34" charset="-120"/>
              </a:rPr>
              <a:t>03</a:t>
            </a:r>
            <a:endParaRPr lang="en-US" sz="1550" dirty="0"/>
          </a:p>
        </p:txBody>
      </p:sp>
      <p:sp>
        <p:nvSpPr>
          <p:cNvPr id="15" name="Shape 13"/>
          <p:cNvSpPr/>
          <p:nvPr/>
        </p:nvSpPr>
        <p:spPr>
          <a:xfrm>
            <a:off x="793790" y="4714756"/>
            <a:ext cx="6422231" cy="22860"/>
          </a:xfrm>
          <a:prstGeom prst="rect">
            <a:avLst/>
          </a:prstGeom>
          <a:solidFill>
            <a:srgbClr val="2150FE"/>
          </a:solidFill>
          <a:ln/>
        </p:spPr>
      </p:sp>
      <p:sp>
        <p:nvSpPr>
          <p:cNvPr id="16" name="Text 14"/>
          <p:cNvSpPr/>
          <p:nvPr/>
        </p:nvSpPr>
        <p:spPr>
          <a:xfrm>
            <a:off x="793790" y="485965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AI Security</a:t>
            </a:r>
            <a:endParaRPr lang="en-US" sz="1950" dirty="0"/>
          </a:p>
        </p:txBody>
      </p:sp>
      <p:sp>
        <p:nvSpPr>
          <p:cNvPr id="17" name="Text 15"/>
          <p:cNvSpPr/>
          <p:nvPr/>
        </p:nvSpPr>
        <p:spPr>
          <a:xfrm>
            <a:off x="793790" y="528887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Local inference design — LLMs and embeddings on-cluster, within your tenancy boundary.</a:t>
            </a:r>
            <a:endParaRPr lang="en-US" sz="1550" dirty="0"/>
          </a:p>
        </p:txBody>
      </p:sp>
      <p:sp>
        <p:nvSpPr>
          <p:cNvPr id="18" name="Text 16"/>
          <p:cNvSpPr/>
          <p:nvPr/>
        </p:nvSpPr>
        <p:spPr>
          <a:xfrm>
            <a:off x="7414379" y="4400431"/>
            <a:ext cx="396835" cy="248007"/>
          </a:xfrm>
          <a:prstGeom prst="rect">
            <a:avLst/>
          </a:prstGeom>
          <a:noFill/>
          <a:ln/>
        </p:spPr>
        <p:txBody>
          <a:bodyPr wrap="none" lIns="0" tIns="0" rIns="0" bIns="0" rtlCol="0" anchor="ctr"/>
          <a:lstStyle/>
          <a:p>
            <a:pPr algn="l" indent="0" marL="0">
              <a:lnSpc>
                <a:spcPts val="2500"/>
              </a:lnSpc>
              <a:buNone/>
            </a:pPr>
            <a:r>
              <a:rPr lang="en-US" sz="1550" dirty="0">
                <a:solidFill>
                  <a:srgbClr val="4C4C4D"/>
                </a:solidFill>
                <a:latin typeface="Crimson Pro Light" pitchFamily="34" charset="0"/>
                <a:ea typeface="Crimson Pro Light" pitchFamily="34" charset="-122"/>
                <a:cs typeface="Crimson Pro Light" pitchFamily="34" charset="-120"/>
              </a:rPr>
              <a:t>04</a:t>
            </a:r>
            <a:endParaRPr lang="en-US" sz="1550" dirty="0"/>
          </a:p>
        </p:txBody>
      </p:sp>
      <p:sp>
        <p:nvSpPr>
          <p:cNvPr id="19" name="Shape 17"/>
          <p:cNvSpPr/>
          <p:nvPr/>
        </p:nvSpPr>
        <p:spPr>
          <a:xfrm>
            <a:off x="7414379" y="4714756"/>
            <a:ext cx="6422231" cy="22860"/>
          </a:xfrm>
          <a:prstGeom prst="rect">
            <a:avLst/>
          </a:prstGeom>
          <a:solidFill>
            <a:srgbClr val="2150FE"/>
          </a:solidFill>
          <a:ln/>
        </p:spPr>
      </p:sp>
      <p:sp>
        <p:nvSpPr>
          <p:cNvPr id="20" name="Text 18"/>
          <p:cNvSpPr/>
          <p:nvPr/>
        </p:nvSpPr>
        <p:spPr>
          <a:xfrm>
            <a:off x="7414379" y="485965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Assurance Stack</a:t>
            </a:r>
            <a:endParaRPr lang="en-US" sz="1950" dirty="0"/>
          </a:p>
        </p:txBody>
      </p:sp>
      <p:sp>
        <p:nvSpPr>
          <p:cNvPr id="21" name="Text 19"/>
          <p:cNvSpPr/>
          <p:nvPr/>
        </p:nvSpPr>
        <p:spPr>
          <a:xfrm>
            <a:off x="7414379" y="528887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OVHcloud public compliance catalogue and Datategy policy documentation.</a:t>
            </a:r>
            <a:endParaRPr lang="en-US" sz="1550" dirty="0"/>
          </a:p>
        </p:txBody>
      </p:sp>
      <p:sp>
        <p:nvSpPr>
          <p:cNvPr id="22" name="Text 20"/>
          <p:cNvSpPr/>
          <p:nvPr/>
        </p:nvSpPr>
        <p:spPr>
          <a:xfrm>
            <a:off x="793790" y="6271141"/>
            <a:ext cx="396835" cy="248007"/>
          </a:xfrm>
          <a:prstGeom prst="rect">
            <a:avLst/>
          </a:prstGeom>
          <a:noFill/>
          <a:ln/>
        </p:spPr>
        <p:txBody>
          <a:bodyPr wrap="none" lIns="0" tIns="0" rIns="0" bIns="0" rtlCol="0" anchor="ctr"/>
          <a:lstStyle/>
          <a:p>
            <a:pPr algn="l" indent="0" marL="0">
              <a:lnSpc>
                <a:spcPts val="2500"/>
              </a:lnSpc>
              <a:buNone/>
            </a:pPr>
            <a:r>
              <a:rPr lang="en-US" sz="1550" dirty="0">
                <a:solidFill>
                  <a:srgbClr val="4C4C4D"/>
                </a:solidFill>
                <a:latin typeface="Crimson Pro Light" pitchFamily="34" charset="0"/>
                <a:ea typeface="Crimson Pro Light" pitchFamily="34" charset="-122"/>
                <a:cs typeface="Crimson Pro Light" pitchFamily="34" charset="-120"/>
              </a:rPr>
              <a:t>05</a:t>
            </a:r>
            <a:endParaRPr lang="en-US" sz="1550" dirty="0"/>
          </a:p>
        </p:txBody>
      </p:sp>
      <p:sp>
        <p:nvSpPr>
          <p:cNvPr id="23" name="Shape 21"/>
          <p:cNvSpPr/>
          <p:nvPr/>
        </p:nvSpPr>
        <p:spPr>
          <a:xfrm>
            <a:off x="793790" y="6585466"/>
            <a:ext cx="6422231" cy="22860"/>
          </a:xfrm>
          <a:prstGeom prst="rect">
            <a:avLst/>
          </a:prstGeom>
          <a:solidFill>
            <a:srgbClr val="2150FE"/>
          </a:solidFill>
          <a:ln/>
        </p:spPr>
      </p:sp>
      <p:sp>
        <p:nvSpPr>
          <p:cNvPr id="24" name="Text 22"/>
          <p:cNvSpPr/>
          <p:nvPr/>
        </p:nvSpPr>
        <p:spPr>
          <a:xfrm>
            <a:off x="793790" y="6730365"/>
            <a:ext cx="2488406"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GDPR &amp; ISO 27001:2022</a:t>
            </a:r>
            <a:endParaRPr lang="en-US" sz="1950" dirty="0"/>
          </a:p>
        </p:txBody>
      </p:sp>
      <p:sp>
        <p:nvSpPr>
          <p:cNvPr id="25" name="Text 23"/>
          <p:cNvSpPr/>
          <p:nvPr/>
        </p:nvSpPr>
        <p:spPr>
          <a:xfrm>
            <a:off x="793790" y="7159585"/>
            <a:ext cx="642223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High-level mapping of roles, Article 32 measures, and Annex A themes.</a:t>
            </a:r>
            <a:endParaRPr lang="en-US" sz="1550" dirty="0"/>
          </a:p>
        </p:txBody>
      </p:sp>
      <p:sp>
        <p:nvSpPr>
          <p:cNvPr id="26" name="Text 24"/>
          <p:cNvSpPr/>
          <p:nvPr/>
        </p:nvSpPr>
        <p:spPr>
          <a:xfrm>
            <a:off x="7414379" y="6271141"/>
            <a:ext cx="396835" cy="248007"/>
          </a:xfrm>
          <a:prstGeom prst="rect">
            <a:avLst/>
          </a:prstGeom>
          <a:noFill/>
          <a:ln/>
        </p:spPr>
        <p:txBody>
          <a:bodyPr wrap="none" lIns="0" tIns="0" rIns="0" bIns="0" rtlCol="0" anchor="ctr"/>
          <a:lstStyle/>
          <a:p>
            <a:pPr algn="l" indent="0" marL="0">
              <a:lnSpc>
                <a:spcPts val="2500"/>
              </a:lnSpc>
              <a:buNone/>
            </a:pPr>
            <a:r>
              <a:rPr lang="en-US" sz="1550" dirty="0">
                <a:solidFill>
                  <a:srgbClr val="4C4C4D"/>
                </a:solidFill>
                <a:latin typeface="Crimson Pro Light" pitchFamily="34" charset="0"/>
                <a:ea typeface="Crimson Pro Light" pitchFamily="34" charset="-122"/>
                <a:cs typeface="Crimson Pro Light" pitchFamily="34" charset="-120"/>
              </a:rPr>
              <a:t>06</a:t>
            </a:r>
            <a:endParaRPr lang="en-US" sz="1550" dirty="0"/>
          </a:p>
        </p:txBody>
      </p:sp>
      <p:sp>
        <p:nvSpPr>
          <p:cNvPr id="27" name="Shape 25"/>
          <p:cNvSpPr/>
          <p:nvPr/>
        </p:nvSpPr>
        <p:spPr>
          <a:xfrm>
            <a:off x="7414379" y="6585466"/>
            <a:ext cx="6422231" cy="22860"/>
          </a:xfrm>
          <a:prstGeom prst="rect">
            <a:avLst/>
          </a:prstGeom>
          <a:solidFill>
            <a:srgbClr val="2150FE"/>
          </a:solidFill>
          <a:ln/>
        </p:spPr>
      </p:sp>
      <p:sp>
        <p:nvSpPr>
          <p:cNvPr id="28" name="Text 26"/>
          <p:cNvSpPr/>
          <p:nvPr/>
        </p:nvSpPr>
        <p:spPr>
          <a:xfrm>
            <a:off x="7414379" y="6730365"/>
            <a:ext cx="3055858"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Deliverable Pack &amp; Next Steps</a:t>
            </a:r>
            <a:endParaRPr lang="en-US" sz="1950" dirty="0"/>
          </a:p>
        </p:txBody>
      </p:sp>
      <p:sp>
        <p:nvSpPr>
          <p:cNvPr id="29" name="Text 27"/>
          <p:cNvSpPr/>
          <p:nvPr/>
        </p:nvSpPr>
        <p:spPr>
          <a:xfrm>
            <a:off x="7414379" y="7159585"/>
            <a:ext cx="642223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What is in the pack and how to proceed with your security review.</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723668"/>
            <a:ext cx="1860471" cy="373142"/>
          </a:xfrm>
          <a:prstGeom prst="roundRect">
            <a:avLst>
              <a:gd name="adj" fmla="val 6383"/>
            </a:avLst>
          </a:prstGeom>
          <a:solidFill>
            <a:srgbClr val="CCD7FF"/>
          </a:solidFill>
          <a:ln/>
        </p:spPr>
      </p:sp>
      <p:sp>
        <p:nvSpPr>
          <p:cNvPr id="3" name="Text 1"/>
          <p:cNvSpPr/>
          <p:nvPr/>
        </p:nvSpPr>
        <p:spPr>
          <a:xfrm>
            <a:off x="912852" y="1783199"/>
            <a:ext cx="1622346"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EXECUTIVE SUMMARY</a:t>
            </a:r>
            <a:endParaRPr lang="en-US" sz="1250" dirty="0"/>
          </a:p>
        </p:txBody>
      </p:sp>
      <p:sp>
        <p:nvSpPr>
          <p:cNvPr id="4" name="Text 2"/>
          <p:cNvSpPr/>
          <p:nvPr/>
        </p:nvSpPr>
        <p:spPr>
          <a:xfrm>
            <a:off x="793790" y="2176105"/>
            <a:ext cx="8168283"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Three Things Your Team Needs to Know</a:t>
            </a:r>
            <a:endParaRPr lang="en-US" sz="3900" dirty="0"/>
          </a:p>
        </p:txBody>
      </p:sp>
      <p:sp>
        <p:nvSpPr>
          <p:cNvPr id="5" name="Shape 3"/>
          <p:cNvSpPr/>
          <p:nvPr/>
        </p:nvSpPr>
        <p:spPr>
          <a:xfrm>
            <a:off x="793790" y="3093839"/>
            <a:ext cx="4215289" cy="3411974"/>
          </a:xfrm>
          <a:prstGeom prst="roundRect">
            <a:avLst>
              <a:gd name="adj" fmla="val 3216"/>
            </a:avLst>
          </a:prstGeom>
          <a:solidFill>
            <a:srgbClr val="FFFFFF"/>
          </a:solidFill>
          <a:ln w="22860">
            <a:solidFill>
              <a:srgbClr val="D8D4D4"/>
            </a:solidFill>
            <a:prstDash val="solid"/>
          </a:ln>
        </p:spPr>
      </p:sp>
      <p:sp>
        <p:nvSpPr>
          <p:cNvPr id="6" name="Shape 4"/>
          <p:cNvSpPr/>
          <p:nvPr/>
        </p:nvSpPr>
        <p:spPr>
          <a:xfrm>
            <a:off x="770930" y="3093839"/>
            <a:ext cx="91440" cy="3411974"/>
          </a:xfrm>
          <a:prstGeom prst="roundRect">
            <a:avLst>
              <a:gd name="adj" fmla="val 32558"/>
            </a:avLst>
          </a:prstGeom>
          <a:solidFill>
            <a:srgbClr val="2150FE"/>
          </a:solidFill>
          <a:ln/>
        </p:spPr>
      </p:sp>
      <p:sp>
        <p:nvSpPr>
          <p:cNvPr id="7" name="Text 5"/>
          <p:cNvSpPr/>
          <p:nvPr/>
        </p:nvSpPr>
        <p:spPr>
          <a:xfrm>
            <a:off x="1083588" y="331505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 SaaS Offer</a:t>
            </a:r>
            <a:endParaRPr lang="en-US" sz="1950" dirty="0"/>
          </a:p>
        </p:txBody>
      </p:sp>
      <p:sp>
        <p:nvSpPr>
          <p:cNvPr id="8" name="Text 6"/>
          <p:cNvSpPr/>
          <p:nvPr/>
        </p:nvSpPr>
        <p:spPr>
          <a:xfrm>
            <a:off x="1083588" y="3744278"/>
            <a:ext cx="3704273" cy="190523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papAI / Agentium runs as 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containerised platform</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on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OVHcloud Managed Kubernetes (MKS)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in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EU data centres (France)</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The architecture is designed to meet enterprise procurement and internal assurance requirements from day one.</a:t>
            </a:r>
            <a:endParaRPr lang="en-US" sz="1550" dirty="0"/>
          </a:p>
        </p:txBody>
      </p:sp>
      <p:sp>
        <p:nvSpPr>
          <p:cNvPr id="9" name="Shape 7"/>
          <p:cNvSpPr/>
          <p:nvPr/>
        </p:nvSpPr>
        <p:spPr>
          <a:xfrm>
            <a:off x="5207437" y="3093839"/>
            <a:ext cx="4215408" cy="3411974"/>
          </a:xfrm>
          <a:prstGeom prst="roundRect">
            <a:avLst>
              <a:gd name="adj" fmla="val 3216"/>
            </a:avLst>
          </a:prstGeom>
          <a:solidFill>
            <a:srgbClr val="FFFFFF"/>
          </a:solidFill>
          <a:ln w="22860">
            <a:solidFill>
              <a:srgbClr val="D8D4D4"/>
            </a:solidFill>
            <a:prstDash val="solid"/>
          </a:ln>
        </p:spPr>
      </p:sp>
      <p:sp>
        <p:nvSpPr>
          <p:cNvPr id="10" name="Shape 8"/>
          <p:cNvSpPr/>
          <p:nvPr/>
        </p:nvSpPr>
        <p:spPr>
          <a:xfrm>
            <a:off x="5184577" y="3093839"/>
            <a:ext cx="91440" cy="3411974"/>
          </a:xfrm>
          <a:prstGeom prst="roundRect">
            <a:avLst>
              <a:gd name="adj" fmla="val 32558"/>
            </a:avLst>
          </a:prstGeom>
          <a:solidFill>
            <a:srgbClr val="2150FE"/>
          </a:solidFill>
          <a:ln/>
        </p:spPr>
      </p:sp>
      <p:sp>
        <p:nvSpPr>
          <p:cNvPr id="11" name="Text 9"/>
          <p:cNvSpPr/>
          <p:nvPr/>
        </p:nvSpPr>
        <p:spPr>
          <a:xfrm>
            <a:off x="5497235" y="3315057"/>
            <a:ext cx="2602944"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 Compliance Narrative</a:t>
            </a:r>
            <a:endParaRPr lang="en-US" sz="1950" dirty="0"/>
          </a:p>
        </p:txBody>
      </p:sp>
      <p:sp>
        <p:nvSpPr>
          <p:cNvPr id="12" name="Text 10"/>
          <p:cNvSpPr/>
          <p:nvPr/>
        </p:nvSpPr>
        <p:spPr>
          <a:xfrm>
            <a:off x="5497235" y="3744278"/>
            <a:ext cx="3704392" cy="222277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The deployment is structured against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ISO/IEC 27001:2022 (Annex A)</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with 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clear shared-responsibility model</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OVHcloud</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owns infrastructure assurance,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Datategy</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owns platform and security operations, and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you</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retain control over business data, accounts, and policies.</a:t>
            </a:r>
            <a:endParaRPr lang="en-US" sz="1550" dirty="0"/>
          </a:p>
        </p:txBody>
      </p:sp>
      <p:sp>
        <p:nvSpPr>
          <p:cNvPr id="13" name="Shape 11"/>
          <p:cNvSpPr/>
          <p:nvPr/>
        </p:nvSpPr>
        <p:spPr>
          <a:xfrm>
            <a:off x="9621203" y="3093839"/>
            <a:ext cx="4215289" cy="3411974"/>
          </a:xfrm>
          <a:prstGeom prst="roundRect">
            <a:avLst>
              <a:gd name="adj" fmla="val 3216"/>
            </a:avLst>
          </a:prstGeom>
          <a:solidFill>
            <a:srgbClr val="FFFFFF"/>
          </a:solidFill>
          <a:ln w="22860">
            <a:solidFill>
              <a:srgbClr val="D8D4D4"/>
            </a:solidFill>
            <a:prstDash val="solid"/>
          </a:ln>
        </p:spPr>
      </p:sp>
      <p:sp>
        <p:nvSpPr>
          <p:cNvPr id="14" name="Shape 12"/>
          <p:cNvSpPr/>
          <p:nvPr/>
        </p:nvSpPr>
        <p:spPr>
          <a:xfrm>
            <a:off x="9598343" y="3093839"/>
            <a:ext cx="91440" cy="3411974"/>
          </a:xfrm>
          <a:prstGeom prst="roundRect">
            <a:avLst>
              <a:gd name="adj" fmla="val 32558"/>
            </a:avLst>
          </a:prstGeom>
          <a:solidFill>
            <a:srgbClr val="2150FE"/>
          </a:solidFill>
          <a:ln/>
        </p:spPr>
      </p:sp>
      <p:sp>
        <p:nvSpPr>
          <p:cNvPr id="15" name="Text 13"/>
          <p:cNvSpPr/>
          <p:nvPr/>
        </p:nvSpPr>
        <p:spPr>
          <a:xfrm>
            <a:off x="9911001" y="331505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 Trust Basis</a:t>
            </a:r>
            <a:endParaRPr lang="en-US" sz="1950" dirty="0"/>
          </a:p>
        </p:txBody>
      </p:sp>
      <p:sp>
        <p:nvSpPr>
          <p:cNvPr id="16" name="Text 14"/>
          <p:cNvSpPr/>
          <p:nvPr/>
        </p:nvSpPr>
        <p:spPr>
          <a:xfrm>
            <a:off x="9911001" y="3744278"/>
            <a:ext cx="3704273" cy="2540318"/>
          </a:xfrm>
          <a:prstGeom prst="rect">
            <a:avLst/>
          </a:prstGeom>
          <a:noFill/>
          <a:ln/>
        </p:spPr>
        <p:txBody>
          <a:bodyPr wrap="squar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OVHcloud</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publishes a broad public compliance catalogue (ISO 27001 / 27017 / 27018 / 27701, HDS, SecNumCloud, SOC, PCI-DSS, and more).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Datategy</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supplements this with a delivery pack comprising PAS, BCP, DR plans, privacy documentation, DPA, SLA, and security training materials.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618411"/>
            <a:ext cx="1782842" cy="388382"/>
          </a:xfrm>
          <a:prstGeom prst="roundRect">
            <a:avLst>
              <a:gd name="adj" fmla="val 6132"/>
            </a:avLst>
          </a:prstGeom>
          <a:noFill/>
          <a:ln w="7620">
            <a:solidFill>
              <a:srgbClr val="2150FE"/>
            </a:solidFill>
            <a:prstDash val="solid"/>
          </a:ln>
        </p:spPr>
      </p:sp>
      <p:sp>
        <p:nvSpPr>
          <p:cNvPr id="3" name="Text 1"/>
          <p:cNvSpPr/>
          <p:nvPr/>
        </p:nvSpPr>
        <p:spPr>
          <a:xfrm>
            <a:off x="920472" y="685562"/>
            <a:ext cx="1529477" cy="254079"/>
          </a:xfrm>
          <a:prstGeom prst="rect">
            <a:avLst/>
          </a:prstGeom>
          <a:noFill/>
          <a:ln/>
        </p:spPr>
        <p:txBody>
          <a:bodyPr wrap="none" lIns="0" tIns="0" rIns="0" bIns="0" rtlCol="0" anchor="t"/>
          <a:lstStyle/>
          <a:p>
            <a:pPr algn="l" indent="0" marL="0">
              <a:lnSpc>
                <a:spcPts val="2000"/>
              </a:lnSpc>
              <a:buNone/>
            </a:pPr>
            <a:r>
              <a:rPr lang="en-US" sz="1250" dirty="0">
                <a:solidFill>
                  <a:srgbClr val="2150FE"/>
                </a:solidFill>
                <a:latin typeface="Heebo" pitchFamily="34" charset="0"/>
                <a:ea typeface="Heebo" pitchFamily="34" charset="-122"/>
                <a:cs typeface="Heebo" pitchFamily="34" charset="-120"/>
              </a:rPr>
              <a:t>VALUE PROPOSITION</a:t>
            </a:r>
            <a:endParaRPr lang="en-US" sz="1250" dirty="0"/>
          </a:p>
        </p:txBody>
      </p:sp>
      <p:sp>
        <p:nvSpPr>
          <p:cNvPr id="4" name="Text 2"/>
          <p:cNvSpPr/>
          <p:nvPr/>
        </p:nvSpPr>
        <p:spPr>
          <a:xfrm>
            <a:off x="793790" y="1086088"/>
            <a:ext cx="672453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SaaS Value for Your Organisation</a:t>
            </a:r>
            <a:endParaRPr lang="en-US" sz="3900" dirty="0"/>
          </a:p>
        </p:txBody>
      </p:sp>
      <p:sp>
        <p:nvSpPr>
          <p:cNvPr id="5" name="Text 3"/>
          <p:cNvSpPr/>
          <p:nvPr/>
        </p:nvSpPr>
        <p:spPr>
          <a:xfrm>
            <a:off x="793790" y="200382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papAI / Agentium is designed to reduce operational burden whilst meeting the stringent data sovereignty, security transparency, and AI governance requirements of enterprise organisations.</a:t>
            </a:r>
            <a:endParaRPr lang="en-US" sz="1550" dirty="0"/>
          </a:p>
        </p:txBody>
      </p:sp>
      <p:sp>
        <p:nvSpPr>
          <p:cNvPr id="6" name="Shape 4"/>
          <p:cNvSpPr/>
          <p:nvPr/>
        </p:nvSpPr>
        <p:spPr>
          <a:xfrm>
            <a:off x="793790" y="2862143"/>
            <a:ext cx="13042821" cy="4748927"/>
          </a:xfrm>
          <a:prstGeom prst="roundRect">
            <a:avLst>
              <a:gd name="adj" fmla="val 627"/>
            </a:avLst>
          </a:prstGeom>
          <a:noFill/>
          <a:ln w="7620">
            <a:solidFill>
              <a:srgbClr val="000000">
                <a:alpha val="8000"/>
              </a:srgbClr>
            </a:solidFill>
            <a:prstDash val="solid"/>
          </a:ln>
        </p:spPr>
      </p:sp>
      <p:sp>
        <p:nvSpPr>
          <p:cNvPr id="7" name="Text 5"/>
          <p:cNvSpPr/>
          <p:nvPr/>
        </p:nvSpPr>
        <p:spPr>
          <a:xfrm>
            <a:off x="999887" y="2996446"/>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Dimension</a:t>
            </a:r>
            <a:endParaRPr lang="en-US" sz="1550" dirty="0"/>
          </a:p>
        </p:txBody>
      </p:sp>
      <p:sp>
        <p:nvSpPr>
          <p:cNvPr id="8" name="Text 6"/>
          <p:cNvSpPr/>
          <p:nvPr/>
        </p:nvSpPr>
        <p:spPr>
          <a:xfrm>
            <a:off x="4260533" y="2996446"/>
            <a:ext cx="9370100"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What You Get</a:t>
            </a:r>
            <a:endParaRPr lang="en-US" sz="1550" dirty="0"/>
          </a:p>
        </p:txBody>
      </p:sp>
      <p:sp>
        <p:nvSpPr>
          <p:cNvPr id="9" name="Text 7"/>
          <p:cNvSpPr/>
          <p:nvPr/>
        </p:nvSpPr>
        <p:spPr>
          <a:xfrm>
            <a:off x="999887" y="3574971"/>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2150FE"/>
                </a:solidFill>
                <a:latin typeface="Heebo" pitchFamily="34" charset="0"/>
                <a:ea typeface="Heebo" pitchFamily="34" charset="-122"/>
                <a:cs typeface="Heebo" pitchFamily="34" charset="-120"/>
              </a:rPr>
              <a:t>Sovereignty &amp; Residency</a:t>
            </a:r>
            <a:endParaRPr lang="en-US" sz="1550" dirty="0"/>
          </a:p>
        </p:txBody>
      </p:sp>
      <p:sp>
        <p:nvSpPr>
          <p:cNvPr id="10" name="Text 8"/>
          <p:cNvSpPr/>
          <p:nvPr/>
        </p:nvSpPr>
        <p:spPr>
          <a:xfrm>
            <a:off x="4260533" y="3574971"/>
            <a:ext cx="9370100"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Workloads and data in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EU (France)</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by default; full EU legal framework governing the entire hosting chain.</a:t>
            </a:r>
            <a:endParaRPr lang="en-US" sz="1550" dirty="0"/>
          </a:p>
        </p:txBody>
      </p:sp>
      <p:sp>
        <p:nvSpPr>
          <p:cNvPr id="11" name="Text 9"/>
          <p:cNvSpPr/>
          <p:nvPr/>
        </p:nvSpPr>
        <p:spPr>
          <a:xfrm>
            <a:off x="999887" y="4153495"/>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2150FE"/>
                </a:solidFill>
                <a:latin typeface="Heebo" pitchFamily="34" charset="0"/>
                <a:ea typeface="Heebo" pitchFamily="34" charset="-122"/>
                <a:cs typeface="Heebo" pitchFamily="34" charset="-120"/>
              </a:rPr>
              <a:t>Operational Burden</a:t>
            </a:r>
            <a:endParaRPr lang="en-US" sz="1550" dirty="0"/>
          </a:p>
        </p:txBody>
      </p:sp>
      <p:sp>
        <p:nvSpPr>
          <p:cNvPr id="12" name="Text 10"/>
          <p:cNvSpPr/>
          <p:nvPr/>
        </p:nvSpPr>
        <p:spPr>
          <a:xfrm>
            <a:off x="4260533" y="4153495"/>
            <a:ext cx="9370100" cy="635079"/>
          </a:xfrm>
          <a:prstGeom prst="rect">
            <a:avLst/>
          </a:prstGeom>
          <a:noFill/>
          <a:ln/>
        </p:spPr>
        <p:txBody>
          <a:bodyPr wrap="squar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Managed Kubernetes control plane</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provided by OVHcloud; Datategy operates the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application plane</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 covering releases, monitoring, and backups.</a:t>
            </a:r>
            <a:endParaRPr lang="en-US" sz="1550" dirty="0"/>
          </a:p>
        </p:txBody>
      </p:sp>
      <p:sp>
        <p:nvSpPr>
          <p:cNvPr id="13" name="Text 11"/>
          <p:cNvSpPr/>
          <p:nvPr/>
        </p:nvSpPr>
        <p:spPr>
          <a:xfrm>
            <a:off x="999887" y="5049560"/>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2150FE"/>
                </a:solidFill>
                <a:latin typeface="Heebo" pitchFamily="34" charset="0"/>
                <a:ea typeface="Heebo" pitchFamily="34" charset="-122"/>
                <a:cs typeface="Heebo" pitchFamily="34" charset="-120"/>
              </a:rPr>
              <a:t>Security Transparency</a:t>
            </a:r>
            <a:endParaRPr lang="en-US" sz="1550" dirty="0"/>
          </a:p>
        </p:txBody>
      </p:sp>
      <p:sp>
        <p:nvSpPr>
          <p:cNvPr id="14" name="Text 12"/>
          <p:cNvSpPr/>
          <p:nvPr/>
        </p:nvSpPr>
        <p:spPr>
          <a:xfrm>
            <a:off x="4260533" y="5049560"/>
            <a:ext cx="9370100" cy="635079"/>
          </a:xfrm>
          <a:prstGeom prst="rect">
            <a:avLst/>
          </a:prstGeom>
          <a:noFill/>
          <a:ln/>
        </p:spPr>
        <p:txBody>
          <a:bodyPr wrap="squar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Written policies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from Datategy combined with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OVHcloud's public compliance pages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all archived in the delivery pack for your review.</a:t>
            </a:r>
            <a:endParaRPr lang="en-US" sz="1550" dirty="0"/>
          </a:p>
        </p:txBody>
      </p:sp>
      <p:sp>
        <p:nvSpPr>
          <p:cNvPr id="15" name="Text 13"/>
          <p:cNvSpPr/>
          <p:nvPr/>
        </p:nvSpPr>
        <p:spPr>
          <a:xfrm>
            <a:off x="999887" y="5945624"/>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2150FE"/>
                </a:solidFill>
                <a:latin typeface="Heebo" pitchFamily="34" charset="0"/>
                <a:ea typeface="Heebo" pitchFamily="34" charset="-122"/>
                <a:cs typeface="Heebo" pitchFamily="34" charset="-120"/>
              </a:rPr>
              <a:t>AI Governance</a:t>
            </a:r>
            <a:endParaRPr lang="en-US" sz="1550" dirty="0"/>
          </a:p>
        </p:txBody>
      </p:sp>
      <p:sp>
        <p:nvSpPr>
          <p:cNvPr id="16" name="Text 14"/>
          <p:cNvSpPr/>
          <p:nvPr/>
        </p:nvSpPr>
        <p:spPr>
          <a:xfrm>
            <a:off x="4260533" y="5945624"/>
            <a:ext cx="9370100" cy="635079"/>
          </a:xfrm>
          <a:prstGeom prst="rect">
            <a:avLst/>
          </a:prstGeom>
          <a:noFill/>
          <a:ln/>
        </p:spPr>
        <p:txBody>
          <a:bodyPr wrap="squar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LLM and embedding inference runs on-cluster</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 prompts, completions, and vectors remain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inside your tenancy boundary</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in the standard configuration. No third-party AI API calls by default.</a:t>
            </a:r>
            <a:endParaRPr lang="en-US" sz="1550" dirty="0"/>
          </a:p>
        </p:txBody>
      </p:sp>
      <p:sp>
        <p:nvSpPr>
          <p:cNvPr id="17" name="Text 15"/>
          <p:cNvSpPr/>
          <p:nvPr/>
        </p:nvSpPr>
        <p:spPr>
          <a:xfrm>
            <a:off x="999887" y="6841688"/>
            <a:ext cx="2856309" cy="317540"/>
          </a:xfrm>
          <a:prstGeom prst="rect">
            <a:avLst/>
          </a:prstGeom>
          <a:noFill/>
          <a:ln/>
        </p:spPr>
        <p:txBody>
          <a:bodyPr wrap="none" lIns="0" tIns="0" rIns="0" bIns="0" rtlCol="0" anchor="t"/>
          <a:lstStyle/>
          <a:p>
            <a:pPr algn="l" indent="0" marL="0">
              <a:lnSpc>
                <a:spcPts val="2500"/>
              </a:lnSpc>
              <a:buNone/>
            </a:pPr>
            <a:r>
              <a:rPr lang="en-US" sz="1550" b="1" dirty="0">
                <a:solidFill>
                  <a:srgbClr val="2150FE"/>
                </a:solidFill>
                <a:latin typeface="Heebo" pitchFamily="34" charset="0"/>
                <a:ea typeface="Heebo" pitchFamily="34" charset="-122"/>
                <a:cs typeface="Heebo" pitchFamily="34" charset="-120"/>
              </a:rPr>
              <a:t>Contract Path</a:t>
            </a:r>
            <a:endParaRPr lang="en-US" sz="1550" dirty="0"/>
          </a:p>
        </p:txBody>
      </p:sp>
      <p:sp>
        <p:nvSpPr>
          <p:cNvPr id="18" name="Text 16"/>
          <p:cNvSpPr/>
          <p:nvPr/>
        </p:nvSpPr>
        <p:spPr>
          <a:xfrm>
            <a:off x="4260533" y="6841688"/>
            <a:ext cx="9370100"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Datategy acts as your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Art. 28 GDPR processor</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sub-processor documentation for OVHcloud is included in the public materials pack.</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685800"/>
            <a:ext cx="1203008" cy="348377"/>
          </a:xfrm>
          <a:prstGeom prst="roundRect">
            <a:avLst>
              <a:gd name="adj" fmla="val 6495"/>
            </a:avLst>
          </a:prstGeom>
          <a:solidFill>
            <a:srgbClr val="CCD7FF"/>
          </a:solidFill>
          <a:ln/>
        </p:spPr>
      </p:sp>
      <p:sp>
        <p:nvSpPr>
          <p:cNvPr id="3" name="Text 1"/>
          <p:cNvSpPr/>
          <p:nvPr/>
        </p:nvSpPr>
        <p:spPr>
          <a:xfrm>
            <a:off x="906899" y="742355"/>
            <a:ext cx="976789" cy="235268"/>
          </a:xfrm>
          <a:prstGeom prst="rect">
            <a:avLst/>
          </a:prstGeom>
          <a:noFill/>
          <a:ln/>
        </p:spPr>
        <p:txBody>
          <a:bodyPr wrap="none" lIns="0" tIns="0" rIns="0" bIns="0" rtlCol="0" anchor="t"/>
          <a:lstStyle/>
          <a:p>
            <a:pPr algn="l" indent="0" marL="0">
              <a:lnSpc>
                <a:spcPts val="1850"/>
              </a:lnSpc>
              <a:buNone/>
            </a:pPr>
            <a:r>
              <a:rPr lang="en-US" sz="1150" dirty="0">
                <a:solidFill>
                  <a:srgbClr val="4C4C4D"/>
                </a:solidFill>
                <a:latin typeface="Heebo" pitchFamily="34" charset="0"/>
                <a:ea typeface="Heebo" pitchFamily="34" charset="-122"/>
                <a:cs typeface="Heebo" pitchFamily="34" charset="-120"/>
              </a:rPr>
              <a:t>GOVERNANCE</a:t>
            </a:r>
            <a:endParaRPr lang="en-US" sz="1150" dirty="0"/>
          </a:p>
        </p:txBody>
      </p:sp>
      <p:sp>
        <p:nvSpPr>
          <p:cNvPr id="4" name="Text 2"/>
          <p:cNvSpPr/>
          <p:nvPr/>
        </p:nvSpPr>
        <p:spPr>
          <a:xfrm>
            <a:off x="793790" y="1105733"/>
            <a:ext cx="5564862" cy="589121"/>
          </a:xfrm>
          <a:prstGeom prst="rect">
            <a:avLst/>
          </a:prstGeom>
          <a:noFill/>
          <a:ln/>
        </p:spPr>
        <p:txBody>
          <a:bodyPr wrap="none" lIns="0" tIns="0" rIns="0" bIns="0" rtlCol="0" anchor="t"/>
          <a:lstStyle/>
          <a:p>
            <a:pPr algn="l" indent="0" marL="0">
              <a:lnSpc>
                <a:spcPts val="4600"/>
              </a:lnSpc>
              <a:buNone/>
            </a:pPr>
            <a:r>
              <a:rPr lang="en-US" sz="3700" dirty="0">
                <a:solidFill>
                  <a:srgbClr val="152D47"/>
                </a:solidFill>
                <a:latin typeface="Crimson Pro Semi Bold" pitchFamily="34" charset="0"/>
                <a:ea typeface="Crimson Pro Semi Bold" pitchFamily="34" charset="-122"/>
                <a:cs typeface="Crimson Pro Semi Bold" pitchFamily="34" charset="-120"/>
              </a:rPr>
              <a:t>Shared Responsibility Model</a:t>
            </a:r>
            <a:endParaRPr lang="en-US" sz="3700" dirty="0"/>
          </a:p>
        </p:txBody>
      </p:sp>
      <p:sp>
        <p:nvSpPr>
          <p:cNvPr id="5" name="Text 3"/>
          <p:cNvSpPr/>
          <p:nvPr/>
        </p:nvSpPr>
        <p:spPr>
          <a:xfrm>
            <a:off x="793790" y="1963460"/>
            <a:ext cx="13042821"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Clarity on who owns what is the foundation of enterprise assurance. The table below defines accountability across each layer of the stack — so your team knows exactly where OVHcloud obligations end and where Datategy and your own responsibilities begin.</a:t>
            </a:r>
            <a:endParaRPr lang="en-US" sz="1450" dirty="0"/>
          </a:p>
        </p:txBody>
      </p:sp>
      <p:sp>
        <p:nvSpPr>
          <p:cNvPr id="6" name="Shape 4"/>
          <p:cNvSpPr/>
          <p:nvPr/>
        </p:nvSpPr>
        <p:spPr>
          <a:xfrm>
            <a:off x="793790" y="2753320"/>
            <a:ext cx="13042821" cy="3813215"/>
          </a:xfrm>
          <a:prstGeom prst="roundRect">
            <a:avLst>
              <a:gd name="adj" fmla="val 742"/>
            </a:avLst>
          </a:prstGeom>
          <a:noFill/>
          <a:ln w="7620">
            <a:solidFill>
              <a:srgbClr val="000000">
                <a:alpha val="8000"/>
              </a:srgbClr>
            </a:solidFill>
            <a:prstDash val="solid"/>
          </a:ln>
        </p:spPr>
      </p:sp>
      <p:sp>
        <p:nvSpPr>
          <p:cNvPr id="7" name="Shape 5"/>
          <p:cNvSpPr/>
          <p:nvPr/>
        </p:nvSpPr>
        <p:spPr>
          <a:xfrm>
            <a:off x="801410" y="2760940"/>
            <a:ext cx="13027581" cy="524232"/>
          </a:xfrm>
          <a:prstGeom prst="rect">
            <a:avLst/>
          </a:prstGeom>
          <a:solidFill>
            <a:srgbClr val="FFFFFF">
              <a:alpha val="4000"/>
            </a:srgbClr>
          </a:solidFill>
          <a:ln/>
        </p:spPr>
      </p:sp>
      <p:sp>
        <p:nvSpPr>
          <p:cNvPr id="8" name="Text 6"/>
          <p:cNvSpPr/>
          <p:nvPr/>
        </p:nvSpPr>
        <p:spPr>
          <a:xfrm>
            <a:off x="990005" y="2875955"/>
            <a:ext cx="3266956" cy="294203"/>
          </a:xfrm>
          <a:prstGeom prst="rect">
            <a:avLst/>
          </a:prstGeom>
          <a:noFill/>
          <a:ln/>
        </p:spPr>
        <p:txBody>
          <a:bodyPr wrap="none" lIns="0" tIns="0" rIns="0" bIns="0" rtlCol="0" anchor="t"/>
          <a:lstStyle/>
          <a:p>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Layer</a:t>
            </a:r>
            <a:endParaRPr lang="en-US" sz="1450" dirty="0"/>
          </a:p>
        </p:txBody>
      </p:sp>
      <p:sp>
        <p:nvSpPr>
          <p:cNvPr id="9" name="Text 7"/>
          <p:cNvSpPr/>
          <p:nvPr/>
        </p:nvSpPr>
        <p:spPr>
          <a:xfrm>
            <a:off x="4641533" y="2875955"/>
            <a:ext cx="3523655" cy="294203"/>
          </a:xfrm>
          <a:prstGeom prst="rect">
            <a:avLst/>
          </a:prstGeom>
          <a:noFill/>
          <a:ln/>
        </p:spPr>
        <p:txBody>
          <a:bodyPr wrap="none" lIns="0" tIns="0" rIns="0" bIns="0" rtlCol="0" anchor="t"/>
          <a:lstStyle/>
          <a:p>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Who Runs It</a:t>
            </a:r>
            <a:endParaRPr lang="en-US" sz="1450" dirty="0"/>
          </a:p>
        </p:txBody>
      </p:sp>
      <p:sp>
        <p:nvSpPr>
          <p:cNvPr id="10" name="Text 8"/>
          <p:cNvSpPr/>
          <p:nvPr/>
        </p:nvSpPr>
        <p:spPr>
          <a:xfrm>
            <a:off x="8549759" y="2875955"/>
            <a:ext cx="5090755" cy="294203"/>
          </a:xfrm>
          <a:prstGeom prst="rect">
            <a:avLst/>
          </a:prstGeom>
          <a:noFill/>
          <a:ln/>
        </p:spPr>
        <p:txBody>
          <a:bodyPr wrap="none" lIns="0" tIns="0" rIns="0" bIns="0" rtlCol="0" anchor="t"/>
          <a:lstStyle/>
          <a:p>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What They Prove</a:t>
            </a:r>
            <a:endParaRPr lang="en-US" sz="1450" dirty="0"/>
          </a:p>
        </p:txBody>
      </p:sp>
      <p:sp>
        <p:nvSpPr>
          <p:cNvPr id="11" name="Shape 9"/>
          <p:cNvSpPr/>
          <p:nvPr/>
        </p:nvSpPr>
        <p:spPr>
          <a:xfrm>
            <a:off x="801410" y="3285173"/>
            <a:ext cx="13027581" cy="818436"/>
          </a:xfrm>
          <a:prstGeom prst="rect">
            <a:avLst/>
          </a:prstGeom>
          <a:solidFill>
            <a:srgbClr val="000000">
              <a:alpha val="4000"/>
            </a:srgbClr>
          </a:solidFill>
          <a:ln/>
        </p:spPr>
      </p:sp>
      <p:sp>
        <p:nvSpPr>
          <p:cNvPr id="12" name="Text 10"/>
          <p:cNvSpPr/>
          <p:nvPr/>
        </p:nvSpPr>
        <p:spPr>
          <a:xfrm>
            <a:off x="990005" y="3400187"/>
            <a:ext cx="3266956" cy="588407"/>
          </a:xfrm>
          <a:prstGeom prst="rect">
            <a:avLst/>
          </a:prstGeom>
          <a:noFill/>
          <a:ln/>
        </p:spPr>
        <p:txBody>
          <a:bodyPr wrap="square" lIns="0" tIns="0" rIns="0" bIns="0" rtlCol="0" anchor="t"/>
          <a:lstStyle/>
          <a:p>
            <a:pPr algn="l" indent="0" marL="0">
              <a:lnSpc>
                <a:spcPts val="2300"/>
              </a:lnSpc>
              <a:buNone/>
            </a:pPr>
            <a:r>
              <a:rPr lang="en-US" sz="1450" b="1" dirty="0">
                <a:solidFill>
                  <a:srgbClr val="2150FE"/>
                </a:solidFill>
                <a:latin typeface="Heebo" pitchFamily="34" charset="0"/>
                <a:ea typeface="Heebo" pitchFamily="34" charset="-122"/>
                <a:cs typeface="Heebo" pitchFamily="34" charset="-120"/>
              </a:rPr>
              <a:t>Physical DC, Power, Cooling &amp; Network</a:t>
            </a:r>
            <a:endParaRPr lang="en-US" sz="1450" dirty="0"/>
          </a:p>
        </p:txBody>
      </p:sp>
      <p:sp>
        <p:nvSpPr>
          <p:cNvPr id="13" name="Text 11"/>
          <p:cNvSpPr/>
          <p:nvPr/>
        </p:nvSpPr>
        <p:spPr>
          <a:xfrm>
            <a:off x="4641533" y="3400187"/>
            <a:ext cx="3523655" cy="294203"/>
          </a:xfrm>
          <a:prstGeom prst="rect">
            <a:avLst/>
          </a:prstGeom>
          <a:noFill/>
          <a:ln/>
        </p:spPr>
        <p:txBody>
          <a:bodyPr wrap="non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OVHcloud</a:t>
            </a:r>
            <a:endParaRPr lang="en-US" sz="1450" dirty="0"/>
          </a:p>
        </p:txBody>
      </p:sp>
      <p:sp>
        <p:nvSpPr>
          <p:cNvPr id="14" name="Text 12"/>
          <p:cNvSpPr/>
          <p:nvPr/>
        </p:nvSpPr>
        <p:spPr>
          <a:xfrm>
            <a:off x="8549759" y="3400187"/>
            <a:ext cx="5090755"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ISO 27001 family, HDS, SecNumCloud (where applicable), SOC programme, PCI-DSS, and more.</a:t>
            </a:r>
            <a:endParaRPr lang="en-US" sz="1450" dirty="0"/>
          </a:p>
        </p:txBody>
      </p:sp>
      <p:sp>
        <p:nvSpPr>
          <p:cNvPr id="15" name="Shape 13"/>
          <p:cNvSpPr/>
          <p:nvPr/>
        </p:nvSpPr>
        <p:spPr>
          <a:xfrm>
            <a:off x="801410" y="4103608"/>
            <a:ext cx="13027581" cy="818436"/>
          </a:xfrm>
          <a:prstGeom prst="rect">
            <a:avLst/>
          </a:prstGeom>
          <a:solidFill>
            <a:srgbClr val="FFFFFF">
              <a:alpha val="4000"/>
            </a:srgbClr>
          </a:solidFill>
          <a:ln/>
        </p:spPr>
      </p:sp>
      <p:sp>
        <p:nvSpPr>
          <p:cNvPr id="16" name="Text 14"/>
          <p:cNvSpPr/>
          <p:nvPr/>
        </p:nvSpPr>
        <p:spPr>
          <a:xfrm>
            <a:off x="990005" y="4218623"/>
            <a:ext cx="3266956" cy="294203"/>
          </a:xfrm>
          <a:prstGeom prst="rect">
            <a:avLst/>
          </a:prstGeom>
          <a:noFill/>
          <a:ln/>
        </p:spPr>
        <p:txBody>
          <a:bodyPr wrap="none" lIns="0" tIns="0" rIns="0" bIns="0" rtlCol="0" anchor="t"/>
          <a:lstStyle/>
          <a:p>
            <a:pPr algn="l" indent="0" marL="0">
              <a:lnSpc>
                <a:spcPts val="2300"/>
              </a:lnSpc>
              <a:buNone/>
            </a:pPr>
            <a:r>
              <a:rPr lang="en-US" sz="1450" b="1" dirty="0">
                <a:solidFill>
                  <a:srgbClr val="2150FE"/>
                </a:solidFill>
                <a:latin typeface="Heebo" pitchFamily="34" charset="0"/>
                <a:ea typeface="Heebo" pitchFamily="34" charset="-122"/>
                <a:cs typeface="Heebo" pitchFamily="34" charset="-120"/>
              </a:rPr>
              <a:t>Kubernetes Control Plane (MKS)</a:t>
            </a:r>
            <a:endParaRPr lang="en-US" sz="1450" dirty="0"/>
          </a:p>
        </p:txBody>
      </p:sp>
      <p:sp>
        <p:nvSpPr>
          <p:cNvPr id="17" name="Text 15"/>
          <p:cNvSpPr/>
          <p:nvPr/>
        </p:nvSpPr>
        <p:spPr>
          <a:xfrm>
            <a:off x="4641533" y="4218623"/>
            <a:ext cx="3523655" cy="294203"/>
          </a:xfrm>
          <a:prstGeom prst="rect">
            <a:avLst/>
          </a:prstGeom>
          <a:noFill/>
          <a:ln/>
        </p:spPr>
        <p:txBody>
          <a:bodyPr wrap="non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OVHcloud</a:t>
            </a:r>
            <a:endParaRPr lang="en-US" sz="1450" dirty="0"/>
          </a:p>
        </p:txBody>
      </p:sp>
      <p:sp>
        <p:nvSpPr>
          <p:cNvPr id="18" name="Text 16"/>
          <p:cNvSpPr/>
          <p:nvPr/>
        </p:nvSpPr>
        <p:spPr>
          <a:xfrm>
            <a:off x="8549759" y="4218623"/>
            <a:ext cx="5090755"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Same compliance catalogue as above, plus product SLAs in public terms of service.</a:t>
            </a:r>
            <a:endParaRPr lang="en-US" sz="1450" dirty="0"/>
          </a:p>
        </p:txBody>
      </p:sp>
      <p:sp>
        <p:nvSpPr>
          <p:cNvPr id="19" name="Shape 17"/>
          <p:cNvSpPr/>
          <p:nvPr/>
        </p:nvSpPr>
        <p:spPr>
          <a:xfrm>
            <a:off x="801410" y="4922044"/>
            <a:ext cx="13027581" cy="818436"/>
          </a:xfrm>
          <a:prstGeom prst="rect">
            <a:avLst/>
          </a:prstGeom>
          <a:solidFill>
            <a:srgbClr val="000000">
              <a:alpha val="4000"/>
            </a:srgbClr>
          </a:solidFill>
          <a:ln/>
        </p:spPr>
      </p:sp>
      <p:sp>
        <p:nvSpPr>
          <p:cNvPr id="20" name="Text 18"/>
          <p:cNvSpPr/>
          <p:nvPr/>
        </p:nvSpPr>
        <p:spPr>
          <a:xfrm>
            <a:off x="990005" y="5037058"/>
            <a:ext cx="3266956" cy="588407"/>
          </a:xfrm>
          <a:prstGeom prst="rect">
            <a:avLst/>
          </a:prstGeom>
          <a:noFill/>
          <a:ln/>
        </p:spPr>
        <p:txBody>
          <a:bodyPr wrap="square" lIns="0" tIns="0" rIns="0" bIns="0" rtlCol="0" anchor="t"/>
          <a:lstStyle/>
          <a:p>
            <a:pPr algn="l" indent="0" marL="0">
              <a:lnSpc>
                <a:spcPts val="2300"/>
              </a:lnSpc>
              <a:buNone/>
            </a:pPr>
            <a:r>
              <a:rPr lang="en-US" sz="1450" b="1" dirty="0">
                <a:solidFill>
                  <a:srgbClr val="2150FE"/>
                </a:solidFill>
                <a:latin typeface="Heebo" pitchFamily="34" charset="0"/>
                <a:ea typeface="Heebo" pitchFamily="34" charset="-122"/>
                <a:cs typeface="Heebo" pitchFamily="34" charset="-120"/>
              </a:rPr>
              <a:t>Platform Workloads</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(ingress, mesh, app, data, secrets, local AI)</a:t>
            </a:r>
            <a:endParaRPr lang="en-US" sz="1450" dirty="0"/>
          </a:p>
        </p:txBody>
      </p:sp>
      <p:sp>
        <p:nvSpPr>
          <p:cNvPr id="21" name="Text 19"/>
          <p:cNvSpPr/>
          <p:nvPr/>
        </p:nvSpPr>
        <p:spPr>
          <a:xfrm>
            <a:off x="4641533" y="5037058"/>
            <a:ext cx="3523655" cy="294203"/>
          </a:xfrm>
          <a:prstGeom prst="rect">
            <a:avLst/>
          </a:prstGeom>
          <a:noFill/>
          <a:ln/>
        </p:spPr>
        <p:txBody>
          <a:bodyPr wrap="non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Datategy</a:t>
            </a:r>
            <a:endParaRPr lang="en-US" sz="1450" dirty="0"/>
          </a:p>
        </p:txBody>
      </p:sp>
      <p:sp>
        <p:nvSpPr>
          <p:cNvPr id="22" name="Text 20"/>
          <p:cNvSpPr/>
          <p:nvPr/>
        </p:nvSpPr>
        <p:spPr>
          <a:xfrm>
            <a:off x="8549759" y="5037058"/>
            <a:ext cx="5090755"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PAS, PCA/PRS (BCP/DR), secure SDLC, monitoring, incident management process.</a:t>
            </a:r>
            <a:endParaRPr lang="en-US" sz="1450" dirty="0"/>
          </a:p>
        </p:txBody>
      </p:sp>
      <p:sp>
        <p:nvSpPr>
          <p:cNvPr id="23" name="Shape 21"/>
          <p:cNvSpPr/>
          <p:nvPr/>
        </p:nvSpPr>
        <p:spPr>
          <a:xfrm>
            <a:off x="801410" y="5740479"/>
            <a:ext cx="13027581" cy="818436"/>
          </a:xfrm>
          <a:prstGeom prst="rect">
            <a:avLst/>
          </a:prstGeom>
          <a:solidFill>
            <a:srgbClr val="FFFFFF">
              <a:alpha val="4000"/>
            </a:srgbClr>
          </a:solidFill>
          <a:ln/>
        </p:spPr>
      </p:sp>
      <p:sp>
        <p:nvSpPr>
          <p:cNvPr id="24" name="Text 22"/>
          <p:cNvSpPr/>
          <p:nvPr/>
        </p:nvSpPr>
        <p:spPr>
          <a:xfrm>
            <a:off x="990005" y="5855494"/>
            <a:ext cx="3266956" cy="294203"/>
          </a:xfrm>
          <a:prstGeom prst="rect">
            <a:avLst/>
          </a:prstGeom>
          <a:noFill/>
          <a:ln/>
        </p:spPr>
        <p:txBody>
          <a:bodyPr wrap="none" lIns="0" tIns="0" rIns="0" bIns="0" rtlCol="0" anchor="t"/>
          <a:lstStyle/>
          <a:p>
            <a:pPr algn="l" indent="0" marL="0">
              <a:lnSpc>
                <a:spcPts val="2300"/>
              </a:lnSpc>
              <a:buNone/>
            </a:pPr>
            <a:r>
              <a:rPr lang="en-US" sz="1450" b="1" dirty="0">
                <a:solidFill>
                  <a:srgbClr val="2150FE"/>
                </a:solidFill>
                <a:latin typeface="Heebo" pitchFamily="34" charset="0"/>
                <a:ea typeface="Heebo" pitchFamily="34" charset="-122"/>
                <a:cs typeface="Heebo" pitchFamily="34" charset="-120"/>
              </a:rPr>
              <a:t>Tenant Content &amp; Access Policy</a:t>
            </a:r>
            <a:endParaRPr lang="en-US" sz="1450" dirty="0"/>
          </a:p>
        </p:txBody>
      </p:sp>
      <p:sp>
        <p:nvSpPr>
          <p:cNvPr id="25" name="Text 23"/>
          <p:cNvSpPr/>
          <p:nvPr/>
        </p:nvSpPr>
        <p:spPr>
          <a:xfrm>
            <a:off x="4641533" y="5855494"/>
            <a:ext cx="3523655" cy="294203"/>
          </a:xfrm>
          <a:prstGeom prst="rect">
            <a:avLst/>
          </a:prstGeom>
          <a:noFill/>
          <a:ln/>
        </p:spPr>
        <p:txBody>
          <a:bodyPr wrap="non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Customer</a:t>
            </a:r>
            <a:endParaRPr lang="en-US" sz="1450" dirty="0"/>
          </a:p>
        </p:txBody>
      </p:sp>
      <p:sp>
        <p:nvSpPr>
          <p:cNvPr id="26" name="Text 24"/>
          <p:cNvSpPr/>
          <p:nvPr/>
        </p:nvSpPr>
        <p:spPr>
          <a:xfrm>
            <a:off x="8549759" y="5855494"/>
            <a:ext cx="5090755"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Data classification, IAM policy, acceptable use, and SSO integration with your IdP.</a:t>
            </a:r>
            <a:endParaRPr lang="en-US" sz="1450" dirty="0"/>
          </a:p>
        </p:txBody>
      </p:sp>
      <p:sp>
        <p:nvSpPr>
          <p:cNvPr id="27" name="Shape 25"/>
          <p:cNvSpPr/>
          <p:nvPr/>
        </p:nvSpPr>
        <p:spPr>
          <a:xfrm>
            <a:off x="793790" y="6767989"/>
            <a:ext cx="13042821" cy="775692"/>
          </a:xfrm>
          <a:prstGeom prst="roundRect">
            <a:avLst>
              <a:gd name="adj" fmla="val 3646"/>
            </a:avLst>
          </a:prstGeom>
          <a:solidFill>
            <a:srgbClr val="B3C3FF"/>
          </a:solidFill>
          <a:ln/>
        </p:spPr>
      </p:sp>
      <p:pic>
        <p:nvPicPr>
          <p:cNvPr id="28" name="Image 0" descr="preencoded.png">    </p:cNvPr>
          <p:cNvPicPr>
            <a:picLocks noChangeAspect="1"/>
          </p:cNvPicPr>
          <p:nvPr/>
        </p:nvPicPr>
        <p:blipFill>
          <a:blip r:embed="rId1"/>
          <a:stretch>
            <a:fillRect/>
          </a:stretch>
        </p:blipFill>
        <p:spPr>
          <a:xfrm>
            <a:off x="982266" y="7044214"/>
            <a:ext cx="235625" cy="188476"/>
          </a:xfrm>
          <a:prstGeom prst="rect">
            <a:avLst/>
          </a:prstGeom>
        </p:spPr>
      </p:pic>
      <p:sp>
        <p:nvSpPr>
          <p:cNvPr id="29" name="Text 26"/>
          <p:cNvSpPr/>
          <p:nvPr/>
        </p:nvSpPr>
        <p:spPr>
          <a:xfrm>
            <a:off x="1406366" y="6994088"/>
            <a:ext cx="12241768" cy="294203"/>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Heebo" pitchFamily="34" charset="0"/>
                <a:ea typeface="Heebo" pitchFamily="34" charset="-122"/>
                <a:cs typeface="Heebo" pitchFamily="34" charset="-120"/>
              </a:rPr>
              <a:t>The shared-responsibility model is documented in full in the Word note and the Datategy PAS included in the delivery pack.</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81407" y="679013"/>
            <a:ext cx="1364456" cy="380524"/>
          </a:xfrm>
          <a:prstGeom prst="roundRect">
            <a:avLst>
              <a:gd name="adj" fmla="val 6161"/>
            </a:avLst>
          </a:prstGeom>
          <a:noFill/>
          <a:ln w="7620">
            <a:solidFill>
              <a:srgbClr val="2150FE"/>
            </a:solidFill>
            <a:prstDash val="solid"/>
          </a:ln>
        </p:spPr>
      </p:sp>
      <p:sp>
        <p:nvSpPr>
          <p:cNvPr id="3" name="Text 1"/>
          <p:cNvSpPr/>
          <p:nvPr/>
        </p:nvSpPr>
        <p:spPr>
          <a:xfrm>
            <a:off x="906185" y="745212"/>
            <a:ext cx="1114901" cy="248126"/>
          </a:xfrm>
          <a:prstGeom prst="rect">
            <a:avLst/>
          </a:prstGeom>
          <a:noFill/>
          <a:ln/>
        </p:spPr>
        <p:txBody>
          <a:bodyPr wrap="none" lIns="0" tIns="0" rIns="0" bIns="0" rtlCol="0" anchor="t"/>
          <a:lstStyle/>
          <a:p>
            <a:pPr algn="l" indent="0" marL="0">
              <a:lnSpc>
                <a:spcPts val="1950"/>
              </a:lnSpc>
              <a:buNone/>
            </a:pPr>
            <a:r>
              <a:rPr lang="en-US" sz="1200" dirty="0">
                <a:solidFill>
                  <a:srgbClr val="2150FE"/>
                </a:solidFill>
                <a:latin typeface="Heebo" pitchFamily="34" charset="0"/>
                <a:ea typeface="Heebo" pitchFamily="34" charset="-122"/>
                <a:cs typeface="Heebo" pitchFamily="34" charset="-120"/>
              </a:rPr>
              <a:t>ARCHITECTURE</a:t>
            </a:r>
            <a:endParaRPr lang="en-US" sz="1200" dirty="0"/>
          </a:p>
        </p:txBody>
      </p:sp>
      <p:sp>
        <p:nvSpPr>
          <p:cNvPr id="4" name="Text 2"/>
          <p:cNvSpPr/>
          <p:nvPr/>
        </p:nvSpPr>
        <p:spPr>
          <a:xfrm>
            <a:off x="781407" y="1136452"/>
            <a:ext cx="5033010" cy="610433"/>
          </a:xfrm>
          <a:prstGeom prst="rect">
            <a:avLst/>
          </a:prstGeom>
          <a:noFill/>
          <a:ln/>
        </p:spPr>
        <p:txBody>
          <a:bodyPr wrap="none" lIns="0" tIns="0" rIns="0" bIns="0" rtlCol="0" anchor="t"/>
          <a:lstStyle/>
          <a:p>
            <a:pPr algn="l" indent="0" marL="0">
              <a:lnSpc>
                <a:spcPts val="4800"/>
              </a:lnSpc>
              <a:buNone/>
            </a:pPr>
            <a:r>
              <a:rPr lang="en-US" sz="3800" dirty="0">
                <a:solidFill>
                  <a:srgbClr val="152D47"/>
                </a:solidFill>
                <a:latin typeface="Crimson Pro Semi Bold" pitchFamily="34" charset="0"/>
                <a:ea typeface="Crimson Pro Semi Bold" pitchFamily="34" charset="-122"/>
                <a:cs typeface="Crimson Pro Semi Bold" pitchFamily="34" charset="-120"/>
              </a:rPr>
              <a:t>Target Hosting Footprint</a:t>
            </a:r>
            <a:endParaRPr lang="en-US" sz="3800" dirty="0"/>
          </a:p>
        </p:txBody>
      </p:sp>
      <p:sp>
        <p:nvSpPr>
          <p:cNvPr id="5" name="Text 3"/>
          <p:cNvSpPr/>
          <p:nvPr/>
        </p:nvSpPr>
        <p:spPr>
          <a:xfrm>
            <a:off x="781407" y="2035254"/>
            <a:ext cx="13067586" cy="620316"/>
          </a:xfrm>
          <a:prstGeom prst="rect">
            <a:avLst/>
          </a:prstGeom>
          <a:noFill/>
          <a:ln/>
        </p:spPr>
        <p:txBody>
          <a:bodyPr wrap="square" lIns="0" tIns="0" rIns="0" bIns="0" rtlCol="0" anchor="t"/>
          <a:lstStyle/>
          <a:p>
            <a:pPr algn="l" indent="0" marL="0">
              <a:lnSpc>
                <a:spcPts val="2400"/>
              </a:lnSpc>
              <a:buNone/>
            </a:pPr>
            <a:r>
              <a:rPr lang="en-US" sz="1500" dirty="0">
                <a:solidFill>
                  <a:srgbClr val="4C4C4D"/>
                </a:solidFill>
                <a:latin typeface="Heebo" pitchFamily="34" charset="0"/>
                <a:ea typeface="Heebo" pitchFamily="34" charset="-122"/>
                <a:cs typeface="Heebo" pitchFamily="34" charset="-120"/>
              </a:rPr>
              <a:t>The operational deployment is built on a hardened, fully EU-resident stack. Each component has been selected for security posture, operational manageability, and compatibility with enterprise identity and secrets management requirements.</a:t>
            </a:r>
            <a:endParaRPr lang="en-US" sz="1500" dirty="0"/>
          </a:p>
        </p:txBody>
      </p:sp>
      <p:sp>
        <p:nvSpPr>
          <p:cNvPr id="6" name="Shape 4"/>
          <p:cNvSpPr/>
          <p:nvPr/>
        </p:nvSpPr>
        <p:spPr>
          <a:xfrm>
            <a:off x="781407" y="2871907"/>
            <a:ext cx="6437590" cy="1431369"/>
          </a:xfrm>
          <a:prstGeom prst="roundRect">
            <a:avLst>
              <a:gd name="adj" fmla="val 2047"/>
            </a:avLst>
          </a:prstGeom>
          <a:solidFill>
            <a:srgbClr val="F2EEEE"/>
          </a:solidFill>
          <a:ln/>
        </p:spPr>
      </p:sp>
      <p:sp>
        <p:nvSpPr>
          <p:cNvPr id="7" name="Text 5"/>
          <p:cNvSpPr/>
          <p:nvPr/>
        </p:nvSpPr>
        <p:spPr>
          <a:xfrm>
            <a:off x="976670" y="3067169"/>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 Region</a:t>
            </a:r>
            <a:endParaRPr lang="en-US" sz="1900" dirty="0"/>
          </a:p>
        </p:txBody>
      </p:sp>
      <p:sp>
        <p:nvSpPr>
          <p:cNvPr id="8" name="Text 6"/>
          <p:cNvSpPr/>
          <p:nvPr/>
        </p:nvSpPr>
        <p:spPr>
          <a:xfrm>
            <a:off x="976670" y="3487698"/>
            <a:ext cx="6047065" cy="620316"/>
          </a:xfrm>
          <a:prstGeom prst="rect">
            <a:avLst/>
          </a:prstGeom>
          <a:noFill/>
          <a:ln/>
        </p:spPr>
        <p:txBody>
          <a:bodyPr wrap="square" lIns="0" tIns="0" rIns="0" bIns="0" rtlCol="0" anchor="t"/>
          <a:lstStyle/>
          <a:p>
            <a:pPr algn="l" indent="0" marL="0">
              <a:lnSpc>
                <a:spcPts val="2400"/>
              </a:lnSpc>
              <a:buNone/>
            </a:pPr>
            <a:r>
              <a:rPr lang="en-US" sz="1500" dirty="0">
                <a:solidFill>
                  <a:srgbClr val="4C4C4D"/>
                </a:solidFill>
                <a:latin typeface="Heebo" pitchFamily="34" charset="0"/>
                <a:ea typeface="Heebo" pitchFamily="34" charset="-122"/>
                <a:cs typeface="Heebo" pitchFamily="34" charset="-120"/>
              </a:rPr>
              <a:t>OVHcloud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France</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(GRA / SBG / RBX) — all data at rest remains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within the EU</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a:t>
            </a:r>
            <a:endParaRPr lang="en-US" sz="1500" dirty="0"/>
          </a:p>
        </p:txBody>
      </p:sp>
      <p:sp>
        <p:nvSpPr>
          <p:cNvPr id="9" name="Shape 7"/>
          <p:cNvSpPr/>
          <p:nvPr/>
        </p:nvSpPr>
        <p:spPr>
          <a:xfrm>
            <a:off x="7411283" y="2871907"/>
            <a:ext cx="6437709" cy="1431369"/>
          </a:xfrm>
          <a:prstGeom prst="roundRect">
            <a:avLst>
              <a:gd name="adj" fmla="val 2047"/>
            </a:avLst>
          </a:prstGeom>
          <a:solidFill>
            <a:srgbClr val="F2EEEE"/>
          </a:solidFill>
          <a:ln/>
        </p:spPr>
      </p:sp>
      <p:sp>
        <p:nvSpPr>
          <p:cNvPr id="10" name="Text 8"/>
          <p:cNvSpPr/>
          <p:nvPr/>
        </p:nvSpPr>
        <p:spPr>
          <a:xfrm>
            <a:off x="7606546" y="3067169"/>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 Orchestration</a:t>
            </a:r>
            <a:endParaRPr lang="en-US" sz="1900" dirty="0"/>
          </a:p>
        </p:txBody>
      </p:sp>
      <p:sp>
        <p:nvSpPr>
          <p:cNvPr id="11" name="Text 9"/>
          <p:cNvSpPr/>
          <p:nvPr/>
        </p:nvSpPr>
        <p:spPr>
          <a:xfrm>
            <a:off x="7606546" y="3487698"/>
            <a:ext cx="6047184" cy="620316"/>
          </a:xfrm>
          <a:prstGeom prst="rect">
            <a:avLst/>
          </a:prstGeom>
          <a:noFill/>
          <a:ln/>
        </p:spPr>
        <p:txBody>
          <a:bodyPr wrap="square" lIns="0" tIns="0" rIns="0" bIns="0" rtlCol="0" anchor="t"/>
          <a:lstStyle/>
          <a:p>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OVH Managed Kubernetes Service (MKS)</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 managed control plane with OVHcloud SLA coverage.</a:t>
            </a:r>
            <a:endParaRPr lang="en-US" sz="1500" dirty="0"/>
          </a:p>
        </p:txBody>
      </p:sp>
      <p:sp>
        <p:nvSpPr>
          <p:cNvPr id="12" name="Shape 10"/>
          <p:cNvSpPr/>
          <p:nvPr/>
        </p:nvSpPr>
        <p:spPr>
          <a:xfrm>
            <a:off x="781407" y="4495562"/>
            <a:ext cx="6437590" cy="1431369"/>
          </a:xfrm>
          <a:prstGeom prst="roundRect">
            <a:avLst>
              <a:gd name="adj" fmla="val 2047"/>
            </a:avLst>
          </a:prstGeom>
          <a:solidFill>
            <a:srgbClr val="F2EEEE"/>
          </a:solidFill>
          <a:ln/>
        </p:spPr>
      </p:sp>
      <p:sp>
        <p:nvSpPr>
          <p:cNvPr id="13" name="Text 11"/>
          <p:cNvSpPr/>
          <p:nvPr/>
        </p:nvSpPr>
        <p:spPr>
          <a:xfrm>
            <a:off x="976670" y="4690824"/>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 Storage</a:t>
            </a:r>
            <a:endParaRPr lang="en-US" sz="1900" dirty="0"/>
          </a:p>
        </p:txBody>
      </p:sp>
      <p:sp>
        <p:nvSpPr>
          <p:cNvPr id="14" name="Text 12"/>
          <p:cNvSpPr/>
          <p:nvPr/>
        </p:nvSpPr>
        <p:spPr>
          <a:xfrm>
            <a:off x="976670" y="5111353"/>
            <a:ext cx="6047065" cy="620316"/>
          </a:xfrm>
          <a:prstGeom prst="rect">
            <a:avLst/>
          </a:prstGeom>
          <a:noFill/>
          <a:ln/>
        </p:spPr>
        <p:txBody>
          <a:bodyPr wrap="square" lIns="0" tIns="0" rIns="0" bIns="0" rtlCol="0" anchor="t"/>
          <a:lstStyle/>
          <a:p>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Cinder CSI</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(csi-cinder-high-speed) for persistent volumes — encrypted snapshots per Datategy PAS.</a:t>
            </a:r>
            <a:endParaRPr lang="en-US" sz="1500" dirty="0"/>
          </a:p>
        </p:txBody>
      </p:sp>
      <p:sp>
        <p:nvSpPr>
          <p:cNvPr id="15" name="Shape 13"/>
          <p:cNvSpPr/>
          <p:nvPr/>
        </p:nvSpPr>
        <p:spPr>
          <a:xfrm>
            <a:off x="7411283" y="4495562"/>
            <a:ext cx="6437709" cy="1431369"/>
          </a:xfrm>
          <a:prstGeom prst="roundRect">
            <a:avLst>
              <a:gd name="adj" fmla="val 2047"/>
            </a:avLst>
          </a:prstGeom>
          <a:solidFill>
            <a:srgbClr val="F2EEEE"/>
          </a:solidFill>
          <a:ln/>
        </p:spPr>
      </p:sp>
      <p:sp>
        <p:nvSpPr>
          <p:cNvPr id="16" name="Text 14"/>
          <p:cNvSpPr/>
          <p:nvPr/>
        </p:nvSpPr>
        <p:spPr>
          <a:xfrm>
            <a:off x="7606546" y="4690824"/>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 Ingress &amp; TLS</a:t>
            </a:r>
            <a:endParaRPr lang="en-US" sz="1900" dirty="0"/>
          </a:p>
        </p:txBody>
      </p:sp>
      <p:sp>
        <p:nvSpPr>
          <p:cNvPr id="17" name="Text 15"/>
          <p:cNvSpPr/>
          <p:nvPr/>
        </p:nvSpPr>
        <p:spPr>
          <a:xfrm>
            <a:off x="7606546" y="5111353"/>
            <a:ext cx="6047184" cy="310158"/>
          </a:xfrm>
          <a:prstGeom prst="rect">
            <a:avLst/>
          </a:prstGeom>
          <a:noFill/>
          <a:ln/>
        </p:spPr>
        <p:txBody>
          <a:bodyPr wrap="none" lIns="0" tIns="0" rIns="0" bIns="0" rtlCol="0" anchor="t"/>
          <a:lstStyle/>
          <a:p>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Istio</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cert-manager</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enforcing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TLS 1.2 / 1.3</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at all entry points.</a:t>
            </a:r>
            <a:endParaRPr lang="en-US" sz="1500" dirty="0"/>
          </a:p>
        </p:txBody>
      </p:sp>
      <p:sp>
        <p:nvSpPr>
          <p:cNvPr id="18" name="Shape 16"/>
          <p:cNvSpPr/>
          <p:nvPr/>
        </p:nvSpPr>
        <p:spPr>
          <a:xfrm>
            <a:off x="781407" y="6119217"/>
            <a:ext cx="6437590" cy="1431369"/>
          </a:xfrm>
          <a:prstGeom prst="roundRect">
            <a:avLst>
              <a:gd name="adj" fmla="val 2047"/>
            </a:avLst>
          </a:prstGeom>
          <a:solidFill>
            <a:srgbClr val="F2EEEE"/>
          </a:solidFill>
          <a:ln/>
        </p:spPr>
      </p:sp>
      <p:sp>
        <p:nvSpPr>
          <p:cNvPr id="19" name="Text 17"/>
          <p:cNvSpPr/>
          <p:nvPr/>
        </p:nvSpPr>
        <p:spPr>
          <a:xfrm>
            <a:off x="976670" y="6314480"/>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 Identity</a:t>
            </a:r>
            <a:endParaRPr lang="en-US" sz="1900" dirty="0"/>
          </a:p>
        </p:txBody>
      </p:sp>
      <p:sp>
        <p:nvSpPr>
          <p:cNvPr id="20" name="Text 18"/>
          <p:cNvSpPr/>
          <p:nvPr/>
        </p:nvSpPr>
        <p:spPr>
          <a:xfrm>
            <a:off x="976670" y="6735008"/>
            <a:ext cx="6047065" cy="620316"/>
          </a:xfrm>
          <a:prstGeom prst="rect">
            <a:avLst/>
          </a:prstGeom>
          <a:noFill/>
          <a:ln/>
        </p:spPr>
        <p:txBody>
          <a:bodyPr wrap="square" lIns="0" tIns="0" rIns="0" bIns="0" rtlCol="0" anchor="t"/>
          <a:lstStyle/>
          <a:p>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Keycloak 26</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(OIDC);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federation to your IdP</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via SAML or OIDC is fully supported.</a:t>
            </a:r>
            <a:endParaRPr lang="en-US" sz="1500" dirty="0"/>
          </a:p>
        </p:txBody>
      </p:sp>
      <p:sp>
        <p:nvSpPr>
          <p:cNvPr id="21" name="Shape 19"/>
          <p:cNvSpPr/>
          <p:nvPr/>
        </p:nvSpPr>
        <p:spPr>
          <a:xfrm>
            <a:off x="7411283" y="6119217"/>
            <a:ext cx="6437709" cy="1431369"/>
          </a:xfrm>
          <a:prstGeom prst="roundRect">
            <a:avLst>
              <a:gd name="adj" fmla="val 2047"/>
            </a:avLst>
          </a:prstGeom>
          <a:solidFill>
            <a:srgbClr val="F2EEEE"/>
          </a:solidFill>
          <a:ln/>
        </p:spPr>
      </p:sp>
      <p:sp>
        <p:nvSpPr>
          <p:cNvPr id="22" name="Text 20"/>
          <p:cNvSpPr/>
          <p:nvPr/>
        </p:nvSpPr>
        <p:spPr>
          <a:xfrm>
            <a:off x="7606546" y="6314480"/>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 Secrets &amp; Data</a:t>
            </a:r>
            <a:endParaRPr lang="en-US" sz="1900" dirty="0"/>
          </a:p>
        </p:txBody>
      </p:sp>
      <p:sp>
        <p:nvSpPr>
          <p:cNvPr id="23" name="Text 21"/>
          <p:cNvSpPr/>
          <p:nvPr/>
        </p:nvSpPr>
        <p:spPr>
          <a:xfrm>
            <a:off x="7606546" y="6735008"/>
            <a:ext cx="6047184" cy="620316"/>
          </a:xfrm>
          <a:prstGeom prst="rect">
            <a:avLst/>
          </a:prstGeom>
          <a:noFill/>
          <a:ln/>
        </p:spPr>
        <p:txBody>
          <a:bodyPr wrap="square" lIns="0" tIns="0" rIns="0" bIns="0" rtlCol="0" anchor="t"/>
          <a:lstStyle/>
          <a:p>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HashiCorp Vault</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in-cluster. Data plane: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PostgreSQL</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MinIO</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on cluster PVs, message bus and time-series as deployed per environment.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650558"/>
            <a:ext cx="1180386" cy="316230"/>
          </a:xfrm>
          <a:prstGeom prst="roundRect">
            <a:avLst>
              <a:gd name="adj" fmla="val 6402"/>
            </a:avLst>
          </a:prstGeom>
          <a:noFill/>
          <a:ln w="7620">
            <a:solidFill>
              <a:srgbClr val="2150FE"/>
            </a:solidFill>
            <a:prstDash val="solid"/>
          </a:ln>
        </p:spPr>
      </p:sp>
      <p:sp>
        <p:nvSpPr>
          <p:cNvPr id="3" name="Text 1"/>
          <p:cNvSpPr/>
          <p:nvPr/>
        </p:nvSpPr>
        <p:spPr>
          <a:xfrm>
            <a:off x="902613" y="708779"/>
            <a:ext cx="962739" cy="199787"/>
          </a:xfrm>
          <a:prstGeom prst="rect">
            <a:avLst/>
          </a:prstGeom>
          <a:noFill/>
          <a:ln/>
        </p:spPr>
        <p:txBody>
          <a:bodyPr wrap="none" lIns="0" tIns="0" rIns="0" bIns="0" rtlCol="0" anchor="t"/>
          <a:lstStyle/>
          <a:p>
            <a:pPr algn="l" indent="0" marL="0">
              <a:lnSpc>
                <a:spcPts val="1550"/>
              </a:lnSpc>
              <a:buNone/>
            </a:pPr>
            <a:r>
              <a:rPr lang="en-US" sz="1050" dirty="0">
                <a:solidFill>
                  <a:srgbClr val="2150FE"/>
                </a:solidFill>
                <a:latin typeface="Heebo" pitchFamily="34" charset="0"/>
                <a:ea typeface="Heebo" pitchFamily="34" charset="-122"/>
                <a:cs typeface="Heebo" pitchFamily="34" charset="-120"/>
              </a:rPr>
              <a:t>ARCHITECTURE</a:t>
            </a:r>
            <a:endParaRPr lang="en-US" sz="1050" dirty="0"/>
          </a:p>
        </p:txBody>
      </p:sp>
      <p:sp>
        <p:nvSpPr>
          <p:cNvPr id="4" name="Text 2"/>
          <p:cNvSpPr/>
          <p:nvPr/>
        </p:nvSpPr>
        <p:spPr>
          <a:xfrm>
            <a:off x="793790" y="1024057"/>
            <a:ext cx="5301734" cy="527090"/>
          </a:xfrm>
          <a:prstGeom prst="rect">
            <a:avLst/>
          </a:prstGeom>
          <a:noFill/>
          <a:ln/>
        </p:spPr>
        <p:txBody>
          <a:bodyPr wrap="none" lIns="0" tIns="0" rIns="0" bIns="0" rtlCol="0" anchor="t"/>
          <a:lstStyle/>
          <a:p>
            <a:pPr algn="l" indent="0" marL="0">
              <a:lnSpc>
                <a:spcPts val="4150"/>
              </a:lnSpc>
              <a:buNone/>
            </a:pPr>
            <a:r>
              <a:rPr lang="en-US" sz="3300" dirty="0">
                <a:solidFill>
                  <a:srgbClr val="152D47"/>
                </a:solidFill>
                <a:latin typeface="Crimson Pro Semi Bold" pitchFamily="34" charset="0"/>
                <a:ea typeface="Crimson Pro Semi Bold" pitchFamily="34" charset="-122"/>
                <a:cs typeface="Crimson Pro Semi Bold" pitchFamily="34" charset="-120"/>
              </a:rPr>
              <a:t>Application Path — Simplified</a:t>
            </a:r>
            <a:endParaRPr lang="en-US" sz="3300" dirty="0"/>
          </a:p>
        </p:txBody>
      </p:sp>
      <p:sp>
        <p:nvSpPr>
          <p:cNvPr id="5" name="Text 3"/>
          <p:cNvSpPr/>
          <p:nvPr/>
        </p:nvSpPr>
        <p:spPr>
          <a:xfrm>
            <a:off x="793790" y="1766173"/>
            <a:ext cx="13042821" cy="249674"/>
          </a:xfrm>
          <a:prstGeom prst="rect">
            <a:avLst/>
          </a:prstGeom>
          <a:noFill/>
          <a:ln/>
        </p:spPr>
        <p:txBody>
          <a:bodyPr wrap="none" lIns="0" tIns="0" rIns="0" bIns="0" rtlCol="0" anchor="t"/>
          <a:lstStyle/>
          <a:p>
            <a:pPr algn="l" indent="0" marL="0">
              <a:lnSpc>
                <a:spcPts val="1950"/>
              </a:lnSpc>
              <a:buNone/>
            </a:pPr>
            <a:r>
              <a:rPr lang="en-US" sz="1300" dirty="0">
                <a:solidFill>
                  <a:srgbClr val="4C4C4D"/>
                </a:solidFill>
                <a:latin typeface="Heebo" pitchFamily="34" charset="0"/>
                <a:ea typeface="Heebo" pitchFamily="34" charset="-122"/>
                <a:cs typeface="Heebo" pitchFamily="34" charset="-120"/>
              </a:rPr>
              <a:t>Traffic flows through multiple security controls before reaching application or AI services. Each boundary enforces encryption and policy-based access.</a:t>
            </a:r>
            <a:endParaRPr lang="en-US" sz="1300" dirty="0"/>
          </a:p>
        </p:txBody>
      </p:sp>
      <p:pic>
        <p:nvPicPr>
          <p:cNvPr id="6" name="Image 0" descr="preencoded.png">    </p:cNvPr>
          <p:cNvPicPr>
            <a:picLocks noChangeAspect="1"/>
          </p:cNvPicPr>
          <p:nvPr/>
        </p:nvPicPr>
        <p:blipFill>
          <a:blip r:embed="rId1"/>
          <a:stretch>
            <a:fillRect/>
          </a:stretch>
        </p:blipFill>
        <p:spPr>
          <a:xfrm>
            <a:off x="1817727" y="2177058"/>
            <a:ext cx="10994946" cy="4741307"/>
          </a:xfrm>
          <a:prstGeom prst="rect">
            <a:avLst/>
          </a:prstGeom>
        </p:spPr>
      </p:pic>
      <p:sp>
        <p:nvSpPr>
          <p:cNvPr id="7" name="Text 4"/>
          <p:cNvSpPr/>
          <p:nvPr/>
        </p:nvSpPr>
        <p:spPr>
          <a:xfrm>
            <a:off x="2557540" y="6019235"/>
            <a:ext cx="2494400" cy="311800"/>
          </a:xfrm>
          <a:prstGeom prst="rect">
            <a:avLst/>
          </a:prstGeom>
          <a:noFill/>
          <a:ln/>
        </p:spPr>
        <p:txBody>
          <a:bodyPr wrap="none" lIns="0" tIns="0" rIns="0" bIns="0" rtlCol="0" anchor="t"/>
          <a:lstStyle/>
          <a:p>
            <a:pPr algn="l" indent="0" marL="0">
              <a:lnSpc>
                <a:spcPts val="2450"/>
              </a:lnSpc>
              <a:buNone/>
            </a:pPr>
            <a:r>
              <a:rPr lang="en-US" sz="1950" dirty="0">
                <a:solidFill>
                  <a:srgbClr val="FFFFFF"/>
                </a:solidFill>
                <a:latin typeface="Crimson Pro Semi Bold" pitchFamily="34" charset="0"/>
                <a:ea typeface="Crimson Pro Semi Bold" pitchFamily="34" charset="-122"/>
                <a:cs typeface="Crimson Pro Semi Bold" pitchFamily="34" charset="-120"/>
              </a:rPr>
              <a:t>Web UI &amp; Core</a:t>
            </a:r>
            <a:endParaRPr lang="en-US" sz="1950" dirty="0"/>
          </a:p>
        </p:txBody>
      </p:sp>
      <p:sp>
        <p:nvSpPr>
          <p:cNvPr id="8" name="Text 5"/>
          <p:cNvSpPr/>
          <p:nvPr/>
        </p:nvSpPr>
        <p:spPr>
          <a:xfrm>
            <a:off x="2557540" y="4921700"/>
            <a:ext cx="2494400" cy="311800"/>
          </a:xfrm>
          <a:prstGeom prst="rect">
            <a:avLst/>
          </a:prstGeom>
          <a:noFill/>
          <a:ln/>
        </p:spPr>
        <p:txBody>
          <a:bodyPr wrap="none" lIns="0" tIns="0" rIns="0" bIns="0" rtlCol="0" anchor="t"/>
          <a:lstStyle/>
          <a:p>
            <a:pPr algn="l" indent="0" marL="0">
              <a:lnSpc>
                <a:spcPts val="2450"/>
              </a:lnSpc>
              <a:buNone/>
            </a:pPr>
            <a:r>
              <a:rPr lang="en-US" sz="1950" dirty="0">
                <a:solidFill>
                  <a:srgbClr val="FFFFFF"/>
                </a:solidFill>
                <a:latin typeface="Crimson Pro Semi Bold" pitchFamily="34" charset="0"/>
                <a:ea typeface="Crimson Pro Semi Bold" pitchFamily="34" charset="-122"/>
                <a:cs typeface="Crimson Pro Semi Bold" pitchFamily="34" charset="-120"/>
              </a:rPr>
              <a:t>Istio Ingress</a:t>
            </a:r>
            <a:endParaRPr lang="en-US" sz="1950" dirty="0"/>
          </a:p>
        </p:txBody>
      </p:sp>
      <p:sp>
        <p:nvSpPr>
          <p:cNvPr id="9" name="Text 6"/>
          <p:cNvSpPr/>
          <p:nvPr/>
        </p:nvSpPr>
        <p:spPr>
          <a:xfrm>
            <a:off x="2557540" y="3835250"/>
            <a:ext cx="2494400" cy="311800"/>
          </a:xfrm>
          <a:prstGeom prst="rect">
            <a:avLst/>
          </a:prstGeom>
          <a:noFill/>
          <a:ln/>
        </p:spPr>
        <p:txBody>
          <a:bodyPr wrap="none" lIns="0" tIns="0" rIns="0" bIns="0" rtlCol="0" anchor="t"/>
          <a:lstStyle/>
          <a:p>
            <a:pPr algn="l" indent="0" marL="0">
              <a:lnSpc>
                <a:spcPts val="2450"/>
              </a:lnSpc>
              <a:buNone/>
            </a:pPr>
            <a:r>
              <a:rPr lang="en-US" sz="1950" dirty="0">
                <a:solidFill>
                  <a:srgbClr val="FFFFFF"/>
                </a:solidFill>
                <a:latin typeface="Crimson Pro Semi Bold" pitchFamily="34" charset="0"/>
                <a:ea typeface="Crimson Pro Semi Bold" pitchFamily="34" charset="-122"/>
                <a:cs typeface="Crimson Pro Semi Bold" pitchFamily="34" charset="-120"/>
              </a:rPr>
              <a:t>OVH Load Balancer</a:t>
            </a:r>
            <a:endParaRPr lang="en-US" sz="1950" dirty="0"/>
          </a:p>
        </p:txBody>
      </p:sp>
      <p:sp>
        <p:nvSpPr>
          <p:cNvPr id="10" name="Text 7"/>
          <p:cNvSpPr/>
          <p:nvPr/>
        </p:nvSpPr>
        <p:spPr>
          <a:xfrm>
            <a:off x="2557540" y="2737714"/>
            <a:ext cx="2494400" cy="311800"/>
          </a:xfrm>
          <a:prstGeom prst="rect">
            <a:avLst/>
          </a:prstGeom>
          <a:noFill/>
          <a:ln/>
        </p:spPr>
        <p:txBody>
          <a:bodyPr wrap="none" lIns="0" tIns="0" rIns="0" bIns="0" rtlCol="0" anchor="t"/>
          <a:lstStyle/>
          <a:p>
            <a:pPr algn="l" indent="0" marL="0">
              <a:lnSpc>
                <a:spcPts val="2450"/>
              </a:lnSpc>
              <a:buNone/>
            </a:pPr>
            <a:r>
              <a:rPr lang="en-US" sz="1950" dirty="0">
                <a:solidFill>
                  <a:srgbClr val="FFFFFF"/>
                </a:solidFill>
                <a:latin typeface="Crimson Pro Semi Bold" pitchFamily="34" charset="0"/>
                <a:ea typeface="Crimson Pro Semi Bold" pitchFamily="34" charset="-122"/>
                <a:cs typeface="Crimson Pro Semi Bold" pitchFamily="34" charset="-120"/>
              </a:rPr>
              <a:t>Internet HTTPS</a:t>
            </a:r>
            <a:endParaRPr lang="en-US" sz="1950" dirty="0"/>
          </a:p>
        </p:txBody>
      </p:sp>
      <p:sp>
        <p:nvSpPr>
          <p:cNvPr id="11" name="Text 8"/>
          <p:cNvSpPr/>
          <p:nvPr/>
        </p:nvSpPr>
        <p:spPr>
          <a:xfrm>
            <a:off x="793790" y="7079575"/>
            <a:ext cx="13042821" cy="499348"/>
          </a:xfrm>
          <a:prstGeom prst="rect">
            <a:avLst/>
          </a:prstGeom>
          <a:noFill/>
          <a:ln/>
        </p:spPr>
        <p:txBody>
          <a:bodyPr wrap="square" lIns="0" tIns="0" rIns="0" bIns="0" rtlCol="0" anchor="t"/>
          <a:lstStyle/>
          <a:p>
            <a:pPr algn="l" indent="0" marL="0">
              <a:lnSpc>
                <a:spcPts val="1950"/>
              </a:lnSpc>
              <a:buNone/>
            </a:pPr>
            <a:r>
              <a:rPr lang="en-US" sz="1300" dirty="0">
                <a:solidFill>
                  <a:srgbClr val="4C4C4D"/>
                </a:solidFill>
                <a:latin typeface="Heebo" pitchFamily="34" charset="0"/>
                <a:ea typeface="Heebo" pitchFamily="34" charset="-122"/>
                <a:cs typeface="Heebo" pitchFamily="34" charset="-120"/>
              </a:rPr>
              <a:t>Each hop within the cluster applies Istio mTLS where configured, ensuring that lateral movement between services requires explicit policy authorisation. Persistent volumes are encrypted at rest, with snapshot and backup schedules governed by the Datategy PAS. The full annotated architecture diagram is included in the Word note.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81407" y="598765"/>
            <a:ext cx="1129189" cy="365284"/>
          </a:xfrm>
          <a:prstGeom prst="roundRect">
            <a:avLst>
              <a:gd name="adj" fmla="val 6418"/>
            </a:avLst>
          </a:prstGeom>
          <a:solidFill>
            <a:srgbClr val="CCD7FF"/>
          </a:solidFill>
          <a:ln/>
        </p:spPr>
      </p:sp>
      <p:sp>
        <p:nvSpPr>
          <p:cNvPr id="3" name="Text 1"/>
          <p:cNvSpPr/>
          <p:nvPr/>
        </p:nvSpPr>
        <p:spPr>
          <a:xfrm>
            <a:off x="898565" y="657344"/>
            <a:ext cx="894874" cy="248126"/>
          </a:xfrm>
          <a:prstGeom prst="rect">
            <a:avLst/>
          </a:prstGeom>
          <a:noFill/>
          <a:ln/>
        </p:spPr>
        <p:txBody>
          <a:bodyPr wrap="none" lIns="0" tIns="0" rIns="0" bIns="0" rtlCol="0" anchor="t"/>
          <a:lstStyle/>
          <a:p>
            <a:pPr algn="l" indent="0" marL="0">
              <a:lnSpc>
                <a:spcPts val="1950"/>
              </a:lnSpc>
              <a:buNone/>
            </a:pPr>
            <a:r>
              <a:rPr lang="en-US" sz="1200" dirty="0">
                <a:solidFill>
                  <a:srgbClr val="4C4C4D"/>
                </a:solidFill>
                <a:latin typeface="Heebo" pitchFamily="34" charset="0"/>
                <a:ea typeface="Heebo" pitchFamily="34" charset="-122"/>
                <a:cs typeface="Heebo" pitchFamily="34" charset="-120"/>
              </a:rPr>
              <a:t>AI SECURITY</a:t>
            </a:r>
            <a:endParaRPr lang="en-US" sz="1200" dirty="0"/>
          </a:p>
        </p:txBody>
      </p:sp>
      <p:sp>
        <p:nvSpPr>
          <p:cNvPr id="4" name="Text 2"/>
          <p:cNvSpPr/>
          <p:nvPr/>
        </p:nvSpPr>
        <p:spPr>
          <a:xfrm>
            <a:off x="781407" y="1040963"/>
            <a:ext cx="8305086" cy="610433"/>
          </a:xfrm>
          <a:prstGeom prst="rect">
            <a:avLst/>
          </a:prstGeom>
          <a:noFill/>
          <a:ln/>
        </p:spPr>
        <p:txBody>
          <a:bodyPr wrap="none" lIns="0" tIns="0" rIns="0" bIns="0" rtlCol="0" anchor="t"/>
          <a:lstStyle/>
          <a:p>
            <a:pPr algn="l" indent="0" marL="0">
              <a:lnSpc>
                <a:spcPts val="4800"/>
              </a:lnSpc>
              <a:buNone/>
            </a:pPr>
            <a:r>
              <a:rPr lang="en-US" sz="3800" dirty="0">
                <a:solidFill>
                  <a:srgbClr val="152D47"/>
                </a:solidFill>
                <a:latin typeface="Crimson Pro Semi Bold" pitchFamily="34" charset="0"/>
                <a:ea typeface="Crimson Pro Semi Bold" pitchFamily="34" charset="-122"/>
                <a:cs typeface="Crimson Pro Semi Bold" pitchFamily="34" charset="-120"/>
              </a:rPr>
              <a:t>AI Layer — Designed for Enterprise Trust</a:t>
            </a:r>
            <a:endParaRPr lang="en-US" sz="3800" dirty="0"/>
          </a:p>
        </p:txBody>
      </p:sp>
      <p:sp>
        <p:nvSpPr>
          <p:cNvPr id="5" name="Text 3"/>
          <p:cNvSpPr/>
          <p:nvPr/>
        </p:nvSpPr>
        <p:spPr>
          <a:xfrm>
            <a:off x="781407" y="1939766"/>
            <a:ext cx="13067586" cy="620316"/>
          </a:xfrm>
          <a:prstGeom prst="rect">
            <a:avLst/>
          </a:prstGeom>
          <a:noFill/>
          <a:ln/>
        </p:spPr>
        <p:txBody>
          <a:bodyPr wrap="square" lIns="0" tIns="0" rIns="0" bIns="0" rtlCol="0" anchor="t"/>
          <a:lstStyle/>
          <a:p>
            <a:pPr algn="l" indent="0" marL="0">
              <a:lnSpc>
                <a:spcPts val="2400"/>
              </a:lnSpc>
              <a:buNone/>
            </a:pPr>
            <a:r>
              <a:rPr lang="en-US" sz="1500" dirty="0">
                <a:solidFill>
                  <a:srgbClr val="4C4C4D"/>
                </a:solidFill>
                <a:latin typeface="Heebo" pitchFamily="34" charset="0"/>
                <a:ea typeface="Heebo" pitchFamily="34" charset="-122"/>
                <a:cs typeface="Heebo" pitchFamily="34" charset="-120"/>
              </a:rPr>
              <a:t>Unlike SaaS platforms that route your data through third-party AI APIs, papAI / Agentium runs inference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entirely on-cluster</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This is a deliberate architectural decision to address the primary enterprise concern around generative AI adoption.</a:t>
            </a:r>
            <a:endParaRPr lang="en-US" sz="15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1407" y="2776418"/>
            <a:ext cx="488394" cy="488394"/>
          </a:xfrm>
          <a:prstGeom prst="rect">
            <a:avLst/>
          </a:prstGeom>
        </p:spPr>
      </p:pic>
      <p:sp>
        <p:nvSpPr>
          <p:cNvPr id="7" name="Text 4"/>
          <p:cNvSpPr/>
          <p:nvPr/>
        </p:nvSpPr>
        <p:spPr>
          <a:xfrm>
            <a:off x="781407" y="3505200"/>
            <a:ext cx="2506147" cy="305157"/>
          </a:xfrm>
          <a:prstGeom prst="rect">
            <a:avLst/>
          </a:prstGeom>
          <a:noFill/>
          <a:ln/>
        </p:spPr>
        <p:txBody>
          <a:bodyPr wrap="none" lIns="0" tIns="0" rIns="0" bIns="0" rtlCol="0" anchor="t"/>
          <a:lstStyle/>
          <a:p>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LLM Inference (LLMaaS)</a:t>
            </a:r>
            <a:endParaRPr lang="en-US" sz="1900" dirty="0"/>
          </a:p>
        </p:txBody>
      </p:sp>
      <p:sp>
        <p:nvSpPr>
          <p:cNvPr id="8" name="Text 5"/>
          <p:cNvSpPr/>
          <p:nvPr/>
        </p:nvSpPr>
        <p:spPr>
          <a:xfrm>
            <a:off x="781407" y="3925729"/>
            <a:ext cx="6413540" cy="930473"/>
          </a:xfrm>
          <a:prstGeom prst="rect">
            <a:avLst/>
          </a:prstGeom>
          <a:noFill/>
          <a:ln/>
        </p:spPr>
        <p:txBody>
          <a:bodyPr wrap="square" lIns="0" tIns="0" rIns="0" bIns="0" rtlCol="0" anchor="t"/>
          <a:lstStyle/>
          <a:p>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vLLM</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(or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llama.cpp</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for quantised models) deployed as a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private, in-cluster</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OpenAI-compatible endpoint.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Not</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exposed to the public Internet by default. Accessible only within the application namespace.</a:t>
            </a:r>
            <a:endParaRPr lang="en-US" sz="15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5334" y="2776418"/>
            <a:ext cx="488394" cy="488394"/>
          </a:xfrm>
          <a:prstGeom prst="rect">
            <a:avLst/>
          </a:prstGeom>
        </p:spPr>
      </p:pic>
      <p:sp>
        <p:nvSpPr>
          <p:cNvPr id="10" name="Text 6"/>
          <p:cNvSpPr/>
          <p:nvPr/>
        </p:nvSpPr>
        <p:spPr>
          <a:xfrm>
            <a:off x="7435334" y="3505200"/>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Embeddings (EMBaaS)</a:t>
            </a:r>
            <a:endParaRPr lang="en-US" sz="1900" dirty="0"/>
          </a:p>
        </p:txBody>
      </p:sp>
      <p:sp>
        <p:nvSpPr>
          <p:cNvPr id="11" name="Text 7"/>
          <p:cNvSpPr/>
          <p:nvPr/>
        </p:nvSpPr>
        <p:spPr>
          <a:xfrm>
            <a:off x="7435334" y="3925729"/>
            <a:ext cx="6413659" cy="930473"/>
          </a:xfrm>
          <a:prstGeom prst="rect">
            <a:avLst/>
          </a:prstGeom>
          <a:noFill/>
          <a:ln/>
        </p:spPr>
        <p:txBody>
          <a:bodyPr wrap="square" lIns="0" tIns="0" rIns="0" bIns="0" rtlCol="0" anchor="t"/>
          <a:lstStyle/>
          <a:p>
            <a:pPr algn="l" indent="0" marL="0">
              <a:lnSpc>
                <a:spcPts val="2400"/>
              </a:lnSpc>
              <a:buNone/>
            </a:pPr>
            <a:r>
              <a:rPr lang="en-US" sz="1500" dirty="0">
                <a:solidFill>
                  <a:srgbClr val="4C4C4D"/>
                </a:solidFill>
                <a:latin typeface="Heebo" pitchFamily="34" charset="0"/>
                <a:ea typeface="Heebo" pitchFamily="34" charset="-122"/>
                <a:cs typeface="Heebo" pitchFamily="34" charset="-120"/>
              </a:rPr>
              <a:t>Self-hosted embedding service (e.g.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TEI</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 vLLM-embed) using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open models</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such as the BGE family, running on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your</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GPU or CPU pool. No external API call required.</a:t>
            </a:r>
            <a:endParaRPr lang="en-US" sz="15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1407" y="5240774"/>
            <a:ext cx="488394" cy="488394"/>
          </a:xfrm>
          <a:prstGeom prst="rect">
            <a:avLst/>
          </a:prstGeom>
        </p:spPr>
      </p:pic>
      <p:sp>
        <p:nvSpPr>
          <p:cNvPr id="13" name="Text 8"/>
          <p:cNvSpPr/>
          <p:nvPr/>
        </p:nvSpPr>
        <p:spPr>
          <a:xfrm>
            <a:off x="781407" y="5969556"/>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Auxiliary NLP</a:t>
            </a:r>
            <a:endParaRPr lang="en-US" sz="1900" dirty="0"/>
          </a:p>
        </p:txBody>
      </p:sp>
      <p:sp>
        <p:nvSpPr>
          <p:cNvPr id="14" name="Text 9"/>
          <p:cNvSpPr/>
          <p:nvPr/>
        </p:nvSpPr>
        <p:spPr>
          <a:xfrm>
            <a:off x="781407" y="6390084"/>
            <a:ext cx="6413540" cy="930473"/>
          </a:xfrm>
          <a:prstGeom prst="rect">
            <a:avLst/>
          </a:prstGeom>
          <a:noFill/>
          <a:ln/>
        </p:spPr>
        <p:txBody>
          <a:bodyPr wrap="square" lIns="0" tIns="0" rIns="0" bIns="0" rtlCol="0" anchor="t"/>
          <a:lstStyle/>
          <a:p>
            <a:pPr algn="l" indent="0" marL="0">
              <a:lnSpc>
                <a:spcPts val="2400"/>
              </a:lnSpc>
              <a:buNone/>
            </a:pPr>
            <a:r>
              <a:rPr lang="en-US" sz="1500" dirty="0">
                <a:solidFill>
                  <a:srgbClr val="4C4C4D"/>
                </a:solidFill>
                <a:latin typeface="Heebo" pitchFamily="34" charset="0"/>
                <a:ea typeface="Heebo" pitchFamily="34" charset="-122"/>
                <a:cs typeface="Heebo" pitchFamily="34" charset="-120"/>
              </a:rPr>
              <a:t>Semantic and NLI models (e.g.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LaBSE</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XLM-R</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run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locally</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via the Transformers library where needed — supporting multilingual document intelligence without cloud dependency.</a:t>
            </a:r>
            <a:endParaRPr lang="en-US" sz="15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5334" y="5240774"/>
            <a:ext cx="488394" cy="488394"/>
          </a:xfrm>
          <a:prstGeom prst="rect">
            <a:avLst/>
          </a:prstGeom>
        </p:spPr>
      </p:pic>
      <p:sp>
        <p:nvSpPr>
          <p:cNvPr id="16" name="Text 10"/>
          <p:cNvSpPr/>
          <p:nvPr/>
        </p:nvSpPr>
        <p:spPr>
          <a:xfrm>
            <a:off x="7435334" y="5969556"/>
            <a:ext cx="2442091" cy="305157"/>
          </a:xfrm>
          <a:prstGeom prst="rect">
            <a:avLst/>
          </a:prstGeom>
          <a:noFill/>
          <a:ln/>
        </p:spPr>
        <p:txBody>
          <a:bodyPr wrap="none" lIns="0" tIns="0" rIns="0" bIns="0" rtlCol="0" anchor="t"/>
          <a:lstStyle/>
          <a:p>
            <a:pPr algn="l" indent="0" marL="0">
              <a:lnSpc>
                <a:spcPts val="2400"/>
              </a:lnSpc>
              <a:buNone/>
            </a:pPr>
            <a:r>
              <a:rPr lang="en-US" sz="1900" dirty="0">
                <a:solidFill>
                  <a:srgbClr val="4C4C4D"/>
                </a:solidFill>
                <a:latin typeface="Crimson Pro Semi Bold" pitchFamily="34" charset="0"/>
                <a:ea typeface="Crimson Pro Semi Bold" pitchFamily="34" charset="-122"/>
                <a:cs typeface="Crimson Pro Semi Bold" pitchFamily="34" charset="-120"/>
              </a:rPr>
              <a:t>Supply Chain</a:t>
            </a:r>
            <a:endParaRPr lang="en-US" sz="1900" dirty="0"/>
          </a:p>
        </p:txBody>
      </p:sp>
      <p:sp>
        <p:nvSpPr>
          <p:cNvPr id="17" name="Text 11"/>
          <p:cNvSpPr/>
          <p:nvPr/>
        </p:nvSpPr>
        <p:spPr>
          <a:xfrm>
            <a:off x="7435334" y="6390084"/>
            <a:ext cx="6413659" cy="1240631"/>
          </a:xfrm>
          <a:prstGeom prst="rect">
            <a:avLst/>
          </a:prstGeom>
          <a:noFill/>
          <a:ln/>
        </p:spPr>
        <p:txBody>
          <a:bodyPr wrap="square" lIns="0" tIns="0" rIns="0" bIns="0" rtlCol="0" anchor="t"/>
          <a:lstStyle/>
          <a:p>
            <a:pPr algn="l" indent="0" marL="0">
              <a:lnSpc>
                <a:spcPts val="2400"/>
              </a:lnSpc>
              <a:buNone/>
            </a:pPr>
            <a:r>
              <a:rPr lang="en-US" sz="1500" dirty="0">
                <a:solidFill>
                  <a:srgbClr val="4C4C4D"/>
                </a:solidFill>
                <a:latin typeface="Heebo" pitchFamily="34" charset="0"/>
                <a:ea typeface="Heebo" pitchFamily="34" charset="-122"/>
                <a:cs typeface="Heebo" pitchFamily="34" charset="-120"/>
              </a:rPr>
              <a:t>Model artefacts are sourced from an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internal registry or object storage</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There is </a:t>
            </a:r>
            <a:pPr algn="l" indent="0" marL="0">
              <a:lnSpc>
                <a:spcPts val="2400"/>
              </a:lnSpc>
              <a:buNone/>
            </a:pPr>
            <a:r>
              <a:rPr lang="en-US" sz="1500" b="1" dirty="0">
                <a:solidFill>
                  <a:srgbClr val="4C4C4D"/>
                </a:solidFill>
                <a:latin typeface="Heebo" pitchFamily="34" charset="0"/>
                <a:ea typeface="Heebo" pitchFamily="34" charset="-122"/>
                <a:cs typeface="Heebo" pitchFamily="34" charset="-120"/>
              </a:rPr>
              <a:t>no hot pull from the public Internet</a:t>
            </a:r>
            <a:pPr algn="l" indent="0" marL="0">
              <a:lnSpc>
                <a:spcPts val="2400"/>
              </a:lnSpc>
              <a:buNone/>
            </a:pPr>
            <a:r>
              <a:rPr lang="en-US" sz="1500" dirty="0">
                <a:solidFill>
                  <a:srgbClr val="4C4C4D"/>
                </a:solidFill>
                <a:latin typeface="Heebo" pitchFamily="34" charset="0"/>
                <a:ea typeface="Heebo" pitchFamily="34" charset="-122"/>
                <a:cs typeface="Heebo" pitchFamily="34" charset="-120"/>
              </a:rPr>
              <a:t> in the production configuration, eliminating supply-chain risk from model distribution channels.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81407" y="603528"/>
            <a:ext cx="1087755" cy="356235"/>
          </a:xfrm>
          <a:prstGeom prst="roundRect">
            <a:avLst>
              <a:gd name="adj" fmla="val 6252"/>
            </a:avLst>
          </a:prstGeom>
          <a:noFill/>
          <a:ln w="7620">
            <a:solidFill>
              <a:srgbClr val="2150FE"/>
            </a:solidFill>
            <a:prstDash val="solid"/>
          </a:ln>
        </p:spPr>
      </p:sp>
      <p:sp>
        <p:nvSpPr>
          <p:cNvPr id="3" name="Text 1"/>
          <p:cNvSpPr/>
          <p:nvPr/>
        </p:nvSpPr>
        <p:spPr>
          <a:xfrm>
            <a:off x="900351" y="666750"/>
            <a:ext cx="849868" cy="229791"/>
          </a:xfrm>
          <a:prstGeom prst="rect">
            <a:avLst/>
          </a:prstGeom>
          <a:noFill/>
          <a:ln/>
        </p:spPr>
        <p:txBody>
          <a:bodyPr wrap="none" lIns="0" tIns="0" rIns="0" bIns="0" rtlCol="0" anchor="t"/>
          <a:lstStyle/>
          <a:p>
            <a:pPr algn="l" indent="0" marL="0">
              <a:lnSpc>
                <a:spcPts val="1800"/>
              </a:lnSpc>
              <a:buNone/>
            </a:pPr>
            <a:r>
              <a:rPr lang="en-US" sz="1150" dirty="0">
                <a:solidFill>
                  <a:srgbClr val="2150FE"/>
                </a:solidFill>
                <a:latin typeface="Heebo" pitchFamily="34" charset="0"/>
                <a:ea typeface="Heebo" pitchFamily="34" charset="-122"/>
                <a:cs typeface="Heebo" pitchFamily="34" charset="-120"/>
              </a:rPr>
              <a:t>AI SECURITY</a:t>
            </a:r>
            <a:endParaRPr lang="en-US" sz="1150" dirty="0"/>
          </a:p>
        </p:txBody>
      </p:sp>
      <p:sp>
        <p:nvSpPr>
          <p:cNvPr id="4" name="Text 2"/>
          <p:cNvSpPr/>
          <p:nvPr/>
        </p:nvSpPr>
        <p:spPr>
          <a:xfrm>
            <a:off x="781407" y="1029176"/>
            <a:ext cx="5974199" cy="579953"/>
          </a:xfrm>
          <a:prstGeom prst="rect">
            <a:avLst/>
          </a:prstGeom>
          <a:noFill/>
          <a:ln/>
        </p:spPr>
        <p:txBody>
          <a:bodyPr wrap="none" lIns="0" tIns="0" rIns="0" bIns="0" rtlCol="0" anchor="t"/>
          <a:lstStyle/>
          <a:p>
            <a:pPr algn="l" indent="0" marL="0">
              <a:lnSpc>
                <a:spcPts val="4550"/>
              </a:lnSpc>
              <a:buNone/>
            </a:pPr>
            <a:r>
              <a:rPr lang="en-US" sz="3650" dirty="0">
                <a:solidFill>
                  <a:srgbClr val="152D47"/>
                </a:solidFill>
                <a:latin typeface="Crimson Pro Semi Bold" pitchFamily="34" charset="0"/>
                <a:ea typeface="Crimson Pro Semi Bold" pitchFamily="34" charset="-122"/>
                <a:cs typeface="Crimson Pro Semi Bold" pitchFamily="34" charset="-120"/>
              </a:rPr>
              <a:t>AI — Data Stays in the Tenancy</a:t>
            </a:r>
            <a:endParaRPr lang="en-US" sz="3650" dirty="0"/>
          </a:p>
        </p:txBody>
      </p:sp>
      <p:sp>
        <p:nvSpPr>
          <p:cNvPr id="5" name="Text 3"/>
          <p:cNvSpPr/>
          <p:nvPr/>
        </p:nvSpPr>
        <p:spPr>
          <a:xfrm>
            <a:off x="781407" y="1869400"/>
            <a:ext cx="13067586" cy="574596"/>
          </a:xfrm>
          <a:prstGeom prst="rect">
            <a:avLst/>
          </a:prstGeom>
          <a:noFill/>
          <a:ln/>
        </p:spPr>
        <p:txBody>
          <a:bodyPr wrap="square" lIns="0" tIns="0" rIns="0" bIns="0" rtlCol="0" anchor="t"/>
          <a:lstStyle/>
          <a:p>
            <a:pPr algn="l" indent="0" marL="0">
              <a:lnSpc>
                <a:spcPts val="2250"/>
              </a:lnSpc>
              <a:buNone/>
            </a:pPr>
            <a:r>
              <a:rPr lang="en-US" sz="1450" dirty="0">
                <a:solidFill>
                  <a:srgbClr val="4C4C4D"/>
                </a:solidFill>
                <a:latin typeface="Heebo" pitchFamily="34" charset="0"/>
                <a:ea typeface="Heebo" pitchFamily="34" charset="-122"/>
                <a:cs typeface="Heebo" pitchFamily="34" charset="-120"/>
              </a:rPr>
              <a:t>The default posture of the platform is designed to contain all AI-related data processing within the customer's tenancy boundary. The following risk areas are explicitly mitigated by design.</a:t>
            </a:r>
            <a:endParaRPr lang="en-US" sz="1450" dirty="0"/>
          </a:p>
        </p:txBody>
      </p:sp>
      <p:sp>
        <p:nvSpPr>
          <p:cNvPr id="6" name="Shape 4"/>
          <p:cNvSpPr/>
          <p:nvPr/>
        </p:nvSpPr>
        <p:spPr>
          <a:xfrm>
            <a:off x="781407" y="2639258"/>
            <a:ext cx="13067586" cy="3748207"/>
          </a:xfrm>
          <a:prstGeom prst="roundRect">
            <a:avLst>
              <a:gd name="adj" fmla="val 743"/>
            </a:avLst>
          </a:prstGeom>
          <a:noFill/>
          <a:ln w="7620">
            <a:solidFill>
              <a:srgbClr val="000000">
                <a:alpha val="8000"/>
              </a:srgbClr>
            </a:solidFill>
            <a:prstDash val="solid"/>
          </a:ln>
        </p:spPr>
      </p:sp>
      <p:sp>
        <p:nvSpPr>
          <p:cNvPr id="7" name="Text 5"/>
          <p:cNvSpPr/>
          <p:nvPr/>
        </p:nvSpPr>
        <p:spPr>
          <a:xfrm>
            <a:off x="974646" y="2758559"/>
            <a:ext cx="4193500" cy="287298"/>
          </a:xfrm>
          <a:prstGeom prst="rect">
            <a:avLst/>
          </a:prstGeom>
          <a:noFill/>
          <a:ln/>
        </p:spPr>
        <p:txBody>
          <a:bodyPr wrap="none" lIns="0" tIns="0" rIns="0" bIns="0" rtlCol="0" anchor="t"/>
          <a:lstStyle/>
          <a:p>
            <a:pPr algn="l" indent="0" marL="0">
              <a:lnSpc>
                <a:spcPts val="2250"/>
              </a:lnSpc>
              <a:buNone/>
            </a:pPr>
            <a:r>
              <a:rPr lang="en-US" sz="1450" b="1" dirty="0">
                <a:solidFill>
                  <a:srgbClr val="4C4C4D"/>
                </a:solidFill>
                <a:latin typeface="Heebo" pitchFamily="34" charset="0"/>
                <a:ea typeface="Heebo" pitchFamily="34" charset="-122"/>
                <a:cs typeface="Heebo" pitchFamily="34" charset="-120"/>
              </a:rPr>
              <a:t>Risk Area</a:t>
            </a:r>
            <a:endParaRPr lang="en-US" sz="1450" dirty="0"/>
          </a:p>
        </p:txBody>
      </p:sp>
      <p:sp>
        <p:nvSpPr>
          <p:cNvPr id="8" name="Text 6"/>
          <p:cNvSpPr/>
          <p:nvPr/>
        </p:nvSpPr>
        <p:spPr>
          <a:xfrm>
            <a:off x="5546765" y="2758559"/>
            <a:ext cx="8109109" cy="287298"/>
          </a:xfrm>
          <a:prstGeom prst="rect">
            <a:avLst/>
          </a:prstGeom>
          <a:noFill/>
          <a:ln/>
        </p:spPr>
        <p:txBody>
          <a:bodyPr wrap="none" lIns="0" tIns="0" rIns="0" bIns="0" rtlCol="0" anchor="t"/>
          <a:lstStyle/>
          <a:p>
            <a:pPr algn="l" indent="0" marL="0">
              <a:lnSpc>
                <a:spcPts val="2250"/>
              </a:lnSpc>
              <a:buNone/>
            </a:pPr>
            <a:r>
              <a:rPr lang="en-US" sz="1450" b="1" dirty="0">
                <a:solidFill>
                  <a:srgbClr val="4C4C4D"/>
                </a:solidFill>
                <a:latin typeface="Heebo" pitchFamily="34" charset="0"/>
                <a:ea typeface="Heebo" pitchFamily="34" charset="-122"/>
                <a:cs typeface="Heebo" pitchFamily="34" charset="-120"/>
              </a:rPr>
              <a:t>Mitigation</a:t>
            </a:r>
            <a:endParaRPr lang="en-US" sz="1450" dirty="0"/>
          </a:p>
        </p:txBody>
      </p:sp>
      <p:sp>
        <p:nvSpPr>
          <p:cNvPr id="9" name="Text 7"/>
          <p:cNvSpPr/>
          <p:nvPr/>
        </p:nvSpPr>
        <p:spPr>
          <a:xfrm>
            <a:off x="974646" y="3276838"/>
            <a:ext cx="4193500" cy="287298"/>
          </a:xfrm>
          <a:prstGeom prst="rect">
            <a:avLst/>
          </a:prstGeom>
          <a:noFill/>
          <a:ln/>
        </p:spPr>
        <p:txBody>
          <a:bodyPr wrap="none" lIns="0" tIns="0" rIns="0" bIns="0" rtlCol="0" anchor="t"/>
          <a:lstStyle/>
          <a:p>
            <a:pPr algn="l" indent="0" marL="0">
              <a:lnSpc>
                <a:spcPts val="2250"/>
              </a:lnSpc>
              <a:buNone/>
            </a:pPr>
            <a:r>
              <a:rPr lang="en-US" sz="1450" b="1" dirty="0">
                <a:solidFill>
                  <a:srgbClr val="2150FE"/>
                </a:solidFill>
                <a:latin typeface="Heebo" pitchFamily="34" charset="0"/>
                <a:ea typeface="Heebo" pitchFamily="34" charset="-122"/>
                <a:cs typeface="Heebo" pitchFamily="34" charset="-120"/>
              </a:rPr>
              <a:t>Prompt / Completion Exfiltration</a:t>
            </a:r>
            <a:endParaRPr lang="en-US" sz="1450" dirty="0"/>
          </a:p>
        </p:txBody>
      </p:sp>
      <p:sp>
        <p:nvSpPr>
          <p:cNvPr id="10" name="Text 8"/>
          <p:cNvSpPr/>
          <p:nvPr/>
        </p:nvSpPr>
        <p:spPr>
          <a:xfrm>
            <a:off x="5546765" y="3276838"/>
            <a:ext cx="8109109" cy="574596"/>
          </a:xfrm>
          <a:prstGeom prst="rect">
            <a:avLst/>
          </a:prstGeom>
          <a:noFill/>
          <a:ln/>
        </p:spPr>
        <p:txBody>
          <a:bodyPr wrap="square" lIns="0" tIns="0" rIns="0" bIns="0" rtlCol="0" anchor="t"/>
          <a:lstStyle/>
          <a:p>
            <a:pPr algn="l" indent="0" marL="0">
              <a:lnSpc>
                <a:spcPts val="2250"/>
              </a:lnSpc>
              <a:buNone/>
            </a:pPr>
            <a:r>
              <a:rPr lang="en-US" sz="1450" dirty="0">
                <a:solidFill>
                  <a:srgbClr val="4C4C4D"/>
                </a:solidFill>
                <a:latin typeface="Heebo" pitchFamily="34" charset="0"/>
                <a:ea typeface="Heebo" pitchFamily="34" charset="-122"/>
                <a:cs typeface="Heebo" pitchFamily="34" charset="-120"/>
              </a:rPr>
              <a:t>Traffic stays </a:t>
            </a:r>
            <a:pPr algn="l" indent="0" marL="0">
              <a:lnSpc>
                <a:spcPts val="2250"/>
              </a:lnSpc>
              <a:buNone/>
            </a:pPr>
            <a:r>
              <a:rPr lang="en-US" sz="1450" b="1" dirty="0">
                <a:solidFill>
                  <a:srgbClr val="4C4C4D"/>
                </a:solidFill>
                <a:latin typeface="Heebo" pitchFamily="34" charset="0"/>
                <a:ea typeface="Heebo" pitchFamily="34" charset="-122"/>
                <a:cs typeface="Heebo" pitchFamily="34" charset="-120"/>
              </a:rPr>
              <a:t>in-cluster</a:t>
            </a:r>
            <a:pPr algn="l" indent="0" marL="0">
              <a:lnSpc>
                <a:spcPts val="2250"/>
              </a:lnSpc>
              <a:buNone/>
            </a:pPr>
            <a:r>
              <a:rPr lang="en-US" sz="1450" dirty="0">
                <a:solidFill>
                  <a:srgbClr val="4C4C4D"/>
                </a:solidFill>
                <a:latin typeface="Heebo" pitchFamily="34" charset="0"/>
                <a:ea typeface="Heebo" pitchFamily="34" charset="-122"/>
                <a:cs typeface="Heebo" pitchFamily="34" charset="-120"/>
              </a:rPr>
              <a:t>; </a:t>
            </a:r>
            <a:pPr algn="l" indent="0" marL="0">
              <a:lnSpc>
                <a:spcPts val="2250"/>
              </a:lnSpc>
              <a:buNone/>
            </a:pPr>
            <a:r>
              <a:rPr lang="en-US" sz="1450" b="1" dirty="0">
                <a:solidFill>
                  <a:srgbClr val="4C4C4D"/>
                </a:solidFill>
                <a:latin typeface="Heebo" pitchFamily="34" charset="0"/>
                <a:ea typeface="Heebo" pitchFamily="34" charset="-122"/>
                <a:cs typeface="Heebo" pitchFamily="34" charset="-120"/>
              </a:rPr>
              <a:t>Kubernetes NetworkPolicies</a:t>
            </a:r>
            <a:pPr algn="l" indent="0" marL="0">
              <a:lnSpc>
                <a:spcPts val="2250"/>
              </a:lnSpc>
              <a:buNone/>
            </a:pPr>
            <a:r>
              <a:rPr lang="en-US" sz="1450" dirty="0">
                <a:solidFill>
                  <a:srgbClr val="4C4C4D"/>
                </a:solidFill>
                <a:latin typeface="Heebo" pitchFamily="34" charset="0"/>
                <a:ea typeface="Heebo" pitchFamily="34" charset="-122"/>
                <a:cs typeface="Heebo" pitchFamily="34" charset="-120"/>
              </a:rPr>
              <a:t> restrict which services may call LLMaaS or EMBaaS endpoints.</a:t>
            </a:r>
            <a:endParaRPr lang="en-US" sz="1450" dirty="0"/>
          </a:p>
        </p:txBody>
      </p:sp>
      <p:sp>
        <p:nvSpPr>
          <p:cNvPr id="11" name="Text 9"/>
          <p:cNvSpPr/>
          <p:nvPr/>
        </p:nvSpPr>
        <p:spPr>
          <a:xfrm>
            <a:off x="974646" y="4082415"/>
            <a:ext cx="4193500" cy="287298"/>
          </a:xfrm>
          <a:prstGeom prst="rect">
            <a:avLst/>
          </a:prstGeom>
          <a:noFill/>
          <a:ln/>
        </p:spPr>
        <p:txBody>
          <a:bodyPr wrap="none" lIns="0" tIns="0" rIns="0" bIns="0" rtlCol="0" anchor="t"/>
          <a:lstStyle/>
          <a:p>
            <a:pPr algn="l" indent="0" marL="0">
              <a:lnSpc>
                <a:spcPts val="2250"/>
              </a:lnSpc>
              <a:buNone/>
            </a:pPr>
            <a:r>
              <a:rPr lang="en-US" sz="1450" b="1" dirty="0">
                <a:solidFill>
                  <a:srgbClr val="2150FE"/>
                </a:solidFill>
                <a:latin typeface="Heebo" pitchFamily="34" charset="0"/>
                <a:ea typeface="Heebo" pitchFamily="34" charset="-122"/>
                <a:cs typeface="Heebo" pitchFamily="34" charset="-120"/>
              </a:rPr>
              <a:t>Shadow IT LLM APIs</a:t>
            </a:r>
            <a:endParaRPr lang="en-US" sz="1450" dirty="0"/>
          </a:p>
        </p:txBody>
      </p:sp>
      <p:sp>
        <p:nvSpPr>
          <p:cNvPr id="12" name="Text 10"/>
          <p:cNvSpPr/>
          <p:nvPr/>
        </p:nvSpPr>
        <p:spPr>
          <a:xfrm>
            <a:off x="5546765" y="4082415"/>
            <a:ext cx="8109109" cy="574596"/>
          </a:xfrm>
          <a:prstGeom prst="rect">
            <a:avLst/>
          </a:prstGeom>
          <a:noFill/>
          <a:ln/>
        </p:spPr>
        <p:txBody>
          <a:bodyPr wrap="square" lIns="0" tIns="0" rIns="0" bIns="0" rtlCol="0" anchor="t"/>
          <a:lstStyle/>
          <a:p>
            <a:pPr algn="l" indent="0" marL="0">
              <a:lnSpc>
                <a:spcPts val="2250"/>
              </a:lnSpc>
              <a:buNone/>
            </a:pPr>
            <a:r>
              <a:rPr lang="en-US" sz="1450" dirty="0">
                <a:solidFill>
                  <a:srgbClr val="4C4C4D"/>
                </a:solidFill>
                <a:latin typeface="Heebo" pitchFamily="34" charset="0"/>
                <a:ea typeface="Heebo" pitchFamily="34" charset="-122"/>
                <a:cs typeface="Heebo" pitchFamily="34" charset="-120"/>
              </a:rPr>
              <a:t>The standard build </a:t>
            </a:r>
            <a:pPr algn="l" indent="0" marL="0">
              <a:lnSpc>
                <a:spcPts val="2250"/>
              </a:lnSpc>
              <a:buNone/>
            </a:pPr>
            <a:r>
              <a:rPr lang="en-US" sz="1450" b="1" dirty="0">
                <a:solidFill>
                  <a:srgbClr val="4C4C4D"/>
                </a:solidFill>
                <a:latin typeface="Heebo" pitchFamily="34" charset="0"/>
                <a:ea typeface="Heebo" pitchFamily="34" charset="-122"/>
                <a:cs typeface="Heebo" pitchFamily="34" charset="-120"/>
              </a:rPr>
              <a:t>does not</a:t>
            </a:r>
            <a:pPr algn="l" indent="0" marL="0">
              <a:lnSpc>
                <a:spcPts val="2250"/>
              </a:lnSpc>
              <a:buNone/>
            </a:pPr>
            <a:r>
              <a:rPr lang="en-US" sz="1450" dirty="0">
                <a:solidFill>
                  <a:srgbClr val="4C4C4D"/>
                </a:solidFill>
                <a:latin typeface="Heebo" pitchFamily="34" charset="0"/>
                <a:ea typeface="Heebo" pitchFamily="34" charset="-122"/>
                <a:cs typeface="Heebo" pitchFamily="34" charset="-120"/>
              </a:rPr>
              <a:t> route application data to </a:t>
            </a:r>
            <a:pPr algn="l" indent="0" marL="0">
              <a:lnSpc>
                <a:spcPts val="2250"/>
              </a:lnSpc>
              <a:buNone/>
            </a:pPr>
            <a:r>
              <a:rPr lang="en-US" sz="1450" b="1" dirty="0">
                <a:solidFill>
                  <a:srgbClr val="4C4C4D"/>
                </a:solidFill>
                <a:latin typeface="Heebo" pitchFamily="34" charset="0"/>
                <a:ea typeface="Heebo" pitchFamily="34" charset="-122"/>
                <a:cs typeface="Heebo" pitchFamily="34" charset="-120"/>
              </a:rPr>
              <a:t>external</a:t>
            </a:r>
            <a:pPr algn="l" indent="0" marL="0">
              <a:lnSpc>
                <a:spcPts val="2250"/>
              </a:lnSpc>
              <a:buNone/>
            </a:pPr>
            <a:r>
              <a:rPr lang="en-US" sz="1450" dirty="0">
                <a:solidFill>
                  <a:srgbClr val="4C4C4D"/>
                </a:solidFill>
                <a:latin typeface="Heebo" pitchFamily="34" charset="0"/>
                <a:ea typeface="Heebo" pitchFamily="34" charset="-122"/>
                <a:cs typeface="Heebo" pitchFamily="34" charset="-120"/>
              </a:rPr>
              <a:t> inference providers — no OpenAI, Anthropic, or equivalent calls in the default configuration.</a:t>
            </a:r>
            <a:endParaRPr lang="en-US" sz="1450" dirty="0"/>
          </a:p>
        </p:txBody>
      </p:sp>
      <p:sp>
        <p:nvSpPr>
          <p:cNvPr id="13" name="Text 11"/>
          <p:cNvSpPr/>
          <p:nvPr/>
        </p:nvSpPr>
        <p:spPr>
          <a:xfrm>
            <a:off x="974646" y="4887992"/>
            <a:ext cx="4193500" cy="287298"/>
          </a:xfrm>
          <a:prstGeom prst="rect">
            <a:avLst/>
          </a:prstGeom>
          <a:noFill/>
          <a:ln/>
        </p:spPr>
        <p:txBody>
          <a:bodyPr wrap="none" lIns="0" tIns="0" rIns="0" bIns="0" rtlCol="0" anchor="t"/>
          <a:lstStyle/>
          <a:p>
            <a:pPr algn="l" indent="0" marL="0">
              <a:lnSpc>
                <a:spcPts val="2250"/>
              </a:lnSpc>
              <a:buNone/>
            </a:pPr>
            <a:r>
              <a:rPr lang="en-US" sz="1450" b="1" dirty="0">
                <a:solidFill>
                  <a:srgbClr val="2150FE"/>
                </a:solidFill>
                <a:latin typeface="Heebo" pitchFamily="34" charset="0"/>
                <a:ea typeface="Heebo" pitchFamily="34" charset="-122"/>
                <a:cs typeface="Heebo" pitchFamily="34" charset="-120"/>
              </a:rPr>
              <a:t>Cross-Tenant Leakage</a:t>
            </a:r>
            <a:endParaRPr lang="en-US" sz="1450" dirty="0"/>
          </a:p>
        </p:txBody>
      </p:sp>
      <p:sp>
        <p:nvSpPr>
          <p:cNvPr id="14" name="Text 12"/>
          <p:cNvSpPr/>
          <p:nvPr/>
        </p:nvSpPr>
        <p:spPr>
          <a:xfrm>
            <a:off x="5546765" y="4887992"/>
            <a:ext cx="8109109" cy="574596"/>
          </a:xfrm>
          <a:prstGeom prst="rect">
            <a:avLst/>
          </a:prstGeom>
          <a:noFill/>
          <a:ln/>
        </p:spPr>
        <p:txBody>
          <a:bodyPr wrap="square" lIns="0" tIns="0" rIns="0" bIns="0" rtlCol="0" anchor="t"/>
          <a:lstStyle/>
          <a:p>
            <a:pPr algn="l" indent="0" marL="0">
              <a:lnSpc>
                <a:spcPts val="2250"/>
              </a:lnSpc>
              <a:buNone/>
            </a:pPr>
            <a:r>
              <a:rPr lang="en-US" sz="1450" b="1" dirty="0">
                <a:solidFill>
                  <a:srgbClr val="4C4C4D"/>
                </a:solidFill>
                <a:latin typeface="Heebo" pitchFamily="34" charset="0"/>
                <a:ea typeface="Heebo" pitchFamily="34" charset="-122"/>
                <a:cs typeface="Heebo" pitchFamily="34" charset="-120"/>
              </a:rPr>
              <a:t>No customer fine-tuning</a:t>
            </a:r>
            <a:pPr algn="l" indent="0" marL="0">
              <a:lnSpc>
                <a:spcPts val="2250"/>
              </a:lnSpc>
              <a:buNone/>
            </a:pPr>
            <a:r>
              <a:rPr lang="en-US" sz="1450" dirty="0">
                <a:solidFill>
                  <a:srgbClr val="4C4C4D"/>
                </a:solidFill>
                <a:latin typeface="Heebo" pitchFamily="34" charset="0"/>
                <a:ea typeface="Heebo" pitchFamily="34" charset="-122"/>
                <a:cs typeface="Heebo" pitchFamily="34" charset="-120"/>
              </a:rPr>
              <a:t> on your data takes place without explicit written agreement, combined with enforced tenant isolation at the namespace and network level.</a:t>
            </a:r>
            <a:endParaRPr lang="en-US" sz="1450" dirty="0"/>
          </a:p>
        </p:txBody>
      </p:sp>
      <p:sp>
        <p:nvSpPr>
          <p:cNvPr id="15" name="Text 13"/>
          <p:cNvSpPr/>
          <p:nvPr/>
        </p:nvSpPr>
        <p:spPr>
          <a:xfrm>
            <a:off x="974646" y="5693569"/>
            <a:ext cx="4193500" cy="287298"/>
          </a:xfrm>
          <a:prstGeom prst="rect">
            <a:avLst/>
          </a:prstGeom>
          <a:noFill/>
          <a:ln/>
        </p:spPr>
        <p:txBody>
          <a:bodyPr wrap="none" lIns="0" tIns="0" rIns="0" bIns="0" rtlCol="0" anchor="t"/>
          <a:lstStyle/>
          <a:p>
            <a:pPr algn="l" indent="0" marL="0">
              <a:lnSpc>
                <a:spcPts val="2250"/>
              </a:lnSpc>
              <a:buNone/>
            </a:pPr>
            <a:r>
              <a:rPr lang="en-US" sz="1450" b="1" dirty="0">
                <a:solidFill>
                  <a:srgbClr val="2150FE"/>
                </a:solidFill>
                <a:latin typeface="Heebo" pitchFamily="34" charset="0"/>
                <a:ea typeface="Heebo" pitchFamily="34" charset="-122"/>
                <a:cs typeface="Heebo" pitchFamily="34" charset="-120"/>
              </a:rPr>
              <a:t>Observability vs. Privacy</a:t>
            </a:r>
            <a:endParaRPr lang="en-US" sz="1450" dirty="0"/>
          </a:p>
        </p:txBody>
      </p:sp>
      <p:sp>
        <p:nvSpPr>
          <p:cNvPr id="16" name="Text 14"/>
          <p:cNvSpPr/>
          <p:nvPr/>
        </p:nvSpPr>
        <p:spPr>
          <a:xfrm>
            <a:off x="5546765" y="5693569"/>
            <a:ext cx="8109109" cy="574596"/>
          </a:xfrm>
          <a:prstGeom prst="rect">
            <a:avLst/>
          </a:prstGeom>
          <a:noFill/>
          <a:ln/>
        </p:spPr>
        <p:txBody>
          <a:bodyPr wrap="square" lIns="0" tIns="0" rIns="0" bIns="0" rtlCol="0" anchor="t"/>
          <a:lstStyle/>
          <a:p>
            <a:pPr algn="l" indent="0" marL="0">
              <a:lnSpc>
                <a:spcPts val="2250"/>
              </a:lnSpc>
              <a:buNone/>
            </a:pPr>
            <a:r>
              <a:rPr lang="en-US" sz="1450" dirty="0">
                <a:solidFill>
                  <a:srgbClr val="4C4C4D"/>
                </a:solidFill>
                <a:latin typeface="Heebo" pitchFamily="34" charset="0"/>
                <a:ea typeface="Heebo" pitchFamily="34" charset="-122"/>
                <a:cs typeface="Heebo" pitchFamily="34" charset="-120"/>
              </a:rPr>
              <a:t>Observability data is limited to </a:t>
            </a:r>
            <a:pPr algn="l" indent="0" marL="0">
              <a:lnSpc>
                <a:spcPts val="2250"/>
              </a:lnSpc>
              <a:buNone/>
            </a:pPr>
            <a:r>
              <a:rPr lang="en-US" sz="1450" b="1" dirty="0">
                <a:solidFill>
                  <a:srgbClr val="4C4C4D"/>
                </a:solidFill>
                <a:latin typeface="Heebo" pitchFamily="34" charset="0"/>
                <a:ea typeface="Heebo" pitchFamily="34" charset="-122"/>
                <a:cs typeface="Heebo" pitchFamily="34" charset="-120"/>
              </a:rPr>
              <a:t>metrics</a:t>
            </a:r>
            <a:pPr algn="l" indent="0" marL="0">
              <a:lnSpc>
                <a:spcPts val="2250"/>
              </a:lnSpc>
              <a:buNone/>
            </a:pPr>
            <a:r>
              <a:rPr lang="en-US" sz="1450" dirty="0">
                <a:solidFill>
                  <a:srgbClr val="4C4C4D"/>
                </a:solidFill>
                <a:latin typeface="Heebo" pitchFamily="34" charset="0"/>
                <a:ea typeface="Heebo" pitchFamily="34" charset="-122"/>
                <a:cs typeface="Heebo" pitchFamily="34" charset="-120"/>
              </a:rPr>
              <a:t> (latency, token counts, HTTP status) — there is </a:t>
            </a:r>
            <a:pPr algn="l" indent="0" marL="0">
              <a:lnSpc>
                <a:spcPts val="2250"/>
              </a:lnSpc>
              <a:buNone/>
            </a:pPr>
            <a:r>
              <a:rPr lang="en-US" sz="1450" b="1" dirty="0">
                <a:solidFill>
                  <a:srgbClr val="4C4C4D"/>
                </a:solidFill>
                <a:latin typeface="Heebo" pitchFamily="34" charset="0"/>
                <a:ea typeface="Heebo" pitchFamily="34" charset="-122"/>
                <a:cs typeface="Heebo" pitchFamily="34" charset="-120"/>
              </a:rPr>
              <a:t>no bulk export of prompt contents</a:t>
            </a:r>
            <a:pPr algn="l" indent="0" marL="0">
              <a:lnSpc>
                <a:spcPts val="2250"/>
              </a:lnSpc>
              <a:buNone/>
            </a:pPr>
            <a:r>
              <a:rPr lang="en-US" sz="1450" dirty="0">
                <a:solidFill>
                  <a:srgbClr val="4C4C4D"/>
                </a:solidFill>
                <a:latin typeface="Heebo" pitchFamily="34" charset="0"/>
                <a:ea typeface="Heebo" pitchFamily="34" charset="-122"/>
                <a:cs typeface="Heebo" pitchFamily="34" charset="-120"/>
              </a:rPr>
              <a:t> to monitoring infrastructure.</a:t>
            </a:r>
            <a:endParaRPr lang="en-US" sz="1450" dirty="0"/>
          </a:p>
        </p:txBody>
      </p:sp>
      <p:sp>
        <p:nvSpPr>
          <p:cNvPr id="17" name="Shape 15"/>
          <p:cNvSpPr/>
          <p:nvPr/>
        </p:nvSpPr>
        <p:spPr>
          <a:xfrm>
            <a:off x="781407" y="6582728"/>
            <a:ext cx="13067586" cy="1043345"/>
          </a:xfrm>
          <a:prstGeom prst="roundRect">
            <a:avLst>
              <a:gd name="adj" fmla="val 2668"/>
            </a:avLst>
          </a:prstGeom>
          <a:solidFill>
            <a:srgbClr val="B6FCB8"/>
          </a:solidFill>
          <a:ln/>
        </p:spPr>
      </p:sp>
      <p:pic>
        <p:nvPicPr>
          <p:cNvPr id="18" name="Image 0" descr="preencoded.png">    </p:cNvPr>
          <p:cNvPicPr>
            <a:picLocks noChangeAspect="1"/>
          </p:cNvPicPr>
          <p:nvPr/>
        </p:nvPicPr>
        <p:blipFill>
          <a:blip r:embed="rId1"/>
          <a:stretch>
            <a:fillRect/>
          </a:stretch>
        </p:blipFill>
        <p:spPr>
          <a:xfrm>
            <a:off x="966907" y="6850261"/>
            <a:ext cx="231934" cy="185499"/>
          </a:xfrm>
          <a:prstGeom prst="rect">
            <a:avLst/>
          </a:prstGeom>
        </p:spPr>
      </p:pic>
      <p:sp>
        <p:nvSpPr>
          <p:cNvPr id="19" name="Text 16"/>
          <p:cNvSpPr/>
          <p:nvPr/>
        </p:nvSpPr>
        <p:spPr>
          <a:xfrm>
            <a:off x="1384340" y="6802517"/>
            <a:ext cx="12279154" cy="574596"/>
          </a:xfrm>
          <a:prstGeom prst="rect">
            <a:avLst/>
          </a:prstGeom>
          <a:noFill/>
          <a:ln/>
        </p:spPr>
        <p:txBody>
          <a:bodyPr wrap="square" lIns="0" tIns="0" rIns="0" bIns="0" rtlCol="0" anchor="t"/>
          <a:lstStyle/>
          <a:p>
            <a:pPr algn="l" indent="0" marL="0">
              <a:lnSpc>
                <a:spcPts val="2250"/>
              </a:lnSpc>
              <a:buNone/>
            </a:pPr>
            <a:r>
              <a:rPr lang="en-US" sz="1450" dirty="0">
                <a:solidFill>
                  <a:srgbClr val="000000"/>
                </a:solidFill>
                <a:latin typeface="Heebo" pitchFamily="34" charset="0"/>
                <a:ea typeface="Heebo" pitchFamily="34" charset="-122"/>
                <a:cs typeface="Heebo" pitchFamily="34" charset="-120"/>
              </a:rPr>
              <a:t>This posture directly addresses the most common enterprise barrier to generative AI adoption: data leaving the organisational boundary without consent.</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81407" y="589717"/>
            <a:ext cx="954643" cy="294680"/>
          </a:xfrm>
          <a:prstGeom prst="roundRect">
            <a:avLst>
              <a:gd name="adj" fmla="val 6763"/>
            </a:avLst>
          </a:prstGeom>
          <a:solidFill>
            <a:srgbClr val="CCD7FF"/>
          </a:solidFill>
          <a:ln/>
        </p:spPr>
      </p:sp>
      <p:sp>
        <p:nvSpPr>
          <p:cNvPr id="3" name="Text 1"/>
          <p:cNvSpPr/>
          <p:nvPr/>
        </p:nvSpPr>
        <p:spPr>
          <a:xfrm>
            <a:off x="880943" y="639485"/>
            <a:ext cx="755571" cy="195143"/>
          </a:xfrm>
          <a:prstGeom prst="rect">
            <a:avLst/>
          </a:prstGeom>
          <a:noFill/>
          <a:ln/>
        </p:spPr>
        <p:txBody>
          <a:bodyPr wrap="none" lIns="0" tIns="0" rIns="0" bIns="0" rtlCol="0" anchor="t"/>
          <a:lstStyle/>
          <a:p>
            <a:pPr algn="l" indent="0" marL="0">
              <a:lnSpc>
                <a:spcPts val="1500"/>
              </a:lnSpc>
              <a:buNone/>
            </a:pPr>
            <a:r>
              <a:rPr lang="en-US" sz="1000" dirty="0">
                <a:solidFill>
                  <a:srgbClr val="4C4C4D"/>
                </a:solidFill>
                <a:latin typeface="Heebo" pitchFamily="34" charset="0"/>
                <a:ea typeface="Heebo" pitchFamily="34" charset="-122"/>
                <a:cs typeface="Heebo" pitchFamily="34" charset="-120"/>
              </a:rPr>
              <a:t>ASSURANCE</a:t>
            </a:r>
            <a:endParaRPr lang="en-US" sz="1000" dirty="0"/>
          </a:p>
        </p:txBody>
      </p:sp>
      <p:sp>
        <p:nvSpPr>
          <p:cNvPr id="4" name="Text 2"/>
          <p:cNvSpPr/>
          <p:nvPr/>
        </p:nvSpPr>
        <p:spPr>
          <a:xfrm>
            <a:off x="781407" y="939879"/>
            <a:ext cx="7366040" cy="518874"/>
          </a:xfrm>
          <a:prstGeom prst="rect">
            <a:avLst/>
          </a:prstGeom>
          <a:noFill/>
          <a:ln/>
        </p:spPr>
        <p:txBody>
          <a:bodyPr wrap="none" lIns="0" tIns="0" rIns="0" bIns="0" rtlCol="0" anchor="t"/>
          <a:lstStyle/>
          <a:p>
            <a:pPr algn="l" indent="0" marL="0">
              <a:lnSpc>
                <a:spcPts val="4050"/>
              </a:lnSpc>
              <a:buNone/>
            </a:pPr>
            <a:r>
              <a:rPr lang="en-US" sz="3250" dirty="0">
                <a:solidFill>
                  <a:srgbClr val="152D47"/>
                </a:solidFill>
                <a:latin typeface="Crimson Pro Semi Bold" pitchFamily="34" charset="0"/>
                <a:ea typeface="Crimson Pro Semi Bold" pitchFamily="34" charset="-122"/>
                <a:cs typeface="Crimson Pro Semi Bold" pitchFamily="34" charset="-120"/>
              </a:rPr>
              <a:t>OVHcloud — Public Compliance Catalogue</a:t>
            </a:r>
            <a:endParaRPr lang="en-US" sz="3250" dirty="0"/>
          </a:p>
        </p:txBody>
      </p:sp>
      <p:sp>
        <p:nvSpPr>
          <p:cNvPr id="5" name="Text 3"/>
          <p:cNvSpPr/>
          <p:nvPr/>
        </p:nvSpPr>
        <p:spPr>
          <a:xfrm>
            <a:off x="781407" y="1667113"/>
            <a:ext cx="13067586" cy="487918"/>
          </a:xfrm>
          <a:prstGeom prst="rect">
            <a:avLst/>
          </a:prstGeom>
          <a:noFill/>
          <a:ln/>
        </p:spPr>
        <p:txBody>
          <a:bodyPr wrap="square" lIns="0" tIns="0" rIns="0" bIns="0" rtlCol="0" anchor="t"/>
          <a:lstStyle/>
          <a:p>
            <a:pPr algn="l" indent="0" marL="0">
              <a:lnSpc>
                <a:spcPts val="1900"/>
              </a:lnSpc>
              <a:buNone/>
            </a:pPr>
            <a:r>
              <a:rPr lang="en-US" sz="1300" dirty="0">
                <a:solidFill>
                  <a:srgbClr val="4C4C4D"/>
                </a:solidFill>
                <a:latin typeface="Heebo" pitchFamily="34" charset="0"/>
                <a:ea typeface="Heebo" pitchFamily="34" charset="-122"/>
                <a:cs typeface="Heebo" pitchFamily="34" charset="-120"/>
              </a:rPr>
              <a:t>OVHcloud maintains one of the broadest public compliance catalogues of any EU cloud provider. The certifications below apply to the infrastructure underpinning your deployment. Archived PDF snapshots of the relevant public pages are included in </a:t>
            </a:r>
            <a:pPr algn="l" indent="0" marL="0">
              <a:lnSpc>
                <a:spcPts val="1900"/>
              </a:lnSpc>
              <a:buNone/>
            </a:pPr>
            <a:r>
              <a:rPr lang="en-US" sz="1300" b="1" dirty="0">
                <a:solidFill>
                  <a:srgbClr val="4C4C4D"/>
                </a:solidFill>
                <a:latin typeface="Heebo" pitchFamily="34" charset="0"/>
                <a:ea typeface="Heebo" pitchFamily="34" charset="-122"/>
                <a:cs typeface="Heebo" pitchFamily="34" charset="-120"/>
              </a:rPr>
              <a:t>ANDRITZ-pack/02_ovhcloud/</a:t>
            </a:r>
            <a:pPr algn="l" indent="0" marL="0">
              <a:lnSpc>
                <a:spcPts val="1900"/>
              </a:lnSpc>
              <a:buNone/>
            </a:pPr>
            <a:r>
              <a:rPr lang="en-US" sz="1300" dirty="0">
                <a:solidFill>
                  <a:srgbClr val="4C4C4D"/>
                </a:solidFill>
                <a:latin typeface="Heebo" pitchFamily="34" charset="0"/>
                <a:ea typeface="Heebo" pitchFamily="34" charset="-122"/>
                <a:cs typeface="Heebo" pitchFamily="34" charset="-120"/>
              </a:rPr>
              <a:t>.</a:t>
            </a:r>
            <a:endParaRPr lang="en-US" sz="1300" dirty="0"/>
          </a:p>
        </p:txBody>
      </p:sp>
      <p:sp>
        <p:nvSpPr>
          <p:cNvPr id="6" name="Shape 4"/>
          <p:cNvSpPr/>
          <p:nvPr/>
        </p:nvSpPr>
        <p:spPr>
          <a:xfrm>
            <a:off x="781407" y="2560320"/>
            <a:ext cx="6464260" cy="1434465"/>
          </a:xfrm>
          <a:prstGeom prst="roundRect">
            <a:avLst>
              <a:gd name="adj" fmla="val 7649"/>
            </a:avLst>
          </a:prstGeom>
          <a:solidFill>
            <a:srgbClr val="FFFFFF"/>
          </a:solidFill>
          <a:ln/>
        </p:spPr>
      </p:sp>
      <p:sp>
        <p:nvSpPr>
          <p:cNvPr id="7" name="Shape 5"/>
          <p:cNvSpPr/>
          <p:nvPr/>
        </p:nvSpPr>
        <p:spPr>
          <a:xfrm>
            <a:off x="781407" y="2537460"/>
            <a:ext cx="6464260" cy="91440"/>
          </a:xfrm>
          <a:prstGeom prst="roundRect">
            <a:avLst>
              <a:gd name="adj" fmla="val 27242"/>
            </a:avLst>
          </a:prstGeom>
          <a:solidFill>
            <a:srgbClr val="2150FE"/>
          </a:solidFill>
          <a:ln/>
        </p:spPr>
      </p:sp>
      <p:sp>
        <p:nvSpPr>
          <p:cNvPr id="8" name="Shape 6"/>
          <p:cNvSpPr/>
          <p:nvPr/>
        </p:nvSpPr>
        <p:spPr>
          <a:xfrm>
            <a:off x="3764399" y="2311241"/>
            <a:ext cx="498158" cy="498157"/>
          </a:xfrm>
          <a:prstGeom prst="roundRect">
            <a:avLst>
              <a:gd name="adj" fmla="val 183557"/>
            </a:avLst>
          </a:prstGeom>
          <a:solidFill>
            <a:srgbClr val="2150FE"/>
          </a:solidFill>
          <a:ln/>
        </p:spPr>
      </p:sp>
      <p:sp>
        <p:nvSpPr>
          <p:cNvPr id="9" name="Text 7"/>
          <p:cNvSpPr/>
          <p:nvPr/>
        </p:nvSpPr>
        <p:spPr>
          <a:xfrm>
            <a:off x="970240" y="2975372"/>
            <a:ext cx="2558653" cy="259318"/>
          </a:xfrm>
          <a:prstGeom prst="rect">
            <a:avLst/>
          </a:prstGeom>
          <a:noFill/>
          <a:ln/>
        </p:spPr>
        <p:txBody>
          <a:bodyPr wrap="none" lIns="0" tIns="0" rIns="0" bIns="0" rtlCol="0" anchor="t"/>
          <a:lstStyle/>
          <a:p>
            <a:pPr algn="l" indent="0" marL="0">
              <a:lnSpc>
                <a:spcPts val="2000"/>
              </a:lnSpc>
              <a:buNone/>
            </a:pPr>
            <a:r>
              <a:rPr lang="en-US" sz="1600" dirty="0">
                <a:solidFill>
                  <a:srgbClr val="4C4C4D"/>
                </a:solidFill>
                <a:latin typeface="Crimson Pro Semi Bold" pitchFamily="34" charset="0"/>
                <a:ea typeface="Crimson Pro Semi Bold" pitchFamily="34" charset="-122"/>
                <a:cs typeface="Crimson Pro Semi Bold" pitchFamily="34" charset="-120"/>
              </a:rPr>
              <a:t>ISO/IEC 27001 / 27017 / 27018</a:t>
            </a:r>
            <a:endParaRPr lang="en-US" sz="1600" dirty="0"/>
          </a:p>
        </p:txBody>
      </p:sp>
      <p:sp>
        <p:nvSpPr>
          <p:cNvPr id="10" name="Text 8"/>
          <p:cNvSpPr/>
          <p:nvPr/>
        </p:nvSpPr>
        <p:spPr>
          <a:xfrm>
            <a:off x="970240" y="3318034"/>
            <a:ext cx="6086594" cy="487918"/>
          </a:xfrm>
          <a:prstGeom prst="rect">
            <a:avLst/>
          </a:prstGeom>
          <a:noFill/>
          <a:ln/>
        </p:spPr>
        <p:txBody>
          <a:bodyPr wrap="square" lIns="0" tIns="0" rIns="0" bIns="0" rtlCol="0" anchor="t"/>
          <a:lstStyle/>
          <a:p>
            <a:pPr algn="l" indent="0" marL="0">
              <a:lnSpc>
                <a:spcPts val="1900"/>
              </a:lnSpc>
              <a:buNone/>
            </a:pPr>
            <a:r>
              <a:rPr lang="en-US" sz="1300" dirty="0">
                <a:solidFill>
                  <a:srgbClr val="4C4C4D"/>
                </a:solidFill>
                <a:latin typeface="Heebo" pitchFamily="34" charset="0"/>
                <a:ea typeface="Heebo" pitchFamily="34" charset="-122"/>
                <a:cs typeface="Heebo" pitchFamily="34" charset="-120"/>
              </a:rPr>
              <a:t>ISMS for cloud services, cloud-specific controls, and protection of PII in public cloud environments.</a:t>
            </a:r>
            <a:endParaRPr lang="en-US" sz="1300" dirty="0"/>
          </a:p>
        </p:txBody>
      </p:sp>
      <p:sp>
        <p:nvSpPr>
          <p:cNvPr id="11" name="Shape 9"/>
          <p:cNvSpPr/>
          <p:nvPr/>
        </p:nvSpPr>
        <p:spPr>
          <a:xfrm>
            <a:off x="7384613" y="2560320"/>
            <a:ext cx="6464379" cy="1434465"/>
          </a:xfrm>
          <a:prstGeom prst="roundRect">
            <a:avLst>
              <a:gd name="adj" fmla="val 7649"/>
            </a:avLst>
          </a:prstGeom>
          <a:solidFill>
            <a:srgbClr val="FFFFFF"/>
          </a:solidFill>
          <a:ln/>
        </p:spPr>
      </p:sp>
      <p:sp>
        <p:nvSpPr>
          <p:cNvPr id="12" name="Shape 10"/>
          <p:cNvSpPr/>
          <p:nvPr/>
        </p:nvSpPr>
        <p:spPr>
          <a:xfrm>
            <a:off x="7384613" y="2537460"/>
            <a:ext cx="6464379" cy="91440"/>
          </a:xfrm>
          <a:prstGeom prst="roundRect">
            <a:avLst>
              <a:gd name="adj" fmla="val 27242"/>
            </a:avLst>
          </a:prstGeom>
          <a:solidFill>
            <a:srgbClr val="2150FE"/>
          </a:solidFill>
          <a:ln/>
        </p:spPr>
      </p:sp>
      <p:sp>
        <p:nvSpPr>
          <p:cNvPr id="13" name="Shape 11"/>
          <p:cNvSpPr/>
          <p:nvPr/>
        </p:nvSpPr>
        <p:spPr>
          <a:xfrm>
            <a:off x="10367724" y="2311241"/>
            <a:ext cx="498158" cy="498157"/>
          </a:xfrm>
          <a:prstGeom prst="roundRect">
            <a:avLst>
              <a:gd name="adj" fmla="val 183557"/>
            </a:avLst>
          </a:prstGeom>
          <a:solidFill>
            <a:srgbClr val="2150FE"/>
          </a:solidFill>
          <a:ln/>
        </p:spPr>
      </p:sp>
      <p:sp>
        <p:nvSpPr>
          <p:cNvPr id="14" name="Text 12"/>
          <p:cNvSpPr/>
          <p:nvPr/>
        </p:nvSpPr>
        <p:spPr>
          <a:xfrm>
            <a:off x="7573447" y="2975372"/>
            <a:ext cx="2075736" cy="259318"/>
          </a:xfrm>
          <a:prstGeom prst="rect">
            <a:avLst/>
          </a:prstGeom>
          <a:noFill/>
          <a:ln/>
        </p:spPr>
        <p:txBody>
          <a:bodyPr wrap="none" lIns="0" tIns="0" rIns="0" bIns="0" rtlCol="0" anchor="t"/>
          <a:lstStyle/>
          <a:p>
            <a:pPr algn="l" indent="0" marL="0">
              <a:lnSpc>
                <a:spcPts val="2000"/>
              </a:lnSpc>
              <a:buNone/>
            </a:pPr>
            <a:r>
              <a:rPr lang="en-US" sz="1600" dirty="0">
                <a:solidFill>
                  <a:srgbClr val="4C4C4D"/>
                </a:solidFill>
                <a:latin typeface="Crimson Pro Semi Bold" pitchFamily="34" charset="0"/>
                <a:ea typeface="Crimson Pro Semi Bold" pitchFamily="34" charset="-122"/>
                <a:cs typeface="Crimson Pro Semi Bold" pitchFamily="34" charset="-120"/>
              </a:rPr>
              <a:t>ISO/IEC 27701</a:t>
            </a:r>
            <a:endParaRPr lang="en-US" sz="1600" dirty="0"/>
          </a:p>
        </p:txBody>
      </p:sp>
      <p:sp>
        <p:nvSpPr>
          <p:cNvPr id="15" name="Text 13"/>
          <p:cNvSpPr/>
          <p:nvPr/>
        </p:nvSpPr>
        <p:spPr>
          <a:xfrm>
            <a:off x="7573447" y="3318034"/>
            <a:ext cx="6086713" cy="487918"/>
          </a:xfrm>
          <a:prstGeom prst="rect">
            <a:avLst/>
          </a:prstGeom>
          <a:noFill/>
          <a:ln/>
        </p:spPr>
        <p:txBody>
          <a:bodyPr wrap="square" lIns="0" tIns="0" rIns="0" bIns="0" rtlCol="0" anchor="t"/>
          <a:lstStyle/>
          <a:p>
            <a:pPr algn="l" indent="0" marL="0">
              <a:lnSpc>
                <a:spcPts val="1900"/>
              </a:lnSpc>
              <a:buNone/>
            </a:pPr>
            <a:r>
              <a:rPr lang="en-US" sz="1300" dirty="0">
                <a:solidFill>
                  <a:srgbClr val="4C4C4D"/>
                </a:solidFill>
                <a:latin typeface="Heebo" pitchFamily="34" charset="0"/>
                <a:ea typeface="Heebo" pitchFamily="34" charset="-122"/>
                <a:cs typeface="Heebo" pitchFamily="34" charset="-120"/>
              </a:rPr>
              <a:t>Privacy Information Management System (PIMS) extension — aligned with GDPR accountability principles.</a:t>
            </a:r>
            <a:endParaRPr lang="en-US" sz="1300" dirty="0"/>
          </a:p>
        </p:txBody>
      </p:sp>
      <p:sp>
        <p:nvSpPr>
          <p:cNvPr id="16" name="Shape 14"/>
          <p:cNvSpPr/>
          <p:nvPr/>
        </p:nvSpPr>
        <p:spPr>
          <a:xfrm>
            <a:off x="781407" y="4382810"/>
            <a:ext cx="6464260" cy="1434465"/>
          </a:xfrm>
          <a:prstGeom prst="roundRect">
            <a:avLst>
              <a:gd name="adj" fmla="val 7649"/>
            </a:avLst>
          </a:prstGeom>
          <a:solidFill>
            <a:srgbClr val="FFFFFF"/>
          </a:solidFill>
          <a:ln/>
        </p:spPr>
      </p:sp>
      <p:sp>
        <p:nvSpPr>
          <p:cNvPr id="17" name="Shape 15"/>
          <p:cNvSpPr/>
          <p:nvPr/>
        </p:nvSpPr>
        <p:spPr>
          <a:xfrm>
            <a:off x="781407" y="4359950"/>
            <a:ext cx="6464260" cy="91440"/>
          </a:xfrm>
          <a:prstGeom prst="roundRect">
            <a:avLst>
              <a:gd name="adj" fmla="val 27242"/>
            </a:avLst>
          </a:prstGeom>
          <a:solidFill>
            <a:srgbClr val="2150FE"/>
          </a:solidFill>
          <a:ln/>
        </p:spPr>
      </p:sp>
      <p:sp>
        <p:nvSpPr>
          <p:cNvPr id="18" name="Shape 16"/>
          <p:cNvSpPr/>
          <p:nvPr/>
        </p:nvSpPr>
        <p:spPr>
          <a:xfrm>
            <a:off x="3764399" y="4133731"/>
            <a:ext cx="498158" cy="498157"/>
          </a:xfrm>
          <a:prstGeom prst="roundRect">
            <a:avLst>
              <a:gd name="adj" fmla="val 183557"/>
            </a:avLst>
          </a:prstGeom>
          <a:solidFill>
            <a:srgbClr val="2150FE"/>
          </a:solidFill>
          <a:ln/>
        </p:spPr>
      </p:sp>
      <p:sp>
        <p:nvSpPr>
          <p:cNvPr id="19" name="Text 17"/>
          <p:cNvSpPr/>
          <p:nvPr/>
        </p:nvSpPr>
        <p:spPr>
          <a:xfrm>
            <a:off x="970240" y="4797862"/>
            <a:ext cx="2075736" cy="259318"/>
          </a:xfrm>
          <a:prstGeom prst="rect">
            <a:avLst/>
          </a:prstGeom>
          <a:noFill/>
          <a:ln/>
        </p:spPr>
        <p:txBody>
          <a:bodyPr wrap="none" lIns="0" tIns="0" rIns="0" bIns="0" rtlCol="0" anchor="t"/>
          <a:lstStyle/>
          <a:p>
            <a:pPr algn="l" indent="0" marL="0">
              <a:lnSpc>
                <a:spcPts val="2000"/>
              </a:lnSpc>
              <a:buNone/>
            </a:pPr>
            <a:r>
              <a:rPr lang="en-US" sz="1600" dirty="0">
                <a:solidFill>
                  <a:srgbClr val="4C4C4D"/>
                </a:solidFill>
                <a:latin typeface="Crimson Pro Semi Bold" pitchFamily="34" charset="0"/>
                <a:ea typeface="Crimson Pro Semi Bold" pitchFamily="34" charset="-122"/>
                <a:cs typeface="Crimson Pro Semi Bold" pitchFamily="34" charset="-120"/>
              </a:rPr>
              <a:t>HDS</a:t>
            </a:r>
            <a:endParaRPr lang="en-US" sz="1600" dirty="0"/>
          </a:p>
        </p:txBody>
      </p:sp>
      <p:sp>
        <p:nvSpPr>
          <p:cNvPr id="20" name="Text 18"/>
          <p:cNvSpPr/>
          <p:nvPr/>
        </p:nvSpPr>
        <p:spPr>
          <a:xfrm>
            <a:off x="970240" y="5140523"/>
            <a:ext cx="6086594" cy="487918"/>
          </a:xfrm>
          <a:prstGeom prst="rect">
            <a:avLst/>
          </a:prstGeom>
          <a:noFill/>
          <a:ln/>
        </p:spPr>
        <p:txBody>
          <a:bodyPr wrap="square" lIns="0" tIns="0" rIns="0" bIns="0" rtlCol="0" anchor="t"/>
          <a:lstStyle/>
          <a:p>
            <a:pPr algn="l" indent="0" marL="0">
              <a:lnSpc>
                <a:spcPts val="1900"/>
              </a:lnSpc>
              <a:buNone/>
            </a:pPr>
            <a:r>
              <a:rPr lang="en-US" sz="1300" dirty="0">
                <a:solidFill>
                  <a:srgbClr val="4C4C4D"/>
                </a:solidFill>
                <a:latin typeface="Heebo" pitchFamily="34" charset="0"/>
                <a:ea typeface="Heebo" pitchFamily="34" charset="-122"/>
                <a:cs typeface="Heebo" pitchFamily="34" charset="-120"/>
              </a:rPr>
              <a:t>French health data hosting certification — applicable where the workload processes health data.</a:t>
            </a:r>
            <a:endParaRPr lang="en-US" sz="1300" dirty="0"/>
          </a:p>
        </p:txBody>
      </p:sp>
      <p:sp>
        <p:nvSpPr>
          <p:cNvPr id="21" name="Shape 19"/>
          <p:cNvSpPr/>
          <p:nvPr/>
        </p:nvSpPr>
        <p:spPr>
          <a:xfrm>
            <a:off x="7384613" y="4382810"/>
            <a:ext cx="6464379" cy="1434465"/>
          </a:xfrm>
          <a:prstGeom prst="roundRect">
            <a:avLst>
              <a:gd name="adj" fmla="val 7649"/>
            </a:avLst>
          </a:prstGeom>
          <a:solidFill>
            <a:srgbClr val="FFFFFF"/>
          </a:solidFill>
          <a:ln/>
        </p:spPr>
      </p:sp>
      <p:sp>
        <p:nvSpPr>
          <p:cNvPr id="22" name="Shape 20"/>
          <p:cNvSpPr/>
          <p:nvPr/>
        </p:nvSpPr>
        <p:spPr>
          <a:xfrm>
            <a:off x="7384613" y="4359950"/>
            <a:ext cx="6464379" cy="91440"/>
          </a:xfrm>
          <a:prstGeom prst="roundRect">
            <a:avLst>
              <a:gd name="adj" fmla="val 27242"/>
            </a:avLst>
          </a:prstGeom>
          <a:solidFill>
            <a:srgbClr val="2150FE"/>
          </a:solidFill>
          <a:ln/>
        </p:spPr>
      </p:sp>
      <p:sp>
        <p:nvSpPr>
          <p:cNvPr id="23" name="Shape 21"/>
          <p:cNvSpPr/>
          <p:nvPr/>
        </p:nvSpPr>
        <p:spPr>
          <a:xfrm>
            <a:off x="10367724" y="4133731"/>
            <a:ext cx="498158" cy="498157"/>
          </a:xfrm>
          <a:prstGeom prst="roundRect">
            <a:avLst>
              <a:gd name="adj" fmla="val 183557"/>
            </a:avLst>
          </a:prstGeom>
          <a:solidFill>
            <a:srgbClr val="2150FE"/>
          </a:solidFill>
          <a:ln/>
        </p:spPr>
      </p:sp>
      <p:sp>
        <p:nvSpPr>
          <p:cNvPr id="24" name="Text 22"/>
          <p:cNvSpPr/>
          <p:nvPr/>
        </p:nvSpPr>
        <p:spPr>
          <a:xfrm>
            <a:off x="7573447" y="4797862"/>
            <a:ext cx="2075736" cy="259318"/>
          </a:xfrm>
          <a:prstGeom prst="rect">
            <a:avLst/>
          </a:prstGeom>
          <a:noFill/>
          <a:ln/>
        </p:spPr>
        <p:txBody>
          <a:bodyPr wrap="none" lIns="0" tIns="0" rIns="0" bIns="0" rtlCol="0" anchor="t"/>
          <a:lstStyle/>
          <a:p>
            <a:pPr algn="l" indent="0" marL="0">
              <a:lnSpc>
                <a:spcPts val="2000"/>
              </a:lnSpc>
              <a:buNone/>
            </a:pPr>
            <a:r>
              <a:rPr lang="en-US" sz="1600" dirty="0">
                <a:solidFill>
                  <a:srgbClr val="4C4C4D"/>
                </a:solidFill>
                <a:latin typeface="Crimson Pro Semi Bold" pitchFamily="34" charset="0"/>
                <a:ea typeface="Crimson Pro Semi Bold" pitchFamily="34" charset="-122"/>
                <a:cs typeface="Crimson Pro Semi Bold" pitchFamily="34" charset="-120"/>
              </a:rPr>
              <a:t>SecNumCloud</a:t>
            </a:r>
            <a:endParaRPr lang="en-US" sz="1600" dirty="0"/>
          </a:p>
        </p:txBody>
      </p:sp>
      <p:sp>
        <p:nvSpPr>
          <p:cNvPr id="25" name="Text 23"/>
          <p:cNvSpPr/>
          <p:nvPr/>
        </p:nvSpPr>
        <p:spPr>
          <a:xfrm>
            <a:off x="7573447" y="5140523"/>
            <a:ext cx="6086713" cy="487918"/>
          </a:xfrm>
          <a:prstGeom prst="rect">
            <a:avLst/>
          </a:prstGeom>
          <a:noFill/>
          <a:ln/>
        </p:spPr>
        <p:txBody>
          <a:bodyPr wrap="square" lIns="0" tIns="0" rIns="0" bIns="0" rtlCol="0" anchor="t"/>
          <a:lstStyle/>
          <a:p>
            <a:pPr algn="l" indent="0" marL="0">
              <a:lnSpc>
                <a:spcPts val="1900"/>
              </a:lnSpc>
              <a:buNone/>
            </a:pPr>
            <a:r>
              <a:rPr lang="en-US" sz="1300" dirty="0">
                <a:solidFill>
                  <a:srgbClr val="4C4C4D"/>
                </a:solidFill>
                <a:latin typeface="Heebo" pitchFamily="34" charset="0"/>
                <a:ea typeface="Heebo" pitchFamily="34" charset="-122"/>
                <a:cs typeface="Heebo" pitchFamily="34" charset="-120"/>
              </a:rPr>
              <a:t>French ANSSI trusted cloud qualification for specific OVHcloud offers — highest EU sovereign cloud assurance.</a:t>
            </a:r>
            <a:endParaRPr lang="en-US" sz="1300" dirty="0"/>
          </a:p>
        </p:txBody>
      </p:sp>
      <p:sp>
        <p:nvSpPr>
          <p:cNvPr id="26" name="Shape 24"/>
          <p:cNvSpPr/>
          <p:nvPr/>
        </p:nvSpPr>
        <p:spPr>
          <a:xfrm>
            <a:off x="781407" y="6205299"/>
            <a:ext cx="6464260" cy="1434465"/>
          </a:xfrm>
          <a:prstGeom prst="roundRect">
            <a:avLst>
              <a:gd name="adj" fmla="val 7649"/>
            </a:avLst>
          </a:prstGeom>
          <a:solidFill>
            <a:srgbClr val="FFFFFF"/>
          </a:solidFill>
          <a:ln/>
        </p:spPr>
      </p:sp>
      <p:sp>
        <p:nvSpPr>
          <p:cNvPr id="27" name="Shape 25"/>
          <p:cNvSpPr/>
          <p:nvPr/>
        </p:nvSpPr>
        <p:spPr>
          <a:xfrm>
            <a:off x="781407" y="6182439"/>
            <a:ext cx="6464260" cy="91440"/>
          </a:xfrm>
          <a:prstGeom prst="roundRect">
            <a:avLst>
              <a:gd name="adj" fmla="val 27242"/>
            </a:avLst>
          </a:prstGeom>
          <a:solidFill>
            <a:srgbClr val="2150FE"/>
          </a:solidFill>
          <a:ln/>
        </p:spPr>
      </p:sp>
      <p:sp>
        <p:nvSpPr>
          <p:cNvPr id="28" name="Shape 26"/>
          <p:cNvSpPr/>
          <p:nvPr/>
        </p:nvSpPr>
        <p:spPr>
          <a:xfrm>
            <a:off x="3764399" y="5956221"/>
            <a:ext cx="498158" cy="498157"/>
          </a:xfrm>
          <a:prstGeom prst="roundRect">
            <a:avLst>
              <a:gd name="adj" fmla="val 183557"/>
            </a:avLst>
          </a:prstGeom>
          <a:solidFill>
            <a:srgbClr val="2150FE"/>
          </a:solidFill>
          <a:ln/>
        </p:spPr>
      </p:sp>
      <p:sp>
        <p:nvSpPr>
          <p:cNvPr id="29" name="Text 27"/>
          <p:cNvSpPr/>
          <p:nvPr/>
        </p:nvSpPr>
        <p:spPr>
          <a:xfrm>
            <a:off x="970240" y="6620351"/>
            <a:ext cx="2075736" cy="259318"/>
          </a:xfrm>
          <a:prstGeom prst="rect">
            <a:avLst/>
          </a:prstGeom>
          <a:noFill/>
          <a:ln/>
        </p:spPr>
        <p:txBody>
          <a:bodyPr wrap="none" lIns="0" tIns="0" rIns="0" bIns="0" rtlCol="0" anchor="t"/>
          <a:lstStyle/>
          <a:p>
            <a:pPr algn="l" indent="0" marL="0">
              <a:lnSpc>
                <a:spcPts val="2000"/>
              </a:lnSpc>
              <a:buNone/>
            </a:pPr>
            <a:r>
              <a:rPr lang="en-US" sz="1600" dirty="0">
                <a:solidFill>
                  <a:srgbClr val="4C4C4D"/>
                </a:solidFill>
                <a:latin typeface="Crimson Pro Semi Bold" pitchFamily="34" charset="0"/>
                <a:ea typeface="Crimson Pro Semi Bold" pitchFamily="34" charset="-122"/>
                <a:cs typeface="Crimson Pro Semi Bold" pitchFamily="34" charset="-120"/>
              </a:rPr>
              <a:t>SOC 1 / 2 / 3</a:t>
            </a:r>
            <a:endParaRPr lang="en-US" sz="1600" dirty="0"/>
          </a:p>
        </p:txBody>
      </p:sp>
      <p:sp>
        <p:nvSpPr>
          <p:cNvPr id="30" name="Text 28"/>
          <p:cNvSpPr/>
          <p:nvPr/>
        </p:nvSpPr>
        <p:spPr>
          <a:xfrm>
            <a:off x="970240" y="6963013"/>
            <a:ext cx="6086594" cy="487918"/>
          </a:xfrm>
          <a:prstGeom prst="rect">
            <a:avLst/>
          </a:prstGeom>
          <a:noFill/>
          <a:ln/>
        </p:spPr>
        <p:txBody>
          <a:bodyPr wrap="square" lIns="0" tIns="0" rIns="0" bIns="0" rtlCol="0" anchor="t"/>
          <a:lstStyle/>
          <a:p>
            <a:pPr algn="l" indent="0" marL="0">
              <a:lnSpc>
                <a:spcPts val="1900"/>
              </a:lnSpc>
              <a:buNone/>
            </a:pPr>
            <a:r>
              <a:rPr lang="en-US" sz="1300" dirty="0">
                <a:solidFill>
                  <a:srgbClr val="4C4C4D"/>
                </a:solidFill>
                <a:latin typeface="Heebo" pitchFamily="34" charset="0"/>
                <a:ea typeface="Heebo" pitchFamily="34" charset="-122"/>
                <a:cs typeface="Heebo" pitchFamily="34" charset="-120"/>
              </a:rPr>
              <a:t>Service organisation controls across security, availability, and confidentiality trust service criteria.</a:t>
            </a:r>
            <a:endParaRPr lang="en-US" sz="1300" dirty="0"/>
          </a:p>
        </p:txBody>
      </p:sp>
      <p:sp>
        <p:nvSpPr>
          <p:cNvPr id="31" name="Shape 29"/>
          <p:cNvSpPr/>
          <p:nvPr/>
        </p:nvSpPr>
        <p:spPr>
          <a:xfrm>
            <a:off x="7384613" y="6205299"/>
            <a:ext cx="6464379" cy="1434465"/>
          </a:xfrm>
          <a:prstGeom prst="roundRect">
            <a:avLst>
              <a:gd name="adj" fmla="val 7649"/>
            </a:avLst>
          </a:prstGeom>
          <a:solidFill>
            <a:srgbClr val="FFFFFF"/>
          </a:solidFill>
          <a:ln/>
        </p:spPr>
      </p:sp>
      <p:sp>
        <p:nvSpPr>
          <p:cNvPr id="32" name="Shape 30"/>
          <p:cNvSpPr/>
          <p:nvPr/>
        </p:nvSpPr>
        <p:spPr>
          <a:xfrm>
            <a:off x="7384613" y="6182439"/>
            <a:ext cx="6464379" cy="91440"/>
          </a:xfrm>
          <a:prstGeom prst="roundRect">
            <a:avLst>
              <a:gd name="adj" fmla="val 27242"/>
            </a:avLst>
          </a:prstGeom>
          <a:solidFill>
            <a:srgbClr val="2150FE"/>
          </a:solidFill>
          <a:ln/>
        </p:spPr>
      </p:sp>
      <p:sp>
        <p:nvSpPr>
          <p:cNvPr id="33" name="Shape 31"/>
          <p:cNvSpPr/>
          <p:nvPr/>
        </p:nvSpPr>
        <p:spPr>
          <a:xfrm>
            <a:off x="10367724" y="5956221"/>
            <a:ext cx="498158" cy="498157"/>
          </a:xfrm>
          <a:prstGeom prst="roundRect">
            <a:avLst>
              <a:gd name="adj" fmla="val 183557"/>
            </a:avLst>
          </a:prstGeom>
          <a:solidFill>
            <a:srgbClr val="2150FE"/>
          </a:solidFill>
          <a:ln/>
        </p:spPr>
      </p:sp>
      <p:sp>
        <p:nvSpPr>
          <p:cNvPr id="34" name="Text 32"/>
          <p:cNvSpPr/>
          <p:nvPr/>
        </p:nvSpPr>
        <p:spPr>
          <a:xfrm>
            <a:off x="7573447" y="6620351"/>
            <a:ext cx="2075736" cy="259318"/>
          </a:xfrm>
          <a:prstGeom prst="rect">
            <a:avLst/>
          </a:prstGeom>
          <a:noFill/>
          <a:ln/>
        </p:spPr>
        <p:txBody>
          <a:bodyPr wrap="none" lIns="0" tIns="0" rIns="0" bIns="0" rtlCol="0" anchor="t"/>
          <a:lstStyle/>
          <a:p>
            <a:pPr algn="l" indent="0" marL="0">
              <a:lnSpc>
                <a:spcPts val="2000"/>
              </a:lnSpc>
              <a:buNone/>
            </a:pPr>
            <a:r>
              <a:rPr lang="en-US" sz="1600" dirty="0">
                <a:solidFill>
                  <a:srgbClr val="4C4C4D"/>
                </a:solidFill>
                <a:latin typeface="Crimson Pro Semi Bold" pitchFamily="34" charset="0"/>
                <a:ea typeface="Crimson Pro Semi Bold" pitchFamily="34" charset="-122"/>
                <a:cs typeface="Crimson Pro Semi Bold" pitchFamily="34" charset="-120"/>
              </a:rPr>
              <a:t>PCI-DSS / C5 / CISPE</a:t>
            </a:r>
            <a:endParaRPr lang="en-US" sz="1600" dirty="0"/>
          </a:p>
        </p:txBody>
      </p:sp>
      <p:sp>
        <p:nvSpPr>
          <p:cNvPr id="35" name="Text 33"/>
          <p:cNvSpPr/>
          <p:nvPr/>
        </p:nvSpPr>
        <p:spPr>
          <a:xfrm>
            <a:off x="7573447" y="6963013"/>
            <a:ext cx="6086713" cy="487918"/>
          </a:xfrm>
          <a:prstGeom prst="rect">
            <a:avLst/>
          </a:prstGeom>
          <a:noFill/>
          <a:ln/>
        </p:spPr>
        <p:txBody>
          <a:bodyPr wrap="square" lIns="0" tIns="0" rIns="0" bIns="0" rtlCol="0" anchor="t"/>
          <a:lstStyle/>
          <a:p>
            <a:pPr algn="l" indent="0" marL="0">
              <a:lnSpc>
                <a:spcPts val="1900"/>
              </a:lnSpc>
              <a:buNone/>
            </a:pPr>
            <a:r>
              <a:rPr lang="en-US" sz="1300" dirty="0">
                <a:solidFill>
                  <a:srgbClr val="4C4C4D"/>
                </a:solidFill>
                <a:latin typeface="Heebo" pitchFamily="34" charset="0"/>
                <a:ea typeface="Heebo" pitchFamily="34" charset="-122"/>
                <a:cs typeface="Heebo" pitchFamily="34" charset="-120"/>
              </a:rPr>
              <a:t>Payment card industry, BSI C5 cloud security, and CISPE code of conduct membership confirming EU data residency commitments.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93790" y="1672114"/>
            <a:ext cx="1156573" cy="388382"/>
          </a:xfrm>
          <a:prstGeom prst="roundRect">
            <a:avLst>
              <a:gd name="adj" fmla="val 6132"/>
            </a:avLst>
          </a:prstGeom>
          <a:noFill/>
          <a:ln w="7620">
            <a:solidFill>
              <a:srgbClr val="2150FE"/>
            </a:solidFill>
            <a:prstDash val="solid"/>
          </a:ln>
        </p:spPr>
      </p:sp>
      <p:sp>
        <p:nvSpPr>
          <p:cNvPr id="3" name="Text 1"/>
          <p:cNvSpPr/>
          <p:nvPr/>
        </p:nvSpPr>
        <p:spPr>
          <a:xfrm>
            <a:off x="920472" y="1739265"/>
            <a:ext cx="903208" cy="254079"/>
          </a:xfrm>
          <a:prstGeom prst="rect">
            <a:avLst/>
          </a:prstGeom>
          <a:noFill/>
          <a:ln/>
        </p:spPr>
        <p:txBody>
          <a:bodyPr wrap="none" lIns="0" tIns="0" rIns="0" bIns="0" rtlCol="0" anchor="t"/>
          <a:lstStyle/>
          <a:p>
            <a:pPr algn="l" indent="0" marL="0">
              <a:lnSpc>
                <a:spcPts val="2000"/>
              </a:lnSpc>
              <a:buNone/>
            </a:pPr>
            <a:r>
              <a:rPr lang="en-US" sz="1250" dirty="0">
                <a:solidFill>
                  <a:srgbClr val="2150FE"/>
                </a:solidFill>
                <a:latin typeface="Heebo" pitchFamily="34" charset="0"/>
                <a:ea typeface="Heebo" pitchFamily="34" charset="-122"/>
                <a:cs typeface="Heebo" pitchFamily="34" charset="-120"/>
              </a:rPr>
              <a:t>ASSURANCE</a:t>
            </a:r>
            <a:endParaRPr lang="en-US" sz="1250" dirty="0"/>
          </a:p>
        </p:txBody>
      </p:sp>
      <p:sp>
        <p:nvSpPr>
          <p:cNvPr id="4" name="Text 2"/>
          <p:cNvSpPr/>
          <p:nvPr/>
        </p:nvSpPr>
        <p:spPr>
          <a:xfrm>
            <a:off x="793790" y="2139791"/>
            <a:ext cx="5251609"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Datategy — ISMS Posture</a:t>
            </a:r>
            <a:endParaRPr lang="en-US" sz="3900" dirty="0"/>
          </a:p>
        </p:txBody>
      </p:sp>
      <p:sp>
        <p:nvSpPr>
          <p:cNvPr id="5" name="Text 3"/>
          <p:cNvSpPr/>
          <p:nvPr/>
        </p:nvSpPr>
        <p:spPr>
          <a:xfrm>
            <a:off x="793790" y="305752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Datategy operates an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ISMS aligned with ISO/IEC 27001</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Whilst our full internal IS policy is confidential, 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communicable Security Assurance Plan (PAS)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is provided in the delivery pack, giving your team substantive evidence of controls without requiring NDA-bound information sharing.</a:t>
            </a:r>
            <a:endParaRPr lang="en-US" sz="1550" dirty="0"/>
          </a:p>
        </p:txBody>
      </p:sp>
      <p:sp>
        <p:nvSpPr>
          <p:cNvPr id="6" name="Shape 4"/>
          <p:cNvSpPr/>
          <p:nvPr/>
        </p:nvSpPr>
        <p:spPr>
          <a:xfrm>
            <a:off x="650915" y="3915847"/>
            <a:ext cx="6565106" cy="2641640"/>
          </a:xfrm>
          <a:prstGeom prst="roundRect">
            <a:avLst>
              <a:gd name="adj" fmla="val 1127"/>
            </a:avLst>
          </a:prstGeom>
          <a:solidFill>
            <a:srgbClr val="2150FE"/>
          </a:solidFill>
          <a:ln/>
        </p:spPr>
      </p:sp>
      <p:sp>
        <p:nvSpPr>
          <p:cNvPr id="7" name="Text 5"/>
          <p:cNvSpPr/>
          <p:nvPr/>
        </p:nvSpPr>
        <p:spPr>
          <a:xfrm>
            <a:off x="849273" y="411420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Organisational Controls</a:t>
            </a:r>
            <a:endParaRPr lang="en-US" sz="1950" dirty="0"/>
          </a:p>
        </p:txBody>
      </p:sp>
      <p:sp>
        <p:nvSpPr>
          <p:cNvPr id="8" name="Text 6"/>
          <p:cNvSpPr/>
          <p:nvPr/>
        </p:nvSpPr>
        <p:spPr>
          <a:xfrm>
            <a:off x="849273" y="4622721"/>
            <a:ext cx="6168390" cy="1865352"/>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Risk management using an EBIOS-style methodology</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HR security — onboarding, offboarding, role-based training</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Vendor and sub-processor governance</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Incident management with documented breach notification chain</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Annual IS policy review cycle</a:t>
            </a:r>
            <a:endParaRPr lang="en-US" sz="1550" dirty="0"/>
          </a:p>
        </p:txBody>
      </p:sp>
      <p:sp>
        <p:nvSpPr>
          <p:cNvPr id="9" name="Text 7"/>
          <p:cNvSpPr/>
          <p:nvPr/>
        </p:nvSpPr>
        <p:spPr>
          <a:xfrm>
            <a:off x="7564874" y="4114205"/>
            <a:ext cx="2772728"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Technical &amp; SDLC Controls</a:t>
            </a:r>
            <a:endParaRPr lang="en-US" sz="1950" dirty="0"/>
          </a:p>
        </p:txBody>
      </p:sp>
      <p:sp>
        <p:nvSpPr>
          <p:cNvPr id="10" name="Text 8"/>
          <p:cNvSpPr/>
          <p:nvPr/>
        </p:nvSpPr>
        <p:spPr>
          <a:xfrm>
            <a:off x="7564874" y="4622721"/>
            <a:ext cx="6279356" cy="1865352"/>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Dependency and container image scanning in CI pipeline</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Secure coding standards aligned to OWASP</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GitOps-based change management and audit trail</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Annual third-party penetration test</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Backup and restore testing with documented results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93790" y="883444"/>
            <a:ext cx="648414" cy="373142"/>
          </a:xfrm>
          <a:prstGeom prst="roundRect">
            <a:avLst>
              <a:gd name="adj" fmla="val 6383"/>
            </a:avLst>
          </a:prstGeom>
          <a:solidFill>
            <a:srgbClr val="CCD7FF"/>
          </a:solidFill>
          <a:ln/>
        </p:spPr>
      </p:sp>
      <p:sp>
        <p:nvSpPr>
          <p:cNvPr id="3" name="Text 1"/>
          <p:cNvSpPr/>
          <p:nvPr/>
        </p:nvSpPr>
        <p:spPr>
          <a:xfrm>
            <a:off x="912852" y="942975"/>
            <a:ext cx="410289"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GDPR</a:t>
            </a:r>
            <a:endParaRPr lang="en-US" sz="1250" dirty="0"/>
          </a:p>
        </p:txBody>
      </p:sp>
      <p:sp>
        <p:nvSpPr>
          <p:cNvPr id="4" name="Text 2"/>
          <p:cNvSpPr/>
          <p:nvPr/>
        </p:nvSpPr>
        <p:spPr>
          <a:xfrm>
            <a:off x="793790" y="1335881"/>
            <a:ext cx="6802993"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GDPR — Roles &amp; Responsibilities</a:t>
            </a:r>
            <a:endParaRPr lang="en-US" sz="3900" dirty="0"/>
          </a:p>
        </p:txBody>
      </p:sp>
      <p:sp>
        <p:nvSpPr>
          <p:cNvPr id="5" name="Text 3"/>
          <p:cNvSpPr/>
          <p:nvPr/>
        </p:nvSpPr>
        <p:spPr>
          <a:xfrm>
            <a:off x="793790" y="225361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Understanding who holds each role under the GDPR is essential to completing your data protection impact assessment and satisfying Article 28 obligations. The roles are unambiguous in this deployment model.</a:t>
            </a:r>
            <a:endParaRPr lang="en-US" sz="1550" dirty="0"/>
          </a:p>
        </p:txBody>
      </p:sp>
      <p:sp>
        <p:nvSpPr>
          <p:cNvPr id="6" name="Shape 4"/>
          <p:cNvSpPr/>
          <p:nvPr/>
        </p:nvSpPr>
        <p:spPr>
          <a:xfrm>
            <a:off x="793790" y="3111937"/>
            <a:ext cx="13042821" cy="2850237"/>
          </a:xfrm>
          <a:prstGeom prst="roundRect">
            <a:avLst>
              <a:gd name="adj" fmla="val 1045"/>
            </a:avLst>
          </a:prstGeom>
          <a:solidFill>
            <a:srgbClr val="F2EEEE"/>
          </a:solidFill>
          <a:ln/>
        </p:spPr>
      </p:sp>
      <p:sp>
        <p:nvSpPr>
          <p:cNvPr id="7" name="Shape 5"/>
          <p:cNvSpPr/>
          <p:nvPr/>
        </p:nvSpPr>
        <p:spPr>
          <a:xfrm>
            <a:off x="793790" y="3111937"/>
            <a:ext cx="4347567" cy="2850237"/>
          </a:xfrm>
          <a:prstGeom prst="roundRect">
            <a:avLst>
              <a:gd name="adj" fmla="val 1045"/>
            </a:avLst>
          </a:prstGeom>
          <a:solidFill>
            <a:srgbClr val="F2EEEE"/>
          </a:solidFill>
          <a:ln/>
        </p:spPr>
      </p:sp>
      <p:sp>
        <p:nvSpPr>
          <p:cNvPr id="8" name="Text 6"/>
          <p:cNvSpPr/>
          <p:nvPr/>
        </p:nvSpPr>
        <p:spPr>
          <a:xfrm>
            <a:off x="992148" y="331029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Controller</a:t>
            </a:r>
            <a:endParaRPr lang="en-US" sz="1950" dirty="0"/>
          </a:p>
        </p:txBody>
      </p:sp>
      <p:sp>
        <p:nvSpPr>
          <p:cNvPr id="9" name="Text 7"/>
          <p:cNvSpPr/>
          <p:nvPr/>
        </p:nvSpPr>
        <p:spPr>
          <a:xfrm>
            <a:off x="992148" y="3739515"/>
            <a:ext cx="3950851"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Your Organisation</a:t>
            </a:r>
            <a:endParaRPr lang="en-US" sz="1550" dirty="0"/>
          </a:p>
        </p:txBody>
      </p:sp>
      <p:sp>
        <p:nvSpPr>
          <p:cNvPr id="10" name="Text 8"/>
          <p:cNvSpPr/>
          <p:nvPr/>
        </p:nvSpPr>
        <p:spPr>
          <a:xfrm>
            <a:off x="992148" y="4176117"/>
            <a:ext cx="3950851"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You define the purposes and means for processing personal data placed into the service. You remain the accountable party to your data subjects and supervisory authority.</a:t>
            </a:r>
            <a:endParaRPr lang="en-US" sz="1550" dirty="0"/>
          </a:p>
        </p:txBody>
      </p:sp>
      <p:sp>
        <p:nvSpPr>
          <p:cNvPr id="11" name="Shape 9"/>
          <p:cNvSpPr/>
          <p:nvPr/>
        </p:nvSpPr>
        <p:spPr>
          <a:xfrm>
            <a:off x="5141357" y="3111937"/>
            <a:ext cx="4347567" cy="2850237"/>
          </a:xfrm>
          <a:prstGeom prst="rect">
            <a:avLst/>
          </a:prstGeom>
          <a:solidFill>
            <a:srgbClr val="F2EEEE"/>
          </a:solidFill>
          <a:ln/>
        </p:spPr>
      </p:sp>
      <p:sp>
        <p:nvSpPr>
          <p:cNvPr id="12" name="Shape 10"/>
          <p:cNvSpPr/>
          <p:nvPr/>
        </p:nvSpPr>
        <p:spPr>
          <a:xfrm>
            <a:off x="5141357" y="3111937"/>
            <a:ext cx="22860" cy="2850237"/>
          </a:xfrm>
          <a:prstGeom prst="roundRect">
            <a:avLst>
              <a:gd name="adj" fmla="val 130232"/>
            </a:avLst>
          </a:prstGeom>
          <a:solidFill>
            <a:srgbClr val="D8D4D4"/>
          </a:solidFill>
          <a:ln/>
        </p:spPr>
      </p:sp>
      <p:sp>
        <p:nvSpPr>
          <p:cNvPr id="13" name="Text 11"/>
          <p:cNvSpPr/>
          <p:nvPr/>
        </p:nvSpPr>
        <p:spPr>
          <a:xfrm>
            <a:off x="5339715" y="331029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Processor</a:t>
            </a:r>
            <a:endParaRPr lang="en-US" sz="1950" dirty="0"/>
          </a:p>
        </p:txBody>
      </p:sp>
      <p:sp>
        <p:nvSpPr>
          <p:cNvPr id="14" name="Text 12"/>
          <p:cNvSpPr/>
          <p:nvPr/>
        </p:nvSpPr>
        <p:spPr>
          <a:xfrm>
            <a:off x="5339715" y="3739515"/>
            <a:ext cx="3950851"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Datategy SAS</a:t>
            </a:r>
            <a:endParaRPr lang="en-US" sz="1550" dirty="0"/>
          </a:p>
        </p:txBody>
      </p:sp>
      <p:sp>
        <p:nvSpPr>
          <p:cNvPr id="15" name="Text 13"/>
          <p:cNvSpPr/>
          <p:nvPr/>
        </p:nvSpPr>
        <p:spPr>
          <a:xfrm>
            <a:off x="5339715" y="4176117"/>
            <a:ext cx="3950851"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Datategy builds, operates, and secures papAI / Agentium on your behalf under an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Article 28 Data Processing Agreement (DPA)</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provided in the delivery pack.</a:t>
            </a:r>
            <a:endParaRPr lang="en-US" sz="1550" dirty="0"/>
          </a:p>
        </p:txBody>
      </p:sp>
      <p:sp>
        <p:nvSpPr>
          <p:cNvPr id="16" name="Shape 14"/>
          <p:cNvSpPr/>
          <p:nvPr/>
        </p:nvSpPr>
        <p:spPr>
          <a:xfrm>
            <a:off x="9488924" y="3111937"/>
            <a:ext cx="4347567" cy="2850237"/>
          </a:xfrm>
          <a:prstGeom prst="rect">
            <a:avLst/>
          </a:prstGeom>
          <a:solidFill>
            <a:srgbClr val="F2EEEE"/>
          </a:solidFill>
          <a:ln/>
        </p:spPr>
      </p:sp>
      <p:sp>
        <p:nvSpPr>
          <p:cNvPr id="17" name="Shape 15"/>
          <p:cNvSpPr/>
          <p:nvPr/>
        </p:nvSpPr>
        <p:spPr>
          <a:xfrm>
            <a:off x="9488924" y="3111937"/>
            <a:ext cx="22860" cy="2850237"/>
          </a:xfrm>
          <a:prstGeom prst="roundRect">
            <a:avLst>
              <a:gd name="adj" fmla="val 130232"/>
            </a:avLst>
          </a:prstGeom>
          <a:solidFill>
            <a:srgbClr val="D8D4D4"/>
          </a:solidFill>
          <a:ln/>
        </p:spPr>
      </p:sp>
      <p:sp>
        <p:nvSpPr>
          <p:cNvPr id="18" name="Text 16"/>
          <p:cNvSpPr/>
          <p:nvPr/>
        </p:nvSpPr>
        <p:spPr>
          <a:xfrm>
            <a:off x="9687282" y="3310295"/>
            <a:ext cx="2518172"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Sub-Processor (Hosting)</a:t>
            </a:r>
            <a:endParaRPr lang="en-US" sz="1950" dirty="0"/>
          </a:p>
        </p:txBody>
      </p:sp>
      <p:sp>
        <p:nvSpPr>
          <p:cNvPr id="19" name="Text 17"/>
          <p:cNvSpPr/>
          <p:nvPr/>
        </p:nvSpPr>
        <p:spPr>
          <a:xfrm>
            <a:off x="9687282" y="3739515"/>
            <a:ext cx="3950851"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OVHcloud (OVH SAS)</a:t>
            </a:r>
            <a:endParaRPr lang="en-US" sz="1550" dirty="0"/>
          </a:p>
        </p:txBody>
      </p:sp>
      <p:sp>
        <p:nvSpPr>
          <p:cNvPr id="20" name="Text 18"/>
          <p:cNvSpPr/>
          <p:nvPr/>
        </p:nvSpPr>
        <p:spPr>
          <a:xfrm>
            <a:off x="9687282" y="4176117"/>
            <a:ext cx="3950851"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OVHcloud provides EU data centre infrastructure. Sub-processor documentation and public compliance materials are archived in the pack for your records.</a:t>
            </a:r>
            <a:endParaRPr lang="en-US" sz="1550" dirty="0"/>
          </a:p>
        </p:txBody>
      </p:sp>
      <p:sp>
        <p:nvSpPr>
          <p:cNvPr id="21" name="Shape 19"/>
          <p:cNvSpPr/>
          <p:nvPr/>
        </p:nvSpPr>
        <p:spPr>
          <a:xfrm>
            <a:off x="793790" y="6185416"/>
            <a:ext cx="13042821" cy="1160740"/>
          </a:xfrm>
          <a:prstGeom prst="roundRect">
            <a:avLst>
              <a:gd name="adj" fmla="val 2565"/>
            </a:avLst>
          </a:prstGeom>
          <a:solidFill>
            <a:srgbClr val="B6FCB8"/>
          </a:solidFill>
          <a:ln/>
        </p:spPr>
      </p:sp>
      <p:pic>
        <p:nvPicPr>
          <p:cNvPr id="22" name="Image 0" descr="preencoded.png">    </p:cNvPr>
          <p:cNvPicPr>
            <a:picLocks noChangeAspect="1"/>
          </p:cNvPicPr>
          <p:nvPr/>
        </p:nvPicPr>
        <p:blipFill>
          <a:blip r:embed="rId1"/>
          <a:stretch>
            <a:fillRect/>
          </a:stretch>
        </p:blipFill>
        <p:spPr>
          <a:xfrm>
            <a:off x="992148" y="6473071"/>
            <a:ext cx="248007" cy="198358"/>
          </a:xfrm>
          <a:prstGeom prst="rect">
            <a:avLst/>
          </a:prstGeom>
        </p:spPr>
      </p:pic>
      <p:sp>
        <p:nvSpPr>
          <p:cNvPr id="23" name="Text 20"/>
          <p:cNvSpPr/>
          <p:nvPr/>
        </p:nvSpPr>
        <p:spPr>
          <a:xfrm>
            <a:off x="1438513" y="6433304"/>
            <a:ext cx="12199739" cy="63507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Heebo" pitchFamily="34" charset="0"/>
                <a:ea typeface="Heebo" pitchFamily="34" charset="-122"/>
                <a:cs typeface="Heebo" pitchFamily="34" charset="-120"/>
              </a:rPr>
              <a:t>Default Residency: EU (France)</a:t>
            </a:r>
            <a:pPr algn="l" indent="0" marL="0">
              <a:lnSpc>
                <a:spcPts val="2500"/>
              </a:lnSpc>
              <a:buNone/>
            </a:pPr>
            <a:r>
              <a:rPr lang="en-US" sz="1550" dirty="0">
                <a:solidFill>
                  <a:srgbClr val="000000"/>
                </a:solidFill>
                <a:latin typeface="Heebo" pitchFamily="34" charset="0"/>
                <a:ea typeface="Heebo" pitchFamily="34" charset="-122"/>
                <a:cs typeface="Heebo" pitchFamily="34" charset="-120"/>
              </a:rPr>
              <a:t> — There is no default third-country transfer of personal data for hosting. Data does not leave the EU in the standard configuration.</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93790" y="757595"/>
            <a:ext cx="631031" cy="363617"/>
          </a:xfrm>
          <a:prstGeom prst="roundRect">
            <a:avLst>
              <a:gd name="adj" fmla="val 6223"/>
            </a:avLst>
          </a:prstGeom>
          <a:noFill/>
          <a:ln w="7620">
            <a:solidFill>
              <a:srgbClr val="2150FE"/>
            </a:solidFill>
            <a:prstDash val="solid"/>
          </a:ln>
        </p:spPr>
      </p:sp>
      <p:sp>
        <p:nvSpPr>
          <p:cNvPr id="3" name="Text 1"/>
          <p:cNvSpPr/>
          <p:nvPr/>
        </p:nvSpPr>
        <p:spPr>
          <a:xfrm>
            <a:off x="914519" y="821769"/>
            <a:ext cx="389573" cy="235268"/>
          </a:xfrm>
          <a:prstGeom prst="rect">
            <a:avLst/>
          </a:prstGeom>
          <a:noFill/>
          <a:ln/>
        </p:spPr>
        <p:txBody>
          <a:bodyPr wrap="none" lIns="0" tIns="0" rIns="0" bIns="0" rtlCol="0" anchor="t"/>
          <a:lstStyle/>
          <a:p>
            <a:pPr algn="l" indent="0" marL="0">
              <a:lnSpc>
                <a:spcPts val="1850"/>
              </a:lnSpc>
              <a:buNone/>
            </a:pPr>
            <a:r>
              <a:rPr lang="en-US" sz="1150" dirty="0">
                <a:solidFill>
                  <a:srgbClr val="2150FE"/>
                </a:solidFill>
                <a:latin typeface="Heebo" pitchFamily="34" charset="0"/>
                <a:ea typeface="Heebo" pitchFamily="34" charset="-122"/>
                <a:cs typeface="Heebo" pitchFamily="34" charset="-120"/>
              </a:rPr>
              <a:t>GDPR</a:t>
            </a:r>
            <a:endParaRPr lang="en-US" sz="1150" dirty="0"/>
          </a:p>
        </p:txBody>
      </p:sp>
      <p:sp>
        <p:nvSpPr>
          <p:cNvPr id="4" name="Text 2"/>
          <p:cNvSpPr/>
          <p:nvPr/>
        </p:nvSpPr>
        <p:spPr>
          <a:xfrm>
            <a:off x="793790" y="1192768"/>
            <a:ext cx="5592485" cy="589121"/>
          </a:xfrm>
          <a:prstGeom prst="rect">
            <a:avLst/>
          </a:prstGeom>
          <a:noFill/>
          <a:ln/>
        </p:spPr>
        <p:txBody>
          <a:bodyPr wrap="none" lIns="0" tIns="0" rIns="0" bIns="0" rtlCol="0" anchor="t"/>
          <a:lstStyle/>
          <a:p>
            <a:pPr algn="l" indent="0" marL="0">
              <a:lnSpc>
                <a:spcPts val="4600"/>
              </a:lnSpc>
              <a:buNone/>
            </a:pPr>
            <a:r>
              <a:rPr lang="en-US" sz="3700" dirty="0">
                <a:solidFill>
                  <a:srgbClr val="152D47"/>
                </a:solidFill>
                <a:latin typeface="Crimson Pro Semi Bold" pitchFamily="34" charset="0"/>
                <a:ea typeface="Crimson Pro Semi Bold" pitchFamily="34" charset="-122"/>
                <a:cs typeface="Crimson Pro Semi Bold" pitchFamily="34" charset="-120"/>
              </a:rPr>
              <a:t>GDPR — Article 32 Measures</a:t>
            </a:r>
            <a:endParaRPr lang="en-US" sz="3700" dirty="0"/>
          </a:p>
        </p:txBody>
      </p:sp>
      <p:sp>
        <p:nvSpPr>
          <p:cNvPr id="5" name="Text 3"/>
          <p:cNvSpPr/>
          <p:nvPr/>
        </p:nvSpPr>
        <p:spPr>
          <a:xfrm>
            <a:off x="793790" y="2050494"/>
            <a:ext cx="13042821"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Article 32 requires that controllers and processors implement appropriate technical and organisational measures. The following summarises how the platform meets each of the four pillars, including the AI-specific dimension which is increasingly relevant to DPA scrutiny.</a:t>
            </a:r>
            <a:endParaRPr lang="en-US" sz="1450" dirty="0"/>
          </a:p>
        </p:txBody>
      </p:sp>
      <p:sp>
        <p:nvSpPr>
          <p:cNvPr id="6" name="Shape 4"/>
          <p:cNvSpPr/>
          <p:nvPr/>
        </p:nvSpPr>
        <p:spPr>
          <a:xfrm>
            <a:off x="793790" y="2840355"/>
            <a:ext cx="13042821" cy="4631650"/>
          </a:xfrm>
          <a:prstGeom prst="roundRect">
            <a:avLst>
              <a:gd name="adj" fmla="val 611"/>
            </a:avLst>
          </a:prstGeom>
          <a:noFill/>
          <a:ln w="7620">
            <a:solidFill>
              <a:srgbClr val="000000">
                <a:alpha val="8000"/>
              </a:srgbClr>
            </a:solidFill>
            <a:prstDash val="solid"/>
          </a:ln>
        </p:spPr>
      </p:sp>
      <p:sp>
        <p:nvSpPr>
          <p:cNvPr id="7" name="Shape 5"/>
          <p:cNvSpPr/>
          <p:nvPr/>
        </p:nvSpPr>
        <p:spPr>
          <a:xfrm>
            <a:off x="801410" y="2847975"/>
            <a:ext cx="13027581" cy="524232"/>
          </a:xfrm>
          <a:prstGeom prst="rect">
            <a:avLst/>
          </a:prstGeom>
          <a:solidFill>
            <a:srgbClr val="FFFFFF">
              <a:alpha val="4000"/>
            </a:srgbClr>
          </a:solidFill>
          <a:ln/>
        </p:spPr>
      </p:sp>
      <p:sp>
        <p:nvSpPr>
          <p:cNvPr id="8" name="Text 6"/>
          <p:cNvSpPr/>
          <p:nvPr/>
        </p:nvSpPr>
        <p:spPr>
          <a:xfrm>
            <a:off x="990005" y="2962989"/>
            <a:ext cx="2224683" cy="294203"/>
          </a:xfrm>
          <a:prstGeom prst="rect">
            <a:avLst/>
          </a:prstGeom>
          <a:noFill/>
          <a:ln/>
        </p:spPr>
        <p:txBody>
          <a:bodyPr wrap="none" lIns="0" tIns="0" rIns="0" bIns="0" rtlCol="0" anchor="t"/>
          <a:lstStyle/>
          <a:p>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Pillar</a:t>
            </a:r>
            <a:endParaRPr lang="en-US" sz="1450" dirty="0"/>
          </a:p>
        </p:txBody>
      </p:sp>
      <p:sp>
        <p:nvSpPr>
          <p:cNvPr id="9" name="Text 7"/>
          <p:cNvSpPr/>
          <p:nvPr/>
        </p:nvSpPr>
        <p:spPr>
          <a:xfrm>
            <a:off x="3599259" y="2962989"/>
            <a:ext cx="10041255" cy="294203"/>
          </a:xfrm>
          <a:prstGeom prst="rect">
            <a:avLst/>
          </a:prstGeom>
          <a:noFill/>
          <a:ln/>
        </p:spPr>
        <p:txBody>
          <a:bodyPr wrap="none" lIns="0" tIns="0" rIns="0" bIns="0" rtlCol="0" anchor="t"/>
          <a:lstStyle/>
          <a:p>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Implementation (High Level)</a:t>
            </a:r>
            <a:endParaRPr lang="en-US" sz="1450" dirty="0"/>
          </a:p>
        </p:txBody>
      </p:sp>
      <p:sp>
        <p:nvSpPr>
          <p:cNvPr id="10" name="Shape 8"/>
          <p:cNvSpPr/>
          <p:nvPr/>
        </p:nvSpPr>
        <p:spPr>
          <a:xfrm>
            <a:off x="801410" y="3372207"/>
            <a:ext cx="13027581" cy="818436"/>
          </a:xfrm>
          <a:prstGeom prst="rect">
            <a:avLst/>
          </a:prstGeom>
          <a:solidFill>
            <a:srgbClr val="000000">
              <a:alpha val="4000"/>
            </a:srgbClr>
          </a:solidFill>
          <a:ln/>
        </p:spPr>
      </p:sp>
      <p:sp>
        <p:nvSpPr>
          <p:cNvPr id="11" name="Text 9"/>
          <p:cNvSpPr/>
          <p:nvPr/>
        </p:nvSpPr>
        <p:spPr>
          <a:xfrm>
            <a:off x="990005" y="3487222"/>
            <a:ext cx="2224683" cy="294203"/>
          </a:xfrm>
          <a:prstGeom prst="rect">
            <a:avLst/>
          </a:prstGeom>
          <a:noFill/>
          <a:ln/>
        </p:spPr>
        <p:txBody>
          <a:bodyPr wrap="none" lIns="0" tIns="0" rIns="0" bIns="0" rtlCol="0" anchor="t"/>
          <a:lstStyle/>
          <a:p>
            <a:pPr algn="l" indent="0" marL="0">
              <a:lnSpc>
                <a:spcPts val="2300"/>
              </a:lnSpc>
              <a:buNone/>
            </a:pPr>
            <a:r>
              <a:rPr lang="en-US" sz="1450" b="1" dirty="0">
                <a:solidFill>
                  <a:srgbClr val="2150FE"/>
                </a:solidFill>
                <a:latin typeface="Heebo" pitchFamily="34" charset="0"/>
                <a:ea typeface="Heebo" pitchFamily="34" charset="-122"/>
                <a:cs typeface="Heebo" pitchFamily="34" charset="-120"/>
              </a:rPr>
              <a:t>Confidentiality</a:t>
            </a:r>
            <a:endParaRPr lang="en-US" sz="1450" dirty="0"/>
          </a:p>
        </p:txBody>
      </p:sp>
      <p:sp>
        <p:nvSpPr>
          <p:cNvPr id="12" name="Text 10"/>
          <p:cNvSpPr/>
          <p:nvPr/>
        </p:nvSpPr>
        <p:spPr>
          <a:xfrm>
            <a:off x="3599259" y="3487222"/>
            <a:ext cx="10041255"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TLS 1.2/1.3 in transit; encryption at rest for snapshots and backups; HashiCorp Vault for secrets management; enforced tenant isolation at network and namespace level.</a:t>
            </a:r>
            <a:endParaRPr lang="en-US" sz="1450" dirty="0"/>
          </a:p>
        </p:txBody>
      </p:sp>
      <p:sp>
        <p:nvSpPr>
          <p:cNvPr id="13" name="Shape 11"/>
          <p:cNvSpPr/>
          <p:nvPr/>
        </p:nvSpPr>
        <p:spPr>
          <a:xfrm>
            <a:off x="801410" y="4190643"/>
            <a:ext cx="13027581" cy="818436"/>
          </a:xfrm>
          <a:prstGeom prst="rect">
            <a:avLst/>
          </a:prstGeom>
          <a:solidFill>
            <a:srgbClr val="FFFFFF">
              <a:alpha val="4000"/>
            </a:srgbClr>
          </a:solidFill>
          <a:ln/>
        </p:spPr>
      </p:sp>
      <p:sp>
        <p:nvSpPr>
          <p:cNvPr id="14" name="Text 12"/>
          <p:cNvSpPr/>
          <p:nvPr/>
        </p:nvSpPr>
        <p:spPr>
          <a:xfrm>
            <a:off x="990005" y="4305657"/>
            <a:ext cx="2224683" cy="294203"/>
          </a:xfrm>
          <a:prstGeom prst="rect">
            <a:avLst/>
          </a:prstGeom>
          <a:noFill/>
          <a:ln/>
        </p:spPr>
        <p:txBody>
          <a:bodyPr wrap="none" lIns="0" tIns="0" rIns="0" bIns="0" rtlCol="0" anchor="t"/>
          <a:lstStyle/>
          <a:p>
            <a:pPr algn="l" indent="0" marL="0">
              <a:lnSpc>
                <a:spcPts val="2300"/>
              </a:lnSpc>
              <a:buNone/>
            </a:pPr>
            <a:r>
              <a:rPr lang="en-US" sz="1450" b="1" dirty="0">
                <a:solidFill>
                  <a:srgbClr val="2150FE"/>
                </a:solidFill>
                <a:latin typeface="Heebo" pitchFamily="34" charset="0"/>
                <a:ea typeface="Heebo" pitchFamily="34" charset="-122"/>
                <a:cs typeface="Heebo" pitchFamily="34" charset="-120"/>
              </a:rPr>
              <a:t>Integrity</a:t>
            </a:r>
            <a:endParaRPr lang="en-US" sz="1450" dirty="0"/>
          </a:p>
        </p:txBody>
      </p:sp>
      <p:sp>
        <p:nvSpPr>
          <p:cNvPr id="15" name="Text 13"/>
          <p:cNvSpPr/>
          <p:nvPr/>
        </p:nvSpPr>
        <p:spPr>
          <a:xfrm>
            <a:off x="3599259" y="4305657"/>
            <a:ext cx="10041255"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Signed commits in the GitOps pipeline; checksums validated on backups; append-only style logging where applicable to prevent tampering.</a:t>
            </a:r>
            <a:endParaRPr lang="en-US" sz="1450" dirty="0"/>
          </a:p>
        </p:txBody>
      </p:sp>
      <p:sp>
        <p:nvSpPr>
          <p:cNvPr id="16" name="Shape 14"/>
          <p:cNvSpPr/>
          <p:nvPr/>
        </p:nvSpPr>
        <p:spPr>
          <a:xfrm>
            <a:off x="801410" y="5009078"/>
            <a:ext cx="13027581" cy="818436"/>
          </a:xfrm>
          <a:prstGeom prst="rect">
            <a:avLst/>
          </a:prstGeom>
          <a:solidFill>
            <a:srgbClr val="000000">
              <a:alpha val="4000"/>
            </a:srgbClr>
          </a:solidFill>
          <a:ln/>
        </p:spPr>
      </p:sp>
      <p:sp>
        <p:nvSpPr>
          <p:cNvPr id="17" name="Text 15"/>
          <p:cNvSpPr/>
          <p:nvPr/>
        </p:nvSpPr>
        <p:spPr>
          <a:xfrm>
            <a:off x="990005" y="5124093"/>
            <a:ext cx="2224683" cy="294203"/>
          </a:xfrm>
          <a:prstGeom prst="rect">
            <a:avLst/>
          </a:prstGeom>
          <a:noFill/>
          <a:ln/>
        </p:spPr>
        <p:txBody>
          <a:bodyPr wrap="none" lIns="0" tIns="0" rIns="0" bIns="0" rtlCol="0" anchor="t"/>
          <a:lstStyle/>
          <a:p>
            <a:pPr algn="l" indent="0" marL="0">
              <a:lnSpc>
                <a:spcPts val="2300"/>
              </a:lnSpc>
              <a:buNone/>
            </a:pPr>
            <a:r>
              <a:rPr lang="en-US" sz="1450" b="1" dirty="0">
                <a:solidFill>
                  <a:srgbClr val="2150FE"/>
                </a:solidFill>
                <a:latin typeface="Heebo" pitchFamily="34" charset="0"/>
                <a:ea typeface="Heebo" pitchFamily="34" charset="-122"/>
                <a:cs typeface="Heebo" pitchFamily="34" charset="-120"/>
              </a:rPr>
              <a:t>Availability</a:t>
            </a:r>
            <a:endParaRPr lang="en-US" sz="1450" dirty="0"/>
          </a:p>
        </p:txBody>
      </p:sp>
      <p:sp>
        <p:nvSpPr>
          <p:cNvPr id="18" name="Text 16"/>
          <p:cNvSpPr/>
          <p:nvPr/>
        </p:nvSpPr>
        <p:spPr>
          <a:xfrm>
            <a:off x="3599259" y="5124093"/>
            <a:ext cx="10041255"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Redundant Kubernetes design; OVHcloud-managed control plane with published SLA; BCP and DR documents included in the delivery pack.</a:t>
            </a:r>
            <a:endParaRPr lang="en-US" sz="1450" dirty="0"/>
          </a:p>
        </p:txBody>
      </p:sp>
      <p:sp>
        <p:nvSpPr>
          <p:cNvPr id="19" name="Shape 17"/>
          <p:cNvSpPr/>
          <p:nvPr/>
        </p:nvSpPr>
        <p:spPr>
          <a:xfrm>
            <a:off x="801410" y="5827514"/>
            <a:ext cx="13027581" cy="818436"/>
          </a:xfrm>
          <a:prstGeom prst="rect">
            <a:avLst/>
          </a:prstGeom>
          <a:solidFill>
            <a:srgbClr val="FFFFFF">
              <a:alpha val="4000"/>
            </a:srgbClr>
          </a:solidFill>
          <a:ln/>
        </p:spPr>
      </p:sp>
      <p:sp>
        <p:nvSpPr>
          <p:cNvPr id="20" name="Text 18"/>
          <p:cNvSpPr/>
          <p:nvPr/>
        </p:nvSpPr>
        <p:spPr>
          <a:xfrm>
            <a:off x="990005" y="5942528"/>
            <a:ext cx="2224683" cy="294203"/>
          </a:xfrm>
          <a:prstGeom prst="rect">
            <a:avLst/>
          </a:prstGeom>
          <a:noFill/>
          <a:ln/>
        </p:spPr>
        <p:txBody>
          <a:bodyPr wrap="none" lIns="0" tIns="0" rIns="0" bIns="0" rtlCol="0" anchor="t"/>
          <a:lstStyle/>
          <a:p>
            <a:pPr algn="l" indent="0" marL="0">
              <a:lnSpc>
                <a:spcPts val="2300"/>
              </a:lnSpc>
              <a:buNone/>
            </a:pPr>
            <a:r>
              <a:rPr lang="en-US" sz="1450" b="1" dirty="0">
                <a:solidFill>
                  <a:srgbClr val="2150FE"/>
                </a:solidFill>
                <a:latin typeface="Heebo" pitchFamily="34" charset="0"/>
                <a:ea typeface="Heebo" pitchFamily="34" charset="-122"/>
                <a:cs typeface="Heebo" pitchFamily="34" charset="-120"/>
              </a:rPr>
              <a:t>Resilience</a:t>
            </a:r>
            <a:endParaRPr lang="en-US" sz="1450" dirty="0"/>
          </a:p>
        </p:txBody>
      </p:sp>
      <p:sp>
        <p:nvSpPr>
          <p:cNvPr id="21" name="Text 19"/>
          <p:cNvSpPr/>
          <p:nvPr/>
        </p:nvSpPr>
        <p:spPr>
          <a:xfrm>
            <a:off x="3599259" y="5942528"/>
            <a:ext cx="10041255"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Tested restores on a quarterly cadence; documented RTO/RPO targets in the PCA for the reference environment — production targets agreed per contract.</a:t>
            </a:r>
            <a:endParaRPr lang="en-US" sz="1450" dirty="0"/>
          </a:p>
        </p:txBody>
      </p:sp>
      <p:sp>
        <p:nvSpPr>
          <p:cNvPr id="22" name="Shape 20"/>
          <p:cNvSpPr/>
          <p:nvPr/>
        </p:nvSpPr>
        <p:spPr>
          <a:xfrm>
            <a:off x="801410" y="6645950"/>
            <a:ext cx="13027581" cy="818436"/>
          </a:xfrm>
          <a:prstGeom prst="rect">
            <a:avLst/>
          </a:prstGeom>
          <a:solidFill>
            <a:srgbClr val="000000">
              <a:alpha val="4000"/>
            </a:srgbClr>
          </a:solidFill>
          <a:ln/>
        </p:spPr>
      </p:sp>
      <p:sp>
        <p:nvSpPr>
          <p:cNvPr id="23" name="Text 21"/>
          <p:cNvSpPr/>
          <p:nvPr/>
        </p:nvSpPr>
        <p:spPr>
          <a:xfrm>
            <a:off x="990005" y="6760964"/>
            <a:ext cx="2224683" cy="294203"/>
          </a:xfrm>
          <a:prstGeom prst="rect">
            <a:avLst/>
          </a:prstGeom>
          <a:noFill/>
          <a:ln/>
        </p:spPr>
        <p:txBody>
          <a:bodyPr wrap="none" lIns="0" tIns="0" rIns="0" bIns="0" rtlCol="0" anchor="t"/>
          <a:lstStyle/>
          <a:p>
            <a:pPr algn="l" indent="0" marL="0">
              <a:lnSpc>
                <a:spcPts val="2300"/>
              </a:lnSpc>
              <a:buNone/>
            </a:pPr>
            <a:r>
              <a:rPr lang="en-US" sz="1450" b="1" dirty="0">
                <a:solidFill>
                  <a:srgbClr val="2150FE"/>
                </a:solidFill>
                <a:latin typeface="Heebo" pitchFamily="34" charset="0"/>
                <a:ea typeface="Heebo" pitchFamily="34" charset="-122"/>
                <a:cs typeface="Heebo" pitchFamily="34" charset="-120"/>
              </a:rPr>
              <a:t>AI-Specific</a:t>
            </a:r>
            <a:endParaRPr lang="en-US" sz="1450" dirty="0"/>
          </a:p>
        </p:txBody>
      </p:sp>
      <p:sp>
        <p:nvSpPr>
          <p:cNvPr id="24" name="Text 22"/>
          <p:cNvSpPr/>
          <p:nvPr/>
        </p:nvSpPr>
        <p:spPr>
          <a:xfrm>
            <a:off x="3599259" y="6760964"/>
            <a:ext cx="10041255"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Local inference stack —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no routine export of prompts to a third-party AI vendor</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in the standard build. Observability limited to operational metrics only.</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93790" y="597813"/>
            <a:ext cx="1365647" cy="373142"/>
          </a:xfrm>
          <a:prstGeom prst="roundRect">
            <a:avLst>
              <a:gd name="adj" fmla="val 6383"/>
            </a:avLst>
          </a:prstGeom>
          <a:solidFill>
            <a:srgbClr val="CCD7FF"/>
          </a:solidFill>
          <a:ln/>
        </p:spPr>
      </p:sp>
      <p:sp>
        <p:nvSpPr>
          <p:cNvPr id="3" name="Text 1"/>
          <p:cNvSpPr/>
          <p:nvPr/>
        </p:nvSpPr>
        <p:spPr>
          <a:xfrm>
            <a:off x="912852" y="657344"/>
            <a:ext cx="1127522"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ISO 27001:2022</a:t>
            </a:r>
            <a:endParaRPr lang="en-US" sz="1250" dirty="0"/>
          </a:p>
        </p:txBody>
      </p:sp>
      <p:sp>
        <p:nvSpPr>
          <p:cNvPr id="4" name="Text 2"/>
          <p:cNvSpPr/>
          <p:nvPr/>
        </p:nvSpPr>
        <p:spPr>
          <a:xfrm>
            <a:off x="793790" y="1050250"/>
            <a:ext cx="9255562"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ISO/IEC 27001:2022 — Four Annex A Themes</a:t>
            </a:r>
            <a:endParaRPr lang="en-US" sz="3900" dirty="0"/>
          </a:p>
        </p:txBody>
      </p:sp>
      <p:sp>
        <p:nvSpPr>
          <p:cNvPr id="5" name="Text 3"/>
          <p:cNvSpPr/>
          <p:nvPr/>
        </p:nvSpPr>
        <p:spPr>
          <a:xfrm>
            <a:off x="793790" y="196798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The following mapping shows how controls under each Annex A theme are distributed across OVHcloud and Datategy. This structure underpins the single assurance narrative in the Word note and supports direct mapping to your internal security questionnaire.</a:t>
            </a:r>
            <a:endParaRPr lang="en-US" sz="1550" dirty="0"/>
          </a:p>
        </p:txBody>
      </p:sp>
      <p:sp>
        <p:nvSpPr>
          <p:cNvPr id="6" name="Shape 4"/>
          <p:cNvSpPr/>
          <p:nvPr/>
        </p:nvSpPr>
        <p:spPr>
          <a:xfrm>
            <a:off x="793790" y="2826306"/>
            <a:ext cx="13042821" cy="4805482"/>
          </a:xfrm>
          <a:prstGeom prst="roundRect">
            <a:avLst>
              <a:gd name="adj" fmla="val 620"/>
            </a:avLst>
          </a:prstGeom>
          <a:noFill/>
          <a:ln w="7620">
            <a:solidFill>
              <a:srgbClr val="000000">
                <a:alpha val="8000"/>
              </a:srgbClr>
            </a:solidFill>
            <a:prstDash val="solid"/>
          </a:ln>
        </p:spPr>
      </p:sp>
      <p:sp>
        <p:nvSpPr>
          <p:cNvPr id="7" name="Text 5"/>
          <p:cNvSpPr/>
          <p:nvPr/>
        </p:nvSpPr>
        <p:spPr>
          <a:xfrm>
            <a:off x="999887" y="2960608"/>
            <a:ext cx="2465427"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Annex A Theme</a:t>
            </a:r>
            <a:endParaRPr lang="en-US" sz="1550" dirty="0"/>
          </a:p>
        </p:txBody>
      </p:sp>
      <p:sp>
        <p:nvSpPr>
          <p:cNvPr id="8" name="Text 6"/>
          <p:cNvSpPr/>
          <p:nvPr/>
        </p:nvSpPr>
        <p:spPr>
          <a:xfrm>
            <a:off x="3869650" y="2960608"/>
            <a:ext cx="4676418"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OVHcloud</a:t>
            </a:r>
            <a:endParaRPr lang="en-US" sz="1550" dirty="0"/>
          </a:p>
        </p:txBody>
      </p:sp>
      <p:sp>
        <p:nvSpPr>
          <p:cNvPr id="9" name="Text 7"/>
          <p:cNvSpPr/>
          <p:nvPr/>
        </p:nvSpPr>
        <p:spPr>
          <a:xfrm>
            <a:off x="8950404" y="2960608"/>
            <a:ext cx="4680228"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Datategy</a:t>
            </a:r>
            <a:endParaRPr lang="en-US" sz="1550" dirty="0"/>
          </a:p>
        </p:txBody>
      </p:sp>
      <p:sp>
        <p:nvSpPr>
          <p:cNvPr id="10" name="Text 8"/>
          <p:cNvSpPr/>
          <p:nvPr/>
        </p:nvSpPr>
        <p:spPr>
          <a:xfrm>
            <a:off x="999887" y="3539133"/>
            <a:ext cx="2465427" cy="317540"/>
          </a:xfrm>
          <a:prstGeom prst="rect">
            <a:avLst/>
          </a:prstGeom>
          <a:noFill/>
          <a:ln/>
        </p:spPr>
        <p:txBody>
          <a:bodyPr wrap="none" lIns="0" tIns="0" rIns="0" bIns="0" rtlCol="0" anchor="t"/>
          <a:lstStyle/>
          <a:p>
            <a:pPr algn="l" indent="0" marL="0">
              <a:lnSpc>
                <a:spcPts val="2500"/>
              </a:lnSpc>
              <a:buNone/>
            </a:pPr>
            <a:r>
              <a:rPr lang="en-US" sz="1550" b="1" dirty="0">
                <a:solidFill>
                  <a:srgbClr val="2150FE"/>
                </a:solidFill>
                <a:latin typeface="Heebo" pitchFamily="34" charset="0"/>
                <a:ea typeface="Heebo" pitchFamily="34" charset="-122"/>
                <a:cs typeface="Heebo" pitchFamily="34" charset="-120"/>
              </a:rPr>
              <a:t>A.5 Organisational</a:t>
            </a:r>
            <a:endParaRPr lang="en-US" sz="1550" dirty="0"/>
          </a:p>
        </p:txBody>
      </p:sp>
      <p:sp>
        <p:nvSpPr>
          <p:cNvPr id="11" name="Text 9"/>
          <p:cNvSpPr/>
          <p:nvPr/>
        </p:nvSpPr>
        <p:spPr>
          <a:xfrm>
            <a:off x="3869650" y="3539133"/>
            <a:ext cx="4676418"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Public IS policy, full compliance catalogue, contractual terms and sub-processor disclosures.</a:t>
            </a:r>
            <a:endParaRPr lang="en-US" sz="1550" dirty="0"/>
          </a:p>
        </p:txBody>
      </p:sp>
      <p:sp>
        <p:nvSpPr>
          <p:cNvPr id="12" name="Text 10"/>
          <p:cNvSpPr/>
          <p:nvPr/>
        </p:nvSpPr>
        <p:spPr>
          <a:xfrm>
            <a:off x="8950404" y="3539133"/>
            <a:ext cx="4680228"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PAS, organisational governance, incident management, legal and data protection annexes in the pack.</a:t>
            </a:r>
            <a:endParaRPr lang="en-US" sz="1550" dirty="0"/>
          </a:p>
        </p:txBody>
      </p:sp>
      <p:sp>
        <p:nvSpPr>
          <p:cNvPr id="13" name="Text 11"/>
          <p:cNvSpPr/>
          <p:nvPr/>
        </p:nvSpPr>
        <p:spPr>
          <a:xfrm>
            <a:off x="999887" y="4752737"/>
            <a:ext cx="2465427" cy="317540"/>
          </a:xfrm>
          <a:prstGeom prst="rect">
            <a:avLst/>
          </a:prstGeom>
          <a:noFill/>
          <a:ln/>
        </p:spPr>
        <p:txBody>
          <a:bodyPr wrap="none" lIns="0" tIns="0" rIns="0" bIns="0" rtlCol="0" anchor="t"/>
          <a:lstStyle/>
          <a:p>
            <a:pPr algn="l" indent="0" marL="0">
              <a:lnSpc>
                <a:spcPts val="2500"/>
              </a:lnSpc>
              <a:buNone/>
            </a:pPr>
            <a:r>
              <a:rPr lang="en-US" sz="1550" b="1" dirty="0">
                <a:solidFill>
                  <a:srgbClr val="2150FE"/>
                </a:solidFill>
                <a:latin typeface="Heebo" pitchFamily="34" charset="0"/>
                <a:ea typeface="Heebo" pitchFamily="34" charset="-122"/>
                <a:cs typeface="Heebo" pitchFamily="34" charset="-120"/>
              </a:rPr>
              <a:t>A.6 People</a:t>
            </a:r>
            <a:endParaRPr lang="en-US" sz="1550" dirty="0"/>
          </a:p>
        </p:txBody>
      </p:sp>
      <p:sp>
        <p:nvSpPr>
          <p:cNvPr id="14" name="Text 12"/>
          <p:cNvSpPr/>
          <p:nvPr/>
        </p:nvSpPr>
        <p:spPr>
          <a:xfrm>
            <a:off x="3869650" y="4752737"/>
            <a:ext cx="4676418"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Physical data centre security staffing and access control procedures.</a:t>
            </a:r>
            <a:endParaRPr lang="en-US" sz="1550" dirty="0"/>
          </a:p>
        </p:txBody>
      </p:sp>
      <p:sp>
        <p:nvSpPr>
          <p:cNvPr id="15" name="Text 13"/>
          <p:cNvSpPr/>
          <p:nvPr/>
        </p:nvSpPr>
        <p:spPr>
          <a:xfrm>
            <a:off x="8950404" y="4752737"/>
            <a:ext cx="4680228"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HR onboarding and offboarding controls, role-based security training programme (included in pack).</a:t>
            </a:r>
            <a:endParaRPr lang="en-US" sz="1550" dirty="0"/>
          </a:p>
        </p:txBody>
      </p:sp>
      <p:sp>
        <p:nvSpPr>
          <p:cNvPr id="16" name="Text 14"/>
          <p:cNvSpPr/>
          <p:nvPr/>
        </p:nvSpPr>
        <p:spPr>
          <a:xfrm>
            <a:off x="999887" y="5648801"/>
            <a:ext cx="2465427" cy="317540"/>
          </a:xfrm>
          <a:prstGeom prst="rect">
            <a:avLst/>
          </a:prstGeom>
          <a:noFill/>
          <a:ln/>
        </p:spPr>
        <p:txBody>
          <a:bodyPr wrap="none" lIns="0" tIns="0" rIns="0" bIns="0" rtlCol="0" anchor="t"/>
          <a:lstStyle/>
          <a:p>
            <a:pPr algn="l" indent="0" marL="0">
              <a:lnSpc>
                <a:spcPts val="2500"/>
              </a:lnSpc>
              <a:buNone/>
            </a:pPr>
            <a:r>
              <a:rPr lang="en-US" sz="1550" b="1" dirty="0">
                <a:solidFill>
                  <a:srgbClr val="2150FE"/>
                </a:solidFill>
                <a:latin typeface="Heebo" pitchFamily="34" charset="0"/>
                <a:ea typeface="Heebo" pitchFamily="34" charset="-122"/>
                <a:cs typeface="Heebo" pitchFamily="34" charset="-120"/>
              </a:rPr>
              <a:t>A.7 Physical</a:t>
            </a:r>
            <a:endParaRPr lang="en-US" sz="1550" dirty="0"/>
          </a:p>
        </p:txBody>
      </p:sp>
      <p:sp>
        <p:nvSpPr>
          <p:cNvPr id="17" name="Text 15"/>
          <p:cNvSpPr/>
          <p:nvPr/>
        </p:nvSpPr>
        <p:spPr>
          <a:xfrm>
            <a:off x="3869650" y="5648801"/>
            <a:ext cx="4676418" cy="635079"/>
          </a:xfrm>
          <a:prstGeom prst="rect">
            <a:avLst/>
          </a:prstGeom>
          <a:noFill/>
          <a:ln/>
        </p:spPr>
        <p:txBody>
          <a:bodyPr wrap="squar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Full physical stack</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at OVHcloud sites — facilities, power, cooling, and physical access.</a:t>
            </a:r>
            <a:endParaRPr lang="en-US" sz="1550" dirty="0"/>
          </a:p>
        </p:txBody>
      </p:sp>
      <p:sp>
        <p:nvSpPr>
          <p:cNvPr id="18" name="Text 16"/>
          <p:cNvSpPr/>
          <p:nvPr/>
        </p:nvSpPr>
        <p:spPr>
          <a:xfrm>
            <a:off x="8950404" y="5648801"/>
            <a:ext cx="4680228"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N/A — Datategy does not host customer data on its own premises.</a:t>
            </a:r>
            <a:endParaRPr lang="en-US" sz="1550" dirty="0"/>
          </a:p>
        </p:txBody>
      </p:sp>
      <p:sp>
        <p:nvSpPr>
          <p:cNvPr id="19" name="Text 17"/>
          <p:cNvSpPr/>
          <p:nvPr/>
        </p:nvSpPr>
        <p:spPr>
          <a:xfrm>
            <a:off x="999887" y="6544866"/>
            <a:ext cx="2465427" cy="317540"/>
          </a:xfrm>
          <a:prstGeom prst="rect">
            <a:avLst/>
          </a:prstGeom>
          <a:noFill/>
          <a:ln/>
        </p:spPr>
        <p:txBody>
          <a:bodyPr wrap="none" lIns="0" tIns="0" rIns="0" bIns="0" rtlCol="0" anchor="t"/>
          <a:lstStyle/>
          <a:p>
            <a:pPr algn="l" indent="0" marL="0">
              <a:lnSpc>
                <a:spcPts val="2500"/>
              </a:lnSpc>
              <a:buNone/>
            </a:pPr>
            <a:r>
              <a:rPr lang="en-US" sz="1550" b="1" dirty="0">
                <a:solidFill>
                  <a:srgbClr val="2150FE"/>
                </a:solidFill>
                <a:latin typeface="Heebo" pitchFamily="34" charset="0"/>
                <a:ea typeface="Heebo" pitchFamily="34" charset="-122"/>
                <a:cs typeface="Heebo" pitchFamily="34" charset="-120"/>
              </a:rPr>
              <a:t>A.8 Technological</a:t>
            </a:r>
            <a:endParaRPr lang="en-US" sz="1550" dirty="0"/>
          </a:p>
        </p:txBody>
      </p:sp>
      <p:sp>
        <p:nvSpPr>
          <p:cNvPr id="20" name="Text 18"/>
          <p:cNvSpPr/>
          <p:nvPr/>
        </p:nvSpPr>
        <p:spPr>
          <a:xfrm>
            <a:off x="3869650" y="6544866"/>
            <a:ext cx="4676418"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Hypervisor, network, and managed Kubernetes control plane security controls.</a:t>
            </a:r>
            <a:endParaRPr lang="en-US" sz="1550" dirty="0"/>
          </a:p>
        </p:txBody>
      </p:sp>
      <p:sp>
        <p:nvSpPr>
          <p:cNvPr id="21" name="Text 19"/>
          <p:cNvSpPr/>
          <p:nvPr/>
        </p:nvSpPr>
        <p:spPr>
          <a:xfrm>
            <a:off x="8950404" y="6544866"/>
            <a:ext cx="4680228"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Service mesh, identity (Keycloak), cryptography, logging, backups,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local AI services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and secure SDLC.</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93790" y="619720"/>
            <a:ext cx="1767721" cy="339566"/>
          </a:xfrm>
          <a:prstGeom prst="roundRect">
            <a:avLst>
              <a:gd name="adj" fmla="val 6313"/>
            </a:avLst>
          </a:prstGeom>
          <a:noFill/>
          <a:ln w="7620">
            <a:solidFill>
              <a:srgbClr val="2150FE"/>
            </a:solidFill>
            <a:prstDash val="solid"/>
          </a:ln>
        </p:spPr>
      </p:sp>
      <p:sp>
        <p:nvSpPr>
          <p:cNvPr id="3" name="Text 1"/>
          <p:cNvSpPr/>
          <p:nvPr/>
        </p:nvSpPr>
        <p:spPr>
          <a:xfrm>
            <a:off x="908566" y="680918"/>
            <a:ext cx="1538168" cy="217170"/>
          </a:xfrm>
          <a:prstGeom prst="rect">
            <a:avLst/>
          </a:prstGeom>
          <a:noFill/>
          <a:ln/>
        </p:spPr>
        <p:txBody>
          <a:bodyPr wrap="none" lIns="0" tIns="0" rIns="0" bIns="0" rtlCol="0" anchor="t"/>
          <a:lstStyle/>
          <a:p>
            <a:pPr algn="l" indent="0" marL="0">
              <a:lnSpc>
                <a:spcPts val="1700"/>
              </a:lnSpc>
              <a:buNone/>
            </a:pPr>
            <a:r>
              <a:rPr lang="en-US" sz="1100" dirty="0">
                <a:solidFill>
                  <a:srgbClr val="2150FE"/>
                </a:solidFill>
                <a:latin typeface="Heebo" pitchFamily="34" charset="0"/>
                <a:ea typeface="Heebo" pitchFamily="34" charset="-122"/>
                <a:cs typeface="Heebo" pitchFamily="34" charset="-120"/>
              </a:rPr>
              <a:t>SECURITY OPERATIONS</a:t>
            </a:r>
            <a:endParaRPr lang="en-US" sz="1100" dirty="0"/>
          </a:p>
        </p:txBody>
      </p:sp>
      <p:sp>
        <p:nvSpPr>
          <p:cNvPr id="4" name="Text 2"/>
          <p:cNvSpPr/>
          <p:nvPr/>
        </p:nvSpPr>
        <p:spPr>
          <a:xfrm>
            <a:off x="793790" y="1023580"/>
            <a:ext cx="6368534" cy="558165"/>
          </a:xfrm>
          <a:prstGeom prst="rect">
            <a:avLst/>
          </a:prstGeom>
          <a:noFill/>
          <a:ln/>
        </p:spPr>
        <p:txBody>
          <a:bodyPr wrap="none" lIns="0" tIns="0" rIns="0" bIns="0" rtlCol="0" anchor="t"/>
          <a:lstStyle/>
          <a:p>
            <a:pPr algn="l" indent="0" marL="0">
              <a:lnSpc>
                <a:spcPts val="4350"/>
              </a:lnSpc>
              <a:buNone/>
            </a:pPr>
            <a:r>
              <a:rPr lang="en-US" sz="3500" dirty="0">
                <a:solidFill>
                  <a:srgbClr val="152D47"/>
                </a:solidFill>
                <a:latin typeface="Crimson Pro Semi Bold" pitchFamily="34" charset="0"/>
                <a:ea typeface="Crimson Pro Semi Bold" pitchFamily="34" charset="-122"/>
                <a:cs typeface="Crimson Pro Semi Bold" pitchFamily="34" charset="-120"/>
              </a:rPr>
              <a:t>Security Operations You Can Audit</a:t>
            </a:r>
            <a:endParaRPr lang="en-US" sz="3500" dirty="0"/>
          </a:p>
        </p:txBody>
      </p:sp>
      <p:sp>
        <p:nvSpPr>
          <p:cNvPr id="5" name="Text 3"/>
          <p:cNvSpPr/>
          <p:nvPr/>
        </p:nvSpPr>
        <p:spPr>
          <a:xfrm>
            <a:off x="793790" y="1822847"/>
            <a:ext cx="13042821" cy="542925"/>
          </a:xfrm>
          <a:prstGeom prst="rect">
            <a:avLst/>
          </a:prstGeom>
          <a:noFill/>
          <a:ln/>
        </p:spPr>
        <p:txBody>
          <a:bodyPr wrap="square" lIns="0" tIns="0" rIns="0" bIns="0" rtlCol="0" anchor="t"/>
          <a:lstStyle/>
          <a:p>
            <a:pPr algn="l" indent="0" marL="0">
              <a:lnSpc>
                <a:spcPts val="2100"/>
              </a:lnSpc>
              <a:buNone/>
            </a:pPr>
            <a:r>
              <a:rPr lang="en-US" sz="1400" dirty="0">
                <a:solidFill>
                  <a:srgbClr val="4C4C4D"/>
                </a:solidFill>
                <a:latin typeface="Heebo" pitchFamily="34" charset="0"/>
                <a:ea typeface="Heebo" pitchFamily="34" charset="-122"/>
                <a:cs typeface="Heebo" pitchFamily="34" charset="-120"/>
              </a:rPr>
              <a:t>Datategy's security operations are documented and designed to be auditable. The following controls are described in the PAS and can be verified through your standard supplier assurance process.</a:t>
            </a:r>
            <a:endParaRPr lang="en-US" sz="14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0703" y="2552164"/>
            <a:ext cx="267891" cy="267891"/>
          </a:xfrm>
          <a:prstGeom prst="rect">
            <a:avLst/>
          </a:prstGeom>
        </p:spPr>
      </p:pic>
      <p:sp>
        <p:nvSpPr>
          <p:cNvPr id="7" name="Text 4"/>
          <p:cNvSpPr/>
          <p:nvPr/>
        </p:nvSpPr>
        <p:spPr>
          <a:xfrm>
            <a:off x="1374219" y="2546628"/>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4C4C4D"/>
                </a:solidFill>
                <a:latin typeface="Crimson Pro Semi Bold" pitchFamily="34" charset="0"/>
                <a:ea typeface="Crimson Pro Semi Bold" pitchFamily="34" charset="-122"/>
                <a:cs typeface="Crimson Pro Semi Bold" pitchFamily="34" charset="-120"/>
              </a:rPr>
              <a:t>Access Management</a:t>
            </a:r>
            <a:endParaRPr lang="en-US" sz="1750" dirty="0"/>
          </a:p>
        </p:txBody>
      </p:sp>
      <p:sp>
        <p:nvSpPr>
          <p:cNvPr id="8" name="Text 5"/>
          <p:cNvSpPr/>
          <p:nvPr/>
        </p:nvSpPr>
        <p:spPr>
          <a:xfrm>
            <a:off x="1374219" y="2922032"/>
            <a:ext cx="12462391" cy="271463"/>
          </a:xfrm>
          <a:prstGeom prst="rect">
            <a:avLst/>
          </a:prstGeom>
          <a:noFill/>
          <a:ln/>
        </p:spPr>
        <p:txBody>
          <a:bodyPr wrap="none" lIns="0" tIns="0" rIns="0" bIns="0" rtlCol="0" anchor="t"/>
          <a:lstStyle/>
          <a:p>
            <a:pPr algn="l" indent="0" marL="0">
              <a:lnSpc>
                <a:spcPts val="2100"/>
              </a:lnSpc>
              <a:buNone/>
            </a:pPr>
            <a:r>
              <a:rPr lang="en-US" sz="1400" dirty="0">
                <a:solidFill>
                  <a:srgbClr val="4C4C4D"/>
                </a:solidFill>
                <a:latin typeface="Heebo" pitchFamily="34" charset="0"/>
                <a:ea typeface="Heebo" pitchFamily="34" charset="-122"/>
                <a:cs typeface="Heebo" pitchFamily="34" charset="-120"/>
              </a:rPr>
              <a:t>Keycloak RBAC with strong password policy; </a:t>
            </a:r>
            <a:pPr algn="l" indent="0" marL="0">
              <a:lnSpc>
                <a:spcPts val="2100"/>
              </a:lnSpc>
              <a:buNone/>
            </a:pPr>
            <a:r>
              <a:rPr lang="en-US" sz="1400" b="1" dirty="0">
                <a:solidFill>
                  <a:srgbClr val="4C4C4D"/>
                </a:solidFill>
                <a:latin typeface="Heebo" pitchFamily="34" charset="0"/>
                <a:ea typeface="Heebo" pitchFamily="34" charset="-122"/>
                <a:cs typeface="Heebo" pitchFamily="34" charset="-120"/>
              </a:rPr>
              <a:t>MFA enforced for administrators</a:t>
            </a:r>
            <a:pPr algn="l" indent="0" marL="0">
              <a:lnSpc>
                <a:spcPts val="2100"/>
              </a:lnSpc>
              <a:buNone/>
            </a:pPr>
            <a:r>
              <a:rPr lang="en-US" sz="1400" dirty="0">
                <a:solidFill>
                  <a:srgbClr val="4C4C4D"/>
                </a:solidFill>
                <a:latin typeface="Heebo" pitchFamily="34" charset="0"/>
                <a:ea typeface="Heebo" pitchFamily="34" charset="-122"/>
                <a:cs typeface="Heebo" pitchFamily="34" charset="-120"/>
              </a:rPr>
              <a:t>; optional SSO federation to your corporate IdP via SAML or OIDC.</a:t>
            </a:r>
            <a:endParaRPr lang="en-US" sz="14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0703" y="3520500"/>
            <a:ext cx="267891" cy="267891"/>
          </a:xfrm>
          <a:prstGeom prst="rect">
            <a:avLst/>
          </a:prstGeom>
        </p:spPr>
      </p:pic>
      <p:sp>
        <p:nvSpPr>
          <p:cNvPr id="10" name="Text 6"/>
          <p:cNvSpPr/>
          <p:nvPr/>
        </p:nvSpPr>
        <p:spPr>
          <a:xfrm>
            <a:off x="1374219" y="3514963"/>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4C4C4D"/>
                </a:solidFill>
                <a:latin typeface="Crimson Pro Semi Bold" pitchFamily="34" charset="0"/>
                <a:ea typeface="Crimson Pro Semi Bold" pitchFamily="34" charset="-122"/>
                <a:cs typeface="Crimson Pro Semi Bold" pitchFamily="34" charset="-120"/>
              </a:rPr>
              <a:t>Network Controls</a:t>
            </a:r>
            <a:endParaRPr lang="en-US" sz="1750" dirty="0"/>
          </a:p>
        </p:txBody>
      </p:sp>
      <p:sp>
        <p:nvSpPr>
          <p:cNvPr id="11" name="Text 7"/>
          <p:cNvSpPr/>
          <p:nvPr/>
        </p:nvSpPr>
        <p:spPr>
          <a:xfrm>
            <a:off x="1374219" y="3890367"/>
            <a:ext cx="12462391" cy="542925"/>
          </a:xfrm>
          <a:prstGeom prst="rect">
            <a:avLst/>
          </a:prstGeom>
          <a:noFill/>
          <a:ln/>
        </p:spPr>
        <p:txBody>
          <a:bodyPr wrap="square" lIns="0" tIns="0" rIns="0" bIns="0" rtlCol="0" anchor="t"/>
          <a:lstStyle/>
          <a:p>
            <a:pPr algn="l" indent="0" marL="0">
              <a:lnSpc>
                <a:spcPts val="2100"/>
              </a:lnSpc>
              <a:buNone/>
            </a:pPr>
            <a:r>
              <a:rPr lang="en-US" sz="1400" dirty="0">
                <a:solidFill>
                  <a:srgbClr val="4C4C4D"/>
                </a:solidFill>
                <a:latin typeface="Heebo" pitchFamily="34" charset="0"/>
                <a:ea typeface="Heebo" pitchFamily="34" charset="-122"/>
                <a:cs typeface="Heebo" pitchFamily="34" charset="-120"/>
              </a:rPr>
              <a:t>Istio ingress with policy enforcement; </a:t>
            </a:r>
            <a:pPr algn="l" indent="0" marL="0">
              <a:lnSpc>
                <a:spcPts val="2100"/>
              </a:lnSpc>
              <a:buNone/>
            </a:pPr>
            <a:r>
              <a:rPr lang="en-US" sz="1400" b="1" dirty="0">
                <a:solidFill>
                  <a:srgbClr val="4C4C4D"/>
                </a:solidFill>
                <a:latin typeface="Heebo" pitchFamily="34" charset="0"/>
                <a:ea typeface="Heebo" pitchFamily="34" charset="-122"/>
                <a:cs typeface="Heebo" pitchFamily="34" charset="-120"/>
              </a:rPr>
              <a:t>internal mTLS</a:t>
            </a:r>
            <a:pPr algn="l" indent="0" marL="0">
              <a:lnSpc>
                <a:spcPts val="2100"/>
              </a:lnSpc>
              <a:buNone/>
            </a:pPr>
            <a:r>
              <a:rPr lang="en-US" sz="1400" dirty="0">
                <a:solidFill>
                  <a:srgbClr val="4C4C4D"/>
                </a:solidFill>
                <a:latin typeface="Heebo" pitchFamily="34" charset="0"/>
                <a:ea typeface="Heebo" pitchFamily="34" charset="-122"/>
                <a:cs typeface="Heebo" pitchFamily="34" charset="-120"/>
              </a:rPr>
              <a:t> patterns between services; egress restrictions via Kubernetes </a:t>
            </a:r>
            <a:pPr algn="l" indent="0" marL="0">
              <a:lnSpc>
                <a:spcPts val="2100"/>
              </a:lnSpc>
              <a:buNone/>
            </a:pPr>
            <a:r>
              <a:rPr lang="en-US" sz="1400" b="1" dirty="0">
                <a:solidFill>
                  <a:srgbClr val="4C4C4D"/>
                </a:solidFill>
                <a:latin typeface="Heebo" pitchFamily="34" charset="0"/>
                <a:ea typeface="Heebo" pitchFamily="34" charset="-122"/>
                <a:cs typeface="Heebo" pitchFamily="34" charset="-120"/>
              </a:rPr>
              <a:t>NetworkPolicy</a:t>
            </a:r>
            <a:pPr algn="l" indent="0" marL="0">
              <a:lnSpc>
                <a:spcPts val="2100"/>
              </a:lnSpc>
              <a:buNone/>
            </a:pPr>
            <a:r>
              <a:rPr lang="en-US" sz="1400" dirty="0">
                <a:solidFill>
                  <a:srgbClr val="4C4C4D"/>
                </a:solidFill>
                <a:latin typeface="Heebo" pitchFamily="34" charset="0"/>
                <a:ea typeface="Heebo" pitchFamily="34" charset="-122"/>
                <a:cs typeface="Heebo" pitchFamily="34" charset="-120"/>
              </a:rPr>
              <a:t> objects to prevent unauthorised outbound calls.</a:t>
            </a:r>
            <a:endParaRPr lang="en-US" sz="14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0703" y="4760297"/>
            <a:ext cx="267891" cy="267891"/>
          </a:xfrm>
          <a:prstGeom prst="rect">
            <a:avLst/>
          </a:prstGeom>
        </p:spPr>
      </p:pic>
      <p:sp>
        <p:nvSpPr>
          <p:cNvPr id="13" name="Text 8"/>
          <p:cNvSpPr/>
          <p:nvPr/>
        </p:nvSpPr>
        <p:spPr>
          <a:xfrm>
            <a:off x="1374219" y="4754761"/>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4C4C4D"/>
                </a:solidFill>
                <a:latin typeface="Crimson Pro Semi Bold" pitchFamily="34" charset="0"/>
                <a:ea typeface="Crimson Pro Semi Bold" pitchFamily="34" charset="-122"/>
                <a:cs typeface="Crimson Pro Semi Bold" pitchFamily="34" charset="-120"/>
              </a:rPr>
              <a:t>Secrets Management</a:t>
            </a:r>
            <a:endParaRPr lang="en-US" sz="1750" dirty="0"/>
          </a:p>
        </p:txBody>
      </p:sp>
      <p:sp>
        <p:nvSpPr>
          <p:cNvPr id="14" name="Text 9"/>
          <p:cNvSpPr/>
          <p:nvPr/>
        </p:nvSpPr>
        <p:spPr>
          <a:xfrm>
            <a:off x="1374219" y="5130165"/>
            <a:ext cx="12462391" cy="271463"/>
          </a:xfrm>
          <a:prstGeom prst="rect">
            <a:avLst/>
          </a:prstGeom>
          <a:noFill/>
          <a:ln/>
        </p:spPr>
        <p:txBody>
          <a:bodyPr wrap="none" lIns="0" tIns="0" rIns="0" bIns="0" rtlCol="0" anchor="t"/>
          <a:lstStyle/>
          <a:p>
            <a:pPr algn="l" indent="0" marL="0">
              <a:lnSpc>
                <a:spcPts val="2100"/>
              </a:lnSpc>
              <a:buNone/>
            </a:pPr>
            <a:r>
              <a:rPr lang="en-US" sz="1400" dirty="0">
                <a:solidFill>
                  <a:srgbClr val="4C4C4D"/>
                </a:solidFill>
                <a:latin typeface="Heebo" pitchFamily="34" charset="0"/>
                <a:ea typeface="Heebo" pitchFamily="34" charset="-122"/>
                <a:cs typeface="Heebo" pitchFamily="34" charset="-120"/>
              </a:rPr>
              <a:t>All secrets centralised in </a:t>
            </a:r>
            <a:pPr algn="l" indent="0" marL="0">
              <a:lnSpc>
                <a:spcPts val="2100"/>
              </a:lnSpc>
              <a:buNone/>
            </a:pPr>
            <a:r>
              <a:rPr lang="en-US" sz="1400" b="1" dirty="0">
                <a:solidFill>
                  <a:srgbClr val="4C4C4D"/>
                </a:solidFill>
                <a:latin typeface="Heebo" pitchFamily="34" charset="0"/>
                <a:ea typeface="Heebo" pitchFamily="34" charset="-122"/>
                <a:cs typeface="Heebo" pitchFamily="34" charset="-120"/>
              </a:rPr>
              <a:t>HashiCorp Vault</a:t>
            </a:r>
            <a:pPr algn="l" indent="0" marL="0">
              <a:lnSpc>
                <a:spcPts val="2100"/>
              </a:lnSpc>
              <a:buNone/>
            </a:pPr>
            <a:r>
              <a:rPr lang="en-US" sz="1400" dirty="0">
                <a:solidFill>
                  <a:srgbClr val="4C4C4D"/>
                </a:solidFill>
                <a:latin typeface="Heebo" pitchFamily="34" charset="0"/>
                <a:ea typeface="Heebo" pitchFamily="34" charset="-122"/>
                <a:cs typeface="Heebo" pitchFamily="34" charset="-120"/>
              </a:rPr>
              <a:t> with a full audit trail. No secrets stored in environment variables or plaintext configuration files.</a:t>
            </a:r>
            <a:endParaRPr lang="en-US" sz="14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0703" y="5728633"/>
            <a:ext cx="267891" cy="267891"/>
          </a:xfrm>
          <a:prstGeom prst="rect">
            <a:avLst/>
          </a:prstGeom>
        </p:spPr>
      </p:pic>
      <p:sp>
        <p:nvSpPr>
          <p:cNvPr id="16" name="Text 10"/>
          <p:cNvSpPr/>
          <p:nvPr/>
        </p:nvSpPr>
        <p:spPr>
          <a:xfrm>
            <a:off x="1374219" y="5723096"/>
            <a:ext cx="2488406" cy="278963"/>
          </a:xfrm>
          <a:prstGeom prst="rect">
            <a:avLst/>
          </a:prstGeom>
          <a:noFill/>
          <a:ln/>
        </p:spPr>
        <p:txBody>
          <a:bodyPr wrap="none" lIns="0" tIns="0" rIns="0" bIns="0" rtlCol="0" anchor="t"/>
          <a:lstStyle/>
          <a:p>
            <a:pPr algn="l" indent="0" marL="0">
              <a:lnSpc>
                <a:spcPts val="2150"/>
              </a:lnSpc>
              <a:buNone/>
            </a:pPr>
            <a:r>
              <a:rPr lang="en-US" sz="1750" dirty="0">
                <a:solidFill>
                  <a:srgbClr val="4C4C4D"/>
                </a:solidFill>
                <a:latin typeface="Crimson Pro Semi Bold" pitchFamily="34" charset="0"/>
                <a:ea typeface="Crimson Pro Semi Bold" pitchFamily="34" charset="-122"/>
                <a:cs typeface="Crimson Pro Semi Bold" pitchFamily="34" charset="-120"/>
              </a:rPr>
              <a:t>Vulnerability Management</a:t>
            </a:r>
            <a:endParaRPr lang="en-US" sz="1750" dirty="0"/>
          </a:p>
        </p:txBody>
      </p:sp>
      <p:sp>
        <p:nvSpPr>
          <p:cNvPr id="17" name="Text 11"/>
          <p:cNvSpPr/>
          <p:nvPr/>
        </p:nvSpPr>
        <p:spPr>
          <a:xfrm>
            <a:off x="1374219" y="6098500"/>
            <a:ext cx="12462391" cy="271463"/>
          </a:xfrm>
          <a:prstGeom prst="rect">
            <a:avLst/>
          </a:prstGeom>
          <a:noFill/>
          <a:ln/>
        </p:spPr>
        <p:txBody>
          <a:bodyPr wrap="none" lIns="0" tIns="0" rIns="0" bIns="0" rtlCol="0" anchor="t"/>
          <a:lstStyle/>
          <a:p>
            <a:pPr algn="l" indent="0" marL="0">
              <a:lnSpc>
                <a:spcPts val="2100"/>
              </a:lnSpc>
              <a:buNone/>
            </a:pPr>
            <a:r>
              <a:rPr lang="en-US" sz="1400" dirty="0">
                <a:solidFill>
                  <a:srgbClr val="4C4C4D"/>
                </a:solidFill>
                <a:latin typeface="Heebo" pitchFamily="34" charset="0"/>
                <a:ea typeface="Heebo" pitchFamily="34" charset="-122"/>
                <a:cs typeface="Heebo" pitchFamily="34" charset="-120"/>
              </a:rPr>
              <a:t>Continuous scanning in the CI pipeline; </a:t>
            </a:r>
            <a:pPr algn="l" indent="0" marL="0">
              <a:lnSpc>
                <a:spcPts val="2100"/>
              </a:lnSpc>
              <a:buNone/>
            </a:pPr>
            <a:r>
              <a:rPr lang="en-US" sz="1400" b="1" dirty="0">
                <a:solidFill>
                  <a:srgbClr val="4C4C4D"/>
                </a:solidFill>
                <a:latin typeface="Heebo" pitchFamily="34" charset="0"/>
                <a:ea typeface="Heebo" pitchFamily="34" charset="-122"/>
                <a:cs typeface="Heebo" pitchFamily="34" charset="-120"/>
              </a:rPr>
              <a:t>monthly patch cadence</a:t>
            </a:r>
            <a:pPr algn="l" indent="0" marL="0">
              <a:lnSpc>
                <a:spcPts val="2100"/>
              </a:lnSpc>
              <a:buNone/>
            </a:pPr>
            <a:r>
              <a:rPr lang="en-US" sz="1400" dirty="0">
                <a:solidFill>
                  <a:srgbClr val="4C4C4D"/>
                </a:solidFill>
                <a:latin typeface="Heebo" pitchFamily="34" charset="0"/>
                <a:ea typeface="Heebo" pitchFamily="34" charset="-122"/>
                <a:cs typeface="Heebo" pitchFamily="34" charset="-120"/>
              </a:rPr>
              <a:t>; CIS-style container hardening checks applied to base images.</a:t>
            </a:r>
            <a:endParaRPr lang="en-US" sz="140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0703" y="6696968"/>
            <a:ext cx="267891" cy="267891"/>
          </a:xfrm>
          <a:prstGeom prst="rect">
            <a:avLst/>
          </a:prstGeom>
        </p:spPr>
      </p:pic>
      <p:sp>
        <p:nvSpPr>
          <p:cNvPr id="19" name="Text 12"/>
          <p:cNvSpPr/>
          <p:nvPr/>
        </p:nvSpPr>
        <p:spPr>
          <a:xfrm>
            <a:off x="1374219" y="6691432"/>
            <a:ext cx="3859292" cy="278963"/>
          </a:xfrm>
          <a:prstGeom prst="rect">
            <a:avLst/>
          </a:prstGeom>
          <a:noFill/>
          <a:ln/>
        </p:spPr>
        <p:txBody>
          <a:bodyPr wrap="none" lIns="0" tIns="0" rIns="0" bIns="0" rtlCol="0" anchor="t"/>
          <a:lstStyle/>
          <a:p>
            <a:pPr algn="l" indent="0" marL="0">
              <a:lnSpc>
                <a:spcPts val="2150"/>
              </a:lnSpc>
              <a:buNone/>
            </a:pPr>
            <a:r>
              <a:rPr lang="en-US" sz="1750" dirty="0">
                <a:solidFill>
                  <a:srgbClr val="4C4C4D"/>
                </a:solidFill>
                <a:latin typeface="Crimson Pro Semi Bold" pitchFamily="34" charset="0"/>
                <a:ea typeface="Crimson Pro Semi Bold" pitchFamily="34" charset="-122"/>
                <a:cs typeface="Crimson Pro Semi Bold" pitchFamily="34" charset="-120"/>
              </a:rPr>
              <a:t>Logging, Monitoring &amp; Incident Response</a:t>
            </a:r>
            <a:endParaRPr lang="en-US" sz="1750" dirty="0"/>
          </a:p>
        </p:txBody>
      </p:sp>
      <p:sp>
        <p:nvSpPr>
          <p:cNvPr id="20" name="Text 13"/>
          <p:cNvSpPr/>
          <p:nvPr/>
        </p:nvSpPr>
        <p:spPr>
          <a:xfrm>
            <a:off x="1374219" y="7066836"/>
            <a:ext cx="12462391" cy="542925"/>
          </a:xfrm>
          <a:prstGeom prst="rect">
            <a:avLst/>
          </a:prstGeom>
          <a:noFill/>
          <a:ln/>
        </p:spPr>
        <p:txBody>
          <a:bodyPr wrap="square" lIns="0" tIns="0" rIns="0" bIns="0" rtlCol="0" anchor="t"/>
          <a:lstStyle/>
          <a:p>
            <a:pPr algn="l" indent="0" marL="0">
              <a:lnSpc>
                <a:spcPts val="2100"/>
              </a:lnSpc>
              <a:buNone/>
            </a:pPr>
            <a:r>
              <a:rPr lang="en-US" sz="1400" dirty="0">
                <a:solidFill>
                  <a:srgbClr val="4C4C4D"/>
                </a:solidFill>
                <a:latin typeface="Heebo" pitchFamily="34" charset="0"/>
                <a:ea typeface="Heebo" pitchFamily="34" charset="-122"/>
                <a:cs typeface="Heebo" pitchFamily="34" charset="-120"/>
              </a:rPr>
              <a:t>Cluster and application logs with health checks and alerting. Incident path documented in PAS; </a:t>
            </a:r>
            <a:pPr algn="l" indent="0" marL="0">
              <a:lnSpc>
                <a:spcPts val="2100"/>
              </a:lnSpc>
              <a:buNone/>
            </a:pPr>
            <a:r>
              <a:rPr lang="en-US" sz="1400" b="1" dirty="0">
                <a:solidFill>
                  <a:srgbClr val="4C4C4D"/>
                </a:solidFill>
                <a:latin typeface="Heebo" pitchFamily="34" charset="0"/>
                <a:ea typeface="Heebo" pitchFamily="34" charset="-122"/>
                <a:cs typeface="Heebo" pitchFamily="34" charset="-120"/>
              </a:rPr>
              <a:t>breach notification chain: Datategy → you → supervisory authority</a:t>
            </a:r>
            <a:pPr algn="l" indent="0" marL="0">
              <a:lnSpc>
                <a:spcPts val="2100"/>
              </a:lnSpc>
              <a:buNone/>
            </a:pPr>
            <a:r>
              <a:rPr lang="en-US" sz="1400" dirty="0">
                <a:solidFill>
                  <a:srgbClr val="4C4C4D"/>
                </a:solidFill>
                <a:latin typeface="Heebo" pitchFamily="34" charset="0"/>
                <a:ea typeface="Heebo" pitchFamily="34" charset="-122"/>
                <a:cs typeface="Heebo" pitchFamily="34" charset="-120"/>
              </a:rPr>
              <a:t>, as required under GDPR Article 33/34.</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93790" y="546140"/>
            <a:ext cx="1923098" cy="373142"/>
          </a:xfrm>
          <a:prstGeom prst="roundRect">
            <a:avLst>
              <a:gd name="adj" fmla="val 6383"/>
            </a:avLst>
          </a:prstGeom>
          <a:solidFill>
            <a:srgbClr val="CCD7FF"/>
          </a:solidFill>
          <a:ln/>
        </p:spPr>
      </p:sp>
      <p:sp>
        <p:nvSpPr>
          <p:cNvPr id="3" name="Text 1"/>
          <p:cNvSpPr/>
          <p:nvPr/>
        </p:nvSpPr>
        <p:spPr>
          <a:xfrm>
            <a:off x="912852" y="605671"/>
            <a:ext cx="16849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BUSINESS CONTINUITY</a:t>
            </a:r>
            <a:endParaRPr lang="en-US" sz="1250" dirty="0"/>
          </a:p>
        </p:txBody>
      </p:sp>
      <p:sp>
        <p:nvSpPr>
          <p:cNvPr id="4" name="Text 2"/>
          <p:cNvSpPr/>
          <p:nvPr/>
        </p:nvSpPr>
        <p:spPr>
          <a:xfrm>
            <a:off x="793790" y="998577"/>
            <a:ext cx="8329732"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Business Continuity &amp; Disaster Recovery</a:t>
            </a:r>
            <a:endParaRPr lang="en-US" sz="3900" dirty="0"/>
          </a:p>
        </p:txBody>
      </p:sp>
      <p:sp>
        <p:nvSpPr>
          <p:cNvPr id="5" name="Text 3"/>
          <p:cNvSpPr/>
          <p:nvPr/>
        </p:nvSpPr>
        <p:spPr>
          <a:xfrm>
            <a:off x="793790" y="191631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Continuity and recoverability are first-class requirements for enterprise SaaS. Datategy provides documented BCP and DR plans, with tested restore exercises and defined recovery objectives for the reference environment.</a:t>
            </a:r>
            <a:endParaRPr lang="en-US" sz="1550" dirty="0"/>
          </a:p>
        </p:txBody>
      </p:sp>
      <p:sp>
        <p:nvSpPr>
          <p:cNvPr id="6" name="Shape 4"/>
          <p:cNvSpPr/>
          <p:nvPr/>
        </p:nvSpPr>
        <p:spPr>
          <a:xfrm>
            <a:off x="650915" y="2774633"/>
            <a:ext cx="6565106" cy="3524845"/>
          </a:xfrm>
          <a:prstGeom prst="roundRect">
            <a:avLst>
              <a:gd name="adj" fmla="val 845"/>
            </a:avLst>
          </a:prstGeom>
          <a:solidFill>
            <a:srgbClr val="2150FE"/>
          </a:solidFill>
          <a:ln/>
        </p:spPr>
      </p:sp>
      <p:sp>
        <p:nvSpPr>
          <p:cNvPr id="7" name="Text 5"/>
          <p:cNvSpPr/>
          <p:nvPr/>
        </p:nvSpPr>
        <p:spPr>
          <a:xfrm>
            <a:off x="849273" y="297299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PCA (BCP) &amp; PRS (DR)</a:t>
            </a:r>
            <a:endParaRPr lang="en-US" sz="1950" dirty="0"/>
          </a:p>
        </p:txBody>
      </p:sp>
      <p:sp>
        <p:nvSpPr>
          <p:cNvPr id="8" name="Text 6"/>
          <p:cNvSpPr/>
          <p:nvPr/>
        </p:nvSpPr>
        <p:spPr>
          <a:xfrm>
            <a:off x="849273" y="3481507"/>
            <a:ext cx="6168390" cy="2113478"/>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Documented continuity approach in the published PCA</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Reference RTO: </a:t>
            </a:r>
            <a:pPr algn="l" indent="0" marL="0">
              <a:lnSpc>
                <a:spcPts val="2500"/>
              </a:lnSpc>
              <a:buNone/>
            </a:pPr>
            <a:r>
              <a:rPr lang="en-US" sz="1550" b="1" dirty="0">
                <a:solidFill>
                  <a:srgbClr val="FFFFFF"/>
                </a:solidFill>
                <a:latin typeface="Heebo" pitchFamily="34" charset="0"/>
                <a:ea typeface="Heebo" pitchFamily="34" charset="-122"/>
                <a:cs typeface="Heebo" pitchFamily="34" charset="-120"/>
              </a:rPr>
              <a:t>6 hours</a:t>
            </a:r>
            <a:pPr algn="l" indent="0" marL="0">
              <a:lnSpc>
                <a:spcPts val="2500"/>
              </a:lnSpc>
              <a:buNone/>
            </a:pPr>
            <a:r>
              <a:rPr lang="en-US" sz="1550" dirty="0">
                <a:solidFill>
                  <a:srgbClr val="FFFFFF"/>
                </a:solidFill>
                <a:latin typeface="Heebo" pitchFamily="34" charset="0"/>
                <a:ea typeface="Heebo" pitchFamily="34" charset="-122"/>
                <a:cs typeface="Heebo" pitchFamily="34" charset="-120"/>
              </a:rPr>
              <a:t> / RPO: </a:t>
            </a:r>
            <a:pPr algn="l" indent="0" marL="0">
              <a:lnSpc>
                <a:spcPts val="2500"/>
              </a:lnSpc>
              <a:buNone/>
            </a:pPr>
            <a:r>
              <a:rPr lang="en-US" sz="1550" b="1" dirty="0">
                <a:solidFill>
                  <a:srgbClr val="FFFFFF"/>
                </a:solidFill>
                <a:latin typeface="Heebo" pitchFamily="34" charset="0"/>
                <a:ea typeface="Heebo" pitchFamily="34" charset="-122"/>
                <a:cs typeface="Heebo" pitchFamily="34" charset="-120"/>
              </a:rPr>
              <a:t>12 hours</a:t>
            </a:r>
            <a:pPr algn="l" indent="0" marL="0">
              <a:lnSpc>
                <a:spcPts val="2500"/>
              </a:lnSpc>
              <a:buNone/>
            </a:pPr>
            <a:r>
              <a:rPr lang="en-US" sz="1550" dirty="0">
                <a:solidFill>
                  <a:srgbClr val="FFFFFF"/>
                </a:solidFill>
                <a:latin typeface="Heebo" pitchFamily="34" charset="0"/>
                <a:ea typeface="Heebo" pitchFamily="34" charset="-122"/>
                <a:cs typeface="Heebo" pitchFamily="34" charset="-120"/>
              </a:rPr>
              <a:t> for the described test environment</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Production RTO/RPO targets agreed per contract based on your requirements</a:t>
            </a:r>
            <a:endParaRPr lang="en-US" sz="1550" dirty="0"/>
          </a:p>
          <a:p>
            <a:pPr algn="l" marL="342900" indent="-342900">
              <a:lnSpc>
                <a:spcPts val="2500"/>
              </a:lnSpc>
              <a:buSzPct val="100000"/>
              <a:buChar char="•"/>
            </a:pPr>
            <a:r>
              <a:rPr lang="en-US" sz="1550" dirty="0">
                <a:solidFill>
                  <a:srgbClr val="FFFFFF"/>
                </a:solidFill>
                <a:latin typeface="Heebo" pitchFamily="34" charset="0"/>
                <a:ea typeface="Heebo" pitchFamily="34" charset="-122"/>
                <a:cs typeface="Heebo" pitchFamily="34" charset="-120"/>
              </a:rPr>
              <a:t>Recovery playbook orientation provided in PRS documentation</a:t>
            </a:r>
            <a:endParaRPr lang="en-US" sz="1550" dirty="0"/>
          </a:p>
        </p:txBody>
      </p:sp>
      <p:sp>
        <p:nvSpPr>
          <p:cNvPr id="9" name="Text 7"/>
          <p:cNvSpPr/>
          <p:nvPr/>
        </p:nvSpPr>
        <p:spPr>
          <a:xfrm>
            <a:off x="7564874" y="2972991"/>
            <a:ext cx="2721054"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Backups &amp; Restore Testing</a:t>
            </a:r>
            <a:endParaRPr lang="en-US" sz="1950" dirty="0"/>
          </a:p>
        </p:txBody>
      </p:sp>
      <p:sp>
        <p:nvSpPr>
          <p:cNvPr id="10" name="Text 8"/>
          <p:cNvSpPr/>
          <p:nvPr/>
        </p:nvSpPr>
        <p:spPr>
          <a:xfrm>
            <a:off x="7564874" y="3481507"/>
            <a:ext cx="6279356" cy="2748558"/>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Encrypted snapshots of persistent volumes with defined retention tiers: hot, weekly, and monthly</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Retention schedules and encryption standards documented in the Datategy PAS</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Restore exercises conducted on a defined cadence with documented outcomes</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Test results available for review in the PAS/PCA family of documents</a:t>
            </a:r>
            <a:endParaRPr lang="en-US" sz="1550" dirty="0"/>
          </a:p>
        </p:txBody>
      </p:sp>
      <p:sp>
        <p:nvSpPr>
          <p:cNvPr id="11" name="Shape 9"/>
          <p:cNvSpPr/>
          <p:nvPr/>
        </p:nvSpPr>
        <p:spPr>
          <a:xfrm>
            <a:off x="793790" y="6522720"/>
            <a:ext cx="13042821" cy="1160740"/>
          </a:xfrm>
          <a:prstGeom prst="roundRect">
            <a:avLst>
              <a:gd name="adj" fmla="val 2565"/>
            </a:avLst>
          </a:prstGeom>
          <a:solidFill>
            <a:srgbClr val="B3C3FF"/>
          </a:solidFill>
          <a:ln/>
        </p:spPr>
      </p:sp>
      <p:pic>
        <p:nvPicPr>
          <p:cNvPr id="12" name="Image 0" descr="preencoded.png">    </p:cNvPr>
          <p:cNvPicPr>
            <a:picLocks noChangeAspect="1"/>
          </p:cNvPicPr>
          <p:nvPr/>
        </p:nvPicPr>
        <p:blipFill>
          <a:blip r:embed="rId1"/>
          <a:stretch>
            <a:fillRect/>
          </a:stretch>
        </p:blipFill>
        <p:spPr>
          <a:xfrm>
            <a:off x="992148" y="6810375"/>
            <a:ext cx="248007" cy="198358"/>
          </a:xfrm>
          <a:prstGeom prst="rect">
            <a:avLst/>
          </a:prstGeom>
        </p:spPr>
      </p:pic>
      <p:sp>
        <p:nvSpPr>
          <p:cNvPr id="13" name="Text 10"/>
          <p:cNvSpPr/>
          <p:nvPr/>
        </p:nvSpPr>
        <p:spPr>
          <a:xfrm>
            <a:off x="1438513" y="6770608"/>
            <a:ext cx="1219973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Production RTO and RPO commitments are tailored per contract. The figures above reflect the reference environment described in the delivery pack.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93790" y="1468517"/>
            <a:ext cx="1163717" cy="388382"/>
          </a:xfrm>
          <a:prstGeom prst="roundRect">
            <a:avLst>
              <a:gd name="adj" fmla="val 6132"/>
            </a:avLst>
          </a:prstGeom>
          <a:noFill/>
          <a:ln w="7620">
            <a:solidFill>
              <a:srgbClr val="2150FE"/>
            </a:solidFill>
            <a:prstDash val="solid"/>
          </a:ln>
        </p:spPr>
      </p:sp>
      <p:sp>
        <p:nvSpPr>
          <p:cNvPr id="3" name="Text 1"/>
          <p:cNvSpPr/>
          <p:nvPr/>
        </p:nvSpPr>
        <p:spPr>
          <a:xfrm>
            <a:off x="920472" y="1535668"/>
            <a:ext cx="910352" cy="254079"/>
          </a:xfrm>
          <a:prstGeom prst="rect">
            <a:avLst/>
          </a:prstGeom>
          <a:noFill/>
          <a:ln/>
        </p:spPr>
        <p:txBody>
          <a:bodyPr wrap="none" lIns="0" tIns="0" rIns="0" bIns="0" rtlCol="0" anchor="t"/>
          <a:lstStyle/>
          <a:p>
            <a:pPr algn="l" indent="0" marL="0">
              <a:lnSpc>
                <a:spcPts val="2000"/>
              </a:lnSpc>
              <a:buNone/>
            </a:pPr>
            <a:r>
              <a:rPr lang="en-US" sz="1250" dirty="0">
                <a:solidFill>
                  <a:srgbClr val="2150FE"/>
                </a:solidFill>
                <a:latin typeface="Heebo" pitchFamily="34" charset="0"/>
                <a:ea typeface="Heebo" pitchFamily="34" charset="-122"/>
                <a:cs typeface="Heebo" pitchFamily="34" charset="-120"/>
              </a:rPr>
              <a:t>EXIT RIGHTS</a:t>
            </a:r>
            <a:endParaRPr lang="en-US" sz="1250" dirty="0"/>
          </a:p>
        </p:txBody>
      </p:sp>
      <p:sp>
        <p:nvSpPr>
          <p:cNvPr id="4" name="Text 2"/>
          <p:cNvSpPr/>
          <p:nvPr/>
        </p:nvSpPr>
        <p:spPr>
          <a:xfrm>
            <a:off x="793790" y="1936194"/>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Reversibility &amp; Exit</a:t>
            </a:r>
            <a:endParaRPr lang="en-US" sz="3900" dirty="0"/>
          </a:p>
        </p:txBody>
      </p:sp>
      <p:sp>
        <p:nvSpPr>
          <p:cNvPr id="5" name="Text 3"/>
          <p:cNvSpPr/>
          <p:nvPr/>
        </p:nvSpPr>
        <p:spPr>
          <a:xfrm>
            <a:off x="793790" y="285392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Data portability and the right to erasure are not afterthoughts — they are built into the contractual and operational design of the service. Your organisation retains full control of its data throughout the contract lifecycle and at termination.</a:t>
            </a:r>
            <a:endParaRPr lang="en-US" sz="1550" dirty="0"/>
          </a:p>
        </p:txBody>
      </p:sp>
      <p:sp>
        <p:nvSpPr>
          <p:cNvPr id="6" name="Shape 4"/>
          <p:cNvSpPr/>
          <p:nvPr/>
        </p:nvSpPr>
        <p:spPr>
          <a:xfrm>
            <a:off x="793790" y="3712250"/>
            <a:ext cx="4215289" cy="3048714"/>
          </a:xfrm>
          <a:prstGeom prst="roundRect">
            <a:avLst>
              <a:gd name="adj" fmla="val 15624"/>
            </a:avLst>
          </a:prstGeom>
          <a:solidFill>
            <a:srgbClr val="F2EEEE"/>
          </a:solidFill>
          <a:ln/>
        </p:spPr>
      </p:sp>
      <p:sp>
        <p:nvSpPr>
          <p:cNvPr id="7" name="Text 5"/>
          <p:cNvSpPr/>
          <p:nvPr/>
        </p:nvSpPr>
        <p:spPr>
          <a:xfrm>
            <a:off x="992148" y="391060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 Data Return</a:t>
            </a:r>
            <a:endParaRPr lang="en-US" sz="1950" dirty="0"/>
          </a:p>
        </p:txBody>
      </p:sp>
      <p:sp>
        <p:nvSpPr>
          <p:cNvPr id="8" name="Text 6"/>
          <p:cNvSpPr/>
          <p:nvPr/>
        </p:nvSpPr>
        <p:spPr>
          <a:xfrm>
            <a:off x="992148" y="4339828"/>
            <a:ext cx="3818573" cy="190523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Data is returned in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open, standard formats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 database dumps, object storage exports, model artefacts, and scripts. Transfer takes place over an agreed secure channel such as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SFTP/FTPS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on a defined timeline agreed at contract stage.</a:t>
            </a:r>
            <a:endParaRPr lang="en-US" sz="1550" dirty="0"/>
          </a:p>
        </p:txBody>
      </p:sp>
      <p:sp>
        <p:nvSpPr>
          <p:cNvPr id="9" name="Shape 7"/>
          <p:cNvSpPr/>
          <p:nvPr/>
        </p:nvSpPr>
        <p:spPr>
          <a:xfrm>
            <a:off x="5207437" y="3712250"/>
            <a:ext cx="4215408" cy="3048714"/>
          </a:xfrm>
          <a:prstGeom prst="roundRect">
            <a:avLst>
              <a:gd name="adj" fmla="val 15624"/>
            </a:avLst>
          </a:prstGeom>
          <a:solidFill>
            <a:srgbClr val="F2EEEE"/>
          </a:solidFill>
          <a:ln/>
        </p:spPr>
      </p:sp>
      <p:sp>
        <p:nvSpPr>
          <p:cNvPr id="10" name="Text 8"/>
          <p:cNvSpPr/>
          <p:nvPr/>
        </p:nvSpPr>
        <p:spPr>
          <a:xfrm>
            <a:off x="5405795" y="391060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 Secure Deletion</a:t>
            </a:r>
            <a:endParaRPr lang="en-US" sz="1950" dirty="0"/>
          </a:p>
        </p:txBody>
      </p:sp>
      <p:sp>
        <p:nvSpPr>
          <p:cNvPr id="11" name="Text 9"/>
          <p:cNvSpPr/>
          <p:nvPr/>
        </p:nvSpPr>
        <p:spPr>
          <a:xfrm>
            <a:off x="5405795" y="4339828"/>
            <a:ext cx="3818692" cy="190523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Following the contractual retention window, Datategy performs 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secure wipe</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of all customer data.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Destruction evidence</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is provided where applicable, supporting your own data lifecycle records and GDPR accountability obligations.</a:t>
            </a:r>
            <a:endParaRPr lang="en-US" sz="1550" dirty="0"/>
          </a:p>
        </p:txBody>
      </p:sp>
      <p:sp>
        <p:nvSpPr>
          <p:cNvPr id="12" name="Shape 10"/>
          <p:cNvSpPr/>
          <p:nvPr/>
        </p:nvSpPr>
        <p:spPr>
          <a:xfrm>
            <a:off x="9621203" y="3712250"/>
            <a:ext cx="4215289" cy="3048714"/>
          </a:xfrm>
          <a:prstGeom prst="roundRect">
            <a:avLst>
              <a:gd name="adj" fmla="val 15624"/>
            </a:avLst>
          </a:prstGeom>
          <a:solidFill>
            <a:srgbClr val="F2EEEE"/>
          </a:solidFill>
          <a:ln/>
        </p:spPr>
      </p:sp>
      <p:sp>
        <p:nvSpPr>
          <p:cNvPr id="13" name="Text 11"/>
          <p:cNvSpPr/>
          <p:nvPr/>
        </p:nvSpPr>
        <p:spPr>
          <a:xfrm>
            <a:off x="9819561" y="3910608"/>
            <a:ext cx="2746296"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Crimson Pro Semi Bold" pitchFamily="34" charset="0"/>
                <a:ea typeface="Crimson Pro Semi Bold" pitchFamily="34" charset="-122"/>
                <a:cs typeface="Crimson Pro Semi Bold" pitchFamily="34" charset="-120"/>
              </a:rPr>
              <a:t>🏗️</a:t>
            </a:r>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 Infrastructure Disposal</a:t>
            </a:r>
            <a:endParaRPr lang="en-US" sz="1950" dirty="0"/>
          </a:p>
        </p:txBody>
      </p:sp>
      <p:sp>
        <p:nvSpPr>
          <p:cNvPr id="14" name="Text 12"/>
          <p:cNvSpPr/>
          <p:nvPr/>
        </p:nvSpPr>
        <p:spPr>
          <a:xfrm>
            <a:off x="9819561" y="4339828"/>
            <a:ext cx="3818573" cy="222277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Cinder persistent volumes follow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OVHcloud's lifecycle and secure disposal practices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which are governed by OVHcloud's ISO 27001–certified media handling procedures. Details are available in OVHcloud's public compliance documentation.</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93790" y="727948"/>
            <a:ext cx="1587818" cy="348377"/>
          </a:xfrm>
          <a:prstGeom prst="roundRect">
            <a:avLst>
              <a:gd name="adj" fmla="val 6495"/>
            </a:avLst>
          </a:prstGeom>
          <a:solidFill>
            <a:srgbClr val="CCD7FF"/>
          </a:solidFill>
          <a:ln/>
        </p:spPr>
      </p:sp>
      <p:sp>
        <p:nvSpPr>
          <p:cNvPr id="3" name="Text 1"/>
          <p:cNvSpPr/>
          <p:nvPr/>
        </p:nvSpPr>
        <p:spPr>
          <a:xfrm>
            <a:off x="906899" y="784503"/>
            <a:ext cx="1361599" cy="235268"/>
          </a:xfrm>
          <a:prstGeom prst="rect">
            <a:avLst/>
          </a:prstGeom>
          <a:noFill/>
          <a:ln/>
        </p:spPr>
        <p:txBody>
          <a:bodyPr wrap="none" lIns="0" tIns="0" rIns="0" bIns="0" rtlCol="0" anchor="t"/>
          <a:lstStyle/>
          <a:p>
            <a:pPr algn="l" indent="0" marL="0">
              <a:lnSpc>
                <a:spcPts val="1850"/>
              </a:lnSpc>
              <a:buNone/>
            </a:pPr>
            <a:r>
              <a:rPr lang="en-US" sz="1150" dirty="0">
                <a:solidFill>
                  <a:srgbClr val="4C4C4D"/>
                </a:solidFill>
                <a:latin typeface="Heebo" pitchFamily="34" charset="0"/>
                <a:ea typeface="Heebo" pitchFamily="34" charset="-122"/>
                <a:cs typeface="Heebo" pitchFamily="34" charset="-120"/>
              </a:rPr>
              <a:t>REVIEW READINESS</a:t>
            </a:r>
            <a:endParaRPr lang="en-US" sz="1150" dirty="0"/>
          </a:p>
        </p:txBody>
      </p:sp>
      <p:sp>
        <p:nvSpPr>
          <p:cNvPr id="4" name="Text 2"/>
          <p:cNvSpPr/>
          <p:nvPr/>
        </p:nvSpPr>
        <p:spPr>
          <a:xfrm>
            <a:off x="793790" y="1147882"/>
            <a:ext cx="8936712" cy="589121"/>
          </a:xfrm>
          <a:prstGeom prst="rect">
            <a:avLst/>
          </a:prstGeom>
          <a:noFill/>
          <a:ln/>
        </p:spPr>
        <p:txBody>
          <a:bodyPr wrap="none" lIns="0" tIns="0" rIns="0" bIns="0" rtlCol="0" anchor="t"/>
          <a:lstStyle/>
          <a:p>
            <a:pPr algn="l" indent="0" marL="0">
              <a:lnSpc>
                <a:spcPts val="4600"/>
              </a:lnSpc>
              <a:buNone/>
            </a:pPr>
            <a:r>
              <a:rPr lang="en-US" sz="3700" dirty="0">
                <a:solidFill>
                  <a:srgbClr val="152D47"/>
                </a:solidFill>
                <a:latin typeface="Crimson Pro Semi Bold" pitchFamily="34" charset="0"/>
                <a:ea typeface="Crimson Pro Semi Bold" pitchFamily="34" charset="-122"/>
                <a:cs typeface="Crimson Pro Semi Bold" pitchFamily="34" charset="-120"/>
              </a:rPr>
              <a:t>Why This Supports Your SaaS Security Review</a:t>
            </a:r>
            <a:endParaRPr lang="en-US" sz="3700" dirty="0"/>
          </a:p>
        </p:txBody>
      </p:sp>
      <p:sp>
        <p:nvSpPr>
          <p:cNvPr id="5" name="Text 3"/>
          <p:cNvSpPr/>
          <p:nvPr/>
        </p:nvSpPr>
        <p:spPr>
          <a:xfrm>
            <a:off x="793790" y="2005608"/>
            <a:ext cx="13042821" cy="588407"/>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The delivery pack and this briefing are structured specifically to accelerate your internal security review — reducing the effort required from your security, compliance, and procurement teams.</a:t>
            </a:r>
            <a:endParaRPr lang="en-US" sz="1450" dirty="0"/>
          </a:p>
        </p:txBody>
      </p:sp>
      <p:sp>
        <p:nvSpPr>
          <p:cNvPr id="6" name="Shape 4"/>
          <p:cNvSpPr/>
          <p:nvPr/>
        </p:nvSpPr>
        <p:spPr>
          <a:xfrm>
            <a:off x="793790" y="2795468"/>
            <a:ext cx="6431875" cy="2263497"/>
          </a:xfrm>
          <a:prstGeom prst="roundRect">
            <a:avLst>
              <a:gd name="adj" fmla="val 1250"/>
            </a:avLst>
          </a:prstGeom>
          <a:solidFill>
            <a:srgbClr val="FFFFFF"/>
          </a:solidFill>
          <a:ln w="22860">
            <a:solidFill>
              <a:srgbClr val="D8D4D4"/>
            </a:solidFill>
            <a:prstDash val="solid"/>
          </a:ln>
        </p:spPr>
      </p:sp>
      <p:sp>
        <p:nvSpPr>
          <p:cNvPr id="7" name="Shape 5"/>
          <p:cNvSpPr/>
          <p:nvPr/>
        </p:nvSpPr>
        <p:spPr>
          <a:xfrm>
            <a:off x="816650" y="2818328"/>
            <a:ext cx="6386155" cy="565547"/>
          </a:xfrm>
          <a:prstGeom prst="roundRect">
            <a:avLst>
              <a:gd name="adj" fmla="val 150"/>
            </a:avLst>
          </a:prstGeom>
          <a:solidFill>
            <a:srgbClr val="F2EEEE"/>
          </a:solidFill>
          <a:ln/>
        </p:spPr>
      </p:sp>
      <p:sp>
        <p:nvSpPr>
          <p:cNvPr id="8" name="Text 6"/>
          <p:cNvSpPr/>
          <p:nvPr/>
        </p:nvSpPr>
        <p:spPr>
          <a:xfrm>
            <a:off x="1005126" y="3562945"/>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4C4C4D"/>
                </a:solidFill>
                <a:latin typeface="Crimson Pro Semi Bold" pitchFamily="34" charset="0"/>
                <a:ea typeface="Crimson Pro Semi Bold" pitchFamily="34" charset="-122"/>
                <a:cs typeface="Crimson Pro Semi Bold" pitchFamily="34" charset="-120"/>
              </a:rPr>
              <a:t>Single Narrative</a:t>
            </a:r>
            <a:endParaRPr lang="en-US" sz="1850" dirty="0"/>
          </a:p>
        </p:txBody>
      </p:sp>
      <p:sp>
        <p:nvSpPr>
          <p:cNvPr id="9" name="Text 7"/>
          <p:cNvSpPr/>
          <p:nvPr/>
        </p:nvSpPr>
        <p:spPr>
          <a:xfrm>
            <a:off x="1005126" y="3965019"/>
            <a:ext cx="6009203" cy="882610"/>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One Word note ties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architecture</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shared responsibility</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OVHcloud public assurance</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and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Datategy policies</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directly to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ISO 27001:2022 Annex A</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 no separate mapping exercise required from your team.</a:t>
            </a:r>
            <a:endParaRPr lang="en-US" sz="1450" dirty="0"/>
          </a:p>
        </p:txBody>
      </p:sp>
      <p:sp>
        <p:nvSpPr>
          <p:cNvPr id="10" name="Shape 8"/>
          <p:cNvSpPr/>
          <p:nvPr/>
        </p:nvSpPr>
        <p:spPr>
          <a:xfrm>
            <a:off x="7404735" y="2795468"/>
            <a:ext cx="6431875" cy="2263497"/>
          </a:xfrm>
          <a:prstGeom prst="roundRect">
            <a:avLst>
              <a:gd name="adj" fmla="val 1250"/>
            </a:avLst>
          </a:prstGeom>
          <a:solidFill>
            <a:srgbClr val="FFFFFF"/>
          </a:solidFill>
          <a:ln w="22860">
            <a:solidFill>
              <a:srgbClr val="D8D4D4"/>
            </a:solidFill>
            <a:prstDash val="solid"/>
          </a:ln>
        </p:spPr>
      </p:sp>
      <p:sp>
        <p:nvSpPr>
          <p:cNvPr id="11" name="Shape 9"/>
          <p:cNvSpPr/>
          <p:nvPr/>
        </p:nvSpPr>
        <p:spPr>
          <a:xfrm>
            <a:off x="7427595" y="2818328"/>
            <a:ext cx="6386155" cy="565547"/>
          </a:xfrm>
          <a:prstGeom prst="roundRect">
            <a:avLst>
              <a:gd name="adj" fmla="val 150"/>
            </a:avLst>
          </a:prstGeom>
          <a:solidFill>
            <a:srgbClr val="F2EEEE"/>
          </a:solidFill>
          <a:ln/>
        </p:spPr>
      </p:sp>
      <p:sp>
        <p:nvSpPr>
          <p:cNvPr id="12" name="Text 10"/>
          <p:cNvSpPr/>
          <p:nvPr/>
        </p:nvSpPr>
        <p:spPr>
          <a:xfrm>
            <a:off x="7616071" y="3562945"/>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4C4C4D"/>
                </a:solidFill>
                <a:latin typeface="Crimson Pro Semi Bold" pitchFamily="34" charset="0"/>
                <a:ea typeface="Crimson Pro Semi Bold" pitchFamily="34" charset="-122"/>
                <a:cs typeface="Crimson Pro Semi Bold" pitchFamily="34" charset="-120"/>
              </a:rPr>
              <a:t>Evidence-First</a:t>
            </a:r>
            <a:endParaRPr lang="en-US" sz="1850" dirty="0"/>
          </a:p>
        </p:txBody>
      </p:sp>
      <p:sp>
        <p:nvSpPr>
          <p:cNvPr id="13" name="Text 11"/>
          <p:cNvSpPr/>
          <p:nvPr/>
        </p:nvSpPr>
        <p:spPr>
          <a:xfrm>
            <a:off x="7616071" y="3965019"/>
            <a:ext cx="6009203" cy="882610"/>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The pack is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self-contained</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for a first-pass review. All referenced documents and archived compliance pages are included — your reviewers do not need to chase URLs or wait for follow-up materials.</a:t>
            </a:r>
            <a:endParaRPr lang="en-US" sz="1450" dirty="0"/>
          </a:p>
        </p:txBody>
      </p:sp>
      <p:sp>
        <p:nvSpPr>
          <p:cNvPr id="14" name="Shape 12"/>
          <p:cNvSpPr/>
          <p:nvPr/>
        </p:nvSpPr>
        <p:spPr>
          <a:xfrm>
            <a:off x="793790" y="5238036"/>
            <a:ext cx="6431875" cy="2263497"/>
          </a:xfrm>
          <a:prstGeom prst="roundRect">
            <a:avLst>
              <a:gd name="adj" fmla="val 1250"/>
            </a:avLst>
          </a:prstGeom>
          <a:solidFill>
            <a:srgbClr val="FFFFFF"/>
          </a:solidFill>
          <a:ln w="22860">
            <a:solidFill>
              <a:srgbClr val="D8D4D4"/>
            </a:solidFill>
            <a:prstDash val="solid"/>
          </a:ln>
        </p:spPr>
      </p:sp>
      <p:sp>
        <p:nvSpPr>
          <p:cNvPr id="15" name="Shape 13"/>
          <p:cNvSpPr/>
          <p:nvPr/>
        </p:nvSpPr>
        <p:spPr>
          <a:xfrm>
            <a:off x="816650" y="5260896"/>
            <a:ext cx="6386155" cy="565547"/>
          </a:xfrm>
          <a:prstGeom prst="roundRect">
            <a:avLst>
              <a:gd name="adj" fmla="val 150"/>
            </a:avLst>
          </a:prstGeom>
          <a:solidFill>
            <a:srgbClr val="F2EEEE"/>
          </a:solidFill>
          <a:ln/>
        </p:spPr>
      </p:sp>
      <p:sp>
        <p:nvSpPr>
          <p:cNvPr id="16" name="Text 14"/>
          <p:cNvSpPr/>
          <p:nvPr/>
        </p:nvSpPr>
        <p:spPr>
          <a:xfrm>
            <a:off x="1005126" y="6005513"/>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4C4C4D"/>
                </a:solidFill>
                <a:latin typeface="Crimson Pro Semi Bold" pitchFamily="34" charset="0"/>
                <a:ea typeface="Crimson Pro Semi Bold" pitchFamily="34" charset="-122"/>
                <a:cs typeface="Crimson Pro Semi Bold" pitchFamily="34" charset="-120"/>
              </a:rPr>
              <a:t>AI Clarity</a:t>
            </a:r>
            <a:endParaRPr lang="en-US" sz="1850" dirty="0"/>
          </a:p>
        </p:txBody>
      </p:sp>
      <p:sp>
        <p:nvSpPr>
          <p:cNvPr id="17" name="Text 15"/>
          <p:cNvSpPr/>
          <p:nvPr/>
        </p:nvSpPr>
        <p:spPr>
          <a:xfrm>
            <a:off x="1005126" y="6407587"/>
            <a:ext cx="6009203" cy="882610"/>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The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on-cluster LLM and embedding design</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is explicitly documented and addresses the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primary enterprise question on generative AI</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today: does my data leave my environment? The answer here is no, by default.</a:t>
            </a:r>
            <a:endParaRPr lang="en-US" sz="1450" dirty="0"/>
          </a:p>
        </p:txBody>
      </p:sp>
      <p:sp>
        <p:nvSpPr>
          <p:cNvPr id="18" name="Shape 16"/>
          <p:cNvSpPr/>
          <p:nvPr/>
        </p:nvSpPr>
        <p:spPr>
          <a:xfrm>
            <a:off x="7404735" y="5238036"/>
            <a:ext cx="6431875" cy="2263497"/>
          </a:xfrm>
          <a:prstGeom prst="roundRect">
            <a:avLst>
              <a:gd name="adj" fmla="val 1250"/>
            </a:avLst>
          </a:prstGeom>
          <a:solidFill>
            <a:srgbClr val="FFFFFF"/>
          </a:solidFill>
          <a:ln w="22860">
            <a:solidFill>
              <a:srgbClr val="D8D4D4"/>
            </a:solidFill>
            <a:prstDash val="solid"/>
          </a:ln>
        </p:spPr>
      </p:sp>
      <p:sp>
        <p:nvSpPr>
          <p:cNvPr id="19" name="Shape 17"/>
          <p:cNvSpPr/>
          <p:nvPr/>
        </p:nvSpPr>
        <p:spPr>
          <a:xfrm>
            <a:off x="7427595" y="5260896"/>
            <a:ext cx="6386155" cy="565547"/>
          </a:xfrm>
          <a:prstGeom prst="roundRect">
            <a:avLst>
              <a:gd name="adj" fmla="val 150"/>
            </a:avLst>
          </a:prstGeom>
          <a:solidFill>
            <a:srgbClr val="F2EEEE"/>
          </a:solidFill>
          <a:ln/>
        </p:spPr>
      </p:sp>
      <p:sp>
        <p:nvSpPr>
          <p:cNvPr id="20" name="Text 18"/>
          <p:cNvSpPr/>
          <p:nvPr/>
        </p:nvSpPr>
        <p:spPr>
          <a:xfrm>
            <a:off x="7616071" y="6005513"/>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4C4C4D"/>
                </a:solidFill>
                <a:latin typeface="Crimson Pro Semi Bold" pitchFamily="34" charset="0"/>
                <a:ea typeface="Crimson Pro Semi Bold" pitchFamily="34" charset="-122"/>
                <a:cs typeface="Crimson Pro Semi Bold" pitchFamily="34" charset="-120"/>
              </a:rPr>
              <a:t>Procurement-Friendly</a:t>
            </a:r>
            <a:endParaRPr lang="en-US" sz="1850" dirty="0"/>
          </a:p>
        </p:txBody>
      </p:sp>
      <p:sp>
        <p:nvSpPr>
          <p:cNvPr id="21" name="Text 19"/>
          <p:cNvSpPr/>
          <p:nvPr/>
        </p:nvSpPr>
        <p:spPr>
          <a:xfrm>
            <a:off x="7616071" y="6407587"/>
            <a:ext cx="6009203" cy="882610"/>
          </a:xfrm>
          <a:prstGeom prst="rect">
            <a:avLst/>
          </a:prstGeom>
          <a:noFill/>
          <a:ln/>
        </p:spPr>
        <p:txBody>
          <a:bodyPr wrap="square" lIns="0" tIns="0" rIns="0" bIns="0" rtlCol="0" anchor="t"/>
          <a:lstStyle/>
          <a:p>
            <a:pPr algn="l" indent="0" marL="0">
              <a:lnSpc>
                <a:spcPts val="2300"/>
              </a:lnSpc>
              <a:buNone/>
            </a:pPr>
            <a:r>
              <a:rPr lang="en-US" sz="1450" dirty="0">
                <a:solidFill>
                  <a:srgbClr val="4C4C4D"/>
                </a:solidFill>
                <a:latin typeface="Heebo" pitchFamily="34" charset="0"/>
                <a:ea typeface="Heebo" pitchFamily="34" charset="-122"/>
                <a:cs typeface="Heebo" pitchFamily="34" charset="-120"/>
              </a:rPr>
              <a:t>Content maps cleanly to standard </a:t>
            </a:r>
            <a:pPr algn="l" indent="0" marL="0">
              <a:lnSpc>
                <a:spcPts val="2300"/>
              </a:lnSpc>
              <a:buNone/>
            </a:pPr>
            <a:r>
              <a:rPr lang="en-US" sz="1450" b="1" dirty="0">
                <a:solidFill>
                  <a:srgbClr val="4C4C4D"/>
                </a:solidFill>
                <a:latin typeface="Heebo" pitchFamily="34" charset="0"/>
                <a:ea typeface="Heebo" pitchFamily="34" charset="-122"/>
                <a:cs typeface="Heebo" pitchFamily="34" charset="-120"/>
              </a:rPr>
              <a:t>security questionnaire sections</a:t>
            </a:r>
            <a:pPr algn="l" indent="0" marL="0">
              <a:lnSpc>
                <a:spcPts val="2300"/>
              </a:lnSpc>
              <a:buNone/>
            </a:pPr>
            <a:r>
              <a:rPr lang="en-US" sz="1450" dirty="0">
                <a:solidFill>
                  <a:srgbClr val="4C4C4D"/>
                </a:solidFill>
                <a:latin typeface="Heebo" pitchFamily="34" charset="0"/>
                <a:ea typeface="Heebo" pitchFamily="34" charset="-122"/>
                <a:cs typeface="Heebo" pitchFamily="34" charset="-120"/>
              </a:rPr>
              <a:t> — hosting, sub-processors, cryptography, logging, DR, and DPAs — reducing the time from review to approval.</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93790" y="1019294"/>
            <a:ext cx="1144310" cy="373142"/>
          </a:xfrm>
          <a:prstGeom prst="roundRect">
            <a:avLst>
              <a:gd name="adj" fmla="val 6383"/>
            </a:avLst>
          </a:prstGeom>
          <a:solidFill>
            <a:srgbClr val="CCD7FF"/>
          </a:solidFill>
          <a:ln/>
        </p:spPr>
      </p:sp>
      <p:sp>
        <p:nvSpPr>
          <p:cNvPr id="3" name="Text 1"/>
          <p:cNvSpPr/>
          <p:nvPr/>
        </p:nvSpPr>
        <p:spPr>
          <a:xfrm>
            <a:off x="912852" y="1078825"/>
            <a:ext cx="906185"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NEXT STEPS</a:t>
            </a:r>
            <a:endParaRPr lang="en-US" sz="1250" dirty="0"/>
          </a:p>
        </p:txBody>
      </p:sp>
      <p:sp>
        <p:nvSpPr>
          <p:cNvPr id="4" name="Text 2"/>
          <p:cNvSpPr/>
          <p:nvPr/>
        </p:nvSpPr>
        <p:spPr>
          <a:xfrm>
            <a:off x="793790" y="1471732"/>
            <a:ext cx="7400449"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Thank You — Contacts &amp; Next Steps</a:t>
            </a:r>
            <a:endParaRPr lang="en-US" sz="3900" dirty="0"/>
          </a:p>
        </p:txBody>
      </p:sp>
      <p:sp>
        <p:nvSpPr>
          <p:cNvPr id="5" name="Text 3"/>
          <p:cNvSpPr/>
          <p:nvPr/>
        </p:nvSpPr>
        <p:spPr>
          <a:xfrm>
            <a:off x="793790" y="238946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The delivery pack referenced throughout this briefing is available upon request or has been shared ahead of this call. We welcome questions from your security, compliance, and data protection teams and are available to support your internal review process.</a:t>
            </a:r>
            <a:endParaRPr lang="en-US" sz="1550" dirty="0"/>
          </a:p>
        </p:txBody>
      </p:sp>
      <p:sp>
        <p:nvSpPr>
          <p:cNvPr id="6" name="Text 4"/>
          <p:cNvSpPr/>
          <p:nvPr/>
        </p:nvSpPr>
        <p:spPr>
          <a:xfrm>
            <a:off x="793790" y="34461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Delivery Pack Contents</a:t>
            </a:r>
            <a:endParaRPr lang="en-US" sz="1950" dirty="0"/>
          </a:p>
        </p:txBody>
      </p:sp>
      <p:sp>
        <p:nvSpPr>
          <p:cNvPr id="7" name="Text 5"/>
          <p:cNvSpPr/>
          <p:nvPr/>
        </p:nvSpPr>
        <p:spPr>
          <a:xfrm>
            <a:off x="793790" y="3954661"/>
            <a:ext cx="6955631" cy="3026212"/>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Security Assurance Plan (PAS)</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Business Continuity Plan (PCA) and Disaster Recovery Plan (PRS)</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Article 28 Data Processing Agreement (DPA)</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Privacy and GDPR documentation</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SLA terms and incident response procedures</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Security training programme overview</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Archived OVHcloud public compliance pages</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Full architecture note (ISO 27001:2022–aligned Word document)</a:t>
            </a:r>
            <a:endParaRPr lang="en-US" sz="1550" dirty="0"/>
          </a:p>
        </p:txBody>
      </p:sp>
      <p:sp>
        <p:nvSpPr>
          <p:cNvPr id="8" name="Shape 6"/>
          <p:cNvSpPr/>
          <p:nvPr/>
        </p:nvSpPr>
        <p:spPr>
          <a:xfrm>
            <a:off x="8098274" y="3247787"/>
            <a:ext cx="5888712" cy="3962400"/>
          </a:xfrm>
          <a:prstGeom prst="roundRect">
            <a:avLst>
              <a:gd name="adj" fmla="val 751"/>
            </a:avLst>
          </a:prstGeom>
          <a:solidFill>
            <a:srgbClr val="2150FE"/>
          </a:solidFill>
          <a:ln/>
        </p:spPr>
      </p:sp>
      <p:sp>
        <p:nvSpPr>
          <p:cNvPr id="9" name="Text 7"/>
          <p:cNvSpPr/>
          <p:nvPr/>
        </p:nvSpPr>
        <p:spPr>
          <a:xfrm>
            <a:off x="8296632" y="34461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Contact Points</a:t>
            </a:r>
            <a:endParaRPr lang="en-US" sz="1950" dirty="0"/>
          </a:p>
        </p:txBody>
      </p:sp>
      <p:sp>
        <p:nvSpPr>
          <p:cNvPr id="10" name="Text 8"/>
          <p:cNvSpPr/>
          <p:nvPr/>
        </p:nvSpPr>
        <p:spPr>
          <a:xfrm>
            <a:off x="8296632" y="3954661"/>
            <a:ext cx="5491996" cy="635079"/>
          </a:xfrm>
          <a:prstGeom prst="rect">
            <a:avLst/>
          </a:prstGeom>
          <a:noFill/>
          <a:ln/>
        </p:spPr>
        <p:txBody>
          <a:bodyPr wrap="square" lIns="0" tIns="0" rIns="0" bIns="0" rtlCol="0" anchor="t"/>
          <a:lstStyle/>
          <a:p>
            <a:pPr algn="l" indent="0" marL="0">
              <a:lnSpc>
                <a:spcPts val="2500"/>
              </a:lnSpc>
              <a:buNone/>
            </a:pPr>
            <a:r>
              <a:rPr lang="en-US" sz="1550" b="1" dirty="0">
                <a:solidFill>
                  <a:srgbClr val="FFFFFF"/>
                </a:solidFill>
                <a:latin typeface="Heebo" pitchFamily="34" charset="0"/>
                <a:ea typeface="Heebo" pitchFamily="34" charset="-122"/>
                <a:cs typeface="Heebo" pitchFamily="34" charset="-120"/>
              </a:rPr>
              <a:t>Security Enquiries</a:t>
            </a:r>
            <a:pPr algn="l" indent="0" marL="0">
              <a:lnSpc>
                <a:spcPts val="2500"/>
              </a:lnSpc>
              <a:buNone/>
            </a:pPr>
            <a:r>
              <a:rPr lang="en-US" sz="1550" u="sng" dirty="0">
                <a:solidFill>
                  <a:srgbClr val="FFFFFF"/>
                </a:solidFill>
                <a:latin typeface="Heebo" pitchFamily="34" charset="0"/>
                <a:ea typeface="Heebo" pitchFamily="34" charset="-122"/>
                <a:cs typeface="Heebo"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thibaud.ishacian@datategy.net</a:t>
            </a:r>
            <a:endParaRPr lang="en-US" sz="1550" dirty="0"/>
          </a:p>
        </p:txBody>
      </p:sp>
      <p:sp>
        <p:nvSpPr>
          <p:cNvPr id="11" name="Text 9"/>
          <p:cNvSpPr/>
          <p:nvPr/>
        </p:nvSpPr>
        <p:spPr>
          <a:xfrm>
            <a:off x="8296632" y="4768334"/>
            <a:ext cx="5491996" cy="635079"/>
          </a:xfrm>
          <a:prstGeom prst="rect">
            <a:avLst/>
          </a:prstGeom>
          <a:noFill/>
          <a:ln/>
        </p:spPr>
        <p:txBody>
          <a:bodyPr wrap="square" lIns="0" tIns="0" rIns="0" bIns="0" rtlCol="0" anchor="t"/>
          <a:lstStyle/>
          <a:p>
            <a:pPr algn="l" indent="0" marL="0">
              <a:lnSpc>
                <a:spcPts val="2500"/>
              </a:lnSpc>
              <a:buNone/>
            </a:pPr>
            <a:r>
              <a:rPr lang="en-US" sz="1550" b="1" dirty="0">
                <a:solidFill>
                  <a:srgbClr val="FFFFFF"/>
                </a:solidFill>
                <a:latin typeface="Heebo" pitchFamily="34" charset="0"/>
                <a:ea typeface="Heebo" pitchFamily="34" charset="-122"/>
                <a:cs typeface="Heebo" pitchFamily="34" charset="-120"/>
              </a:rPr>
              <a:t>Data Protection Officer</a:t>
            </a:r>
            <a:pPr algn="l" indent="0" marL="0">
              <a:lnSpc>
                <a:spcPts val="2500"/>
              </a:lnSpc>
              <a:buNone/>
            </a:pPr>
            <a:r>
              <a:rPr lang="en-US" sz="1550" u="sng" dirty="0">
                <a:solidFill>
                  <a:srgbClr val="FFFFFF"/>
                </a:solidFill>
                <a:latin typeface="Heebo" pitchFamily="34" charset="0"/>
                <a:ea typeface="Heebo" pitchFamily="34" charset="-122"/>
                <a:cs typeface="Heebo" pitchFamily="34" charset="-120"/>
                <a:hlinkClick r:id="rId2" invalidUrl="" action="" tgtFrame="" tooltip="" history="1" highlightClick="0" endSnd="0">
                  <a:extLst>
                    <a:ext uri="{A12FA001-AC4F-418D-AE19-62706E023703}">
                      <ahyp:hlinkClr xmlns:ahyp="http://schemas.microsoft.com/office/drawing/2018/hyperlinkcolor" val="tx"/>
                    </a:ext>
                  </a:extLst>
                </a:hlinkClick>
              </a:rPr>
              <a:t>eric.chau@datategy.net</a:t>
            </a:r>
            <a:endParaRPr lang="en-US" sz="1550" dirty="0"/>
          </a:p>
        </p:txBody>
      </p:sp>
      <p:sp>
        <p:nvSpPr>
          <p:cNvPr id="12" name="Text 10"/>
          <p:cNvSpPr/>
          <p:nvPr/>
        </p:nvSpPr>
        <p:spPr>
          <a:xfrm>
            <a:off x="8296632" y="5582007"/>
            <a:ext cx="5491996" cy="635079"/>
          </a:xfrm>
          <a:prstGeom prst="rect">
            <a:avLst/>
          </a:prstGeom>
          <a:noFill/>
          <a:ln/>
        </p:spPr>
        <p:txBody>
          <a:bodyPr wrap="square" lIns="0" tIns="0" rIns="0" bIns="0" rtlCol="0" anchor="t"/>
          <a:lstStyle/>
          <a:p>
            <a:pPr algn="l" indent="0" marL="0">
              <a:lnSpc>
                <a:spcPts val="2500"/>
              </a:lnSpc>
              <a:buNone/>
            </a:pPr>
            <a:r>
              <a:rPr lang="en-US" sz="1550" b="1" dirty="0">
                <a:solidFill>
                  <a:srgbClr val="FFFFFF"/>
                </a:solidFill>
                <a:latin typeface="Heebo" pitchFamily="34" charset="0"/>
                <a:ea typeface="Heebo" pitchFamily="34" charset="-122"/>
                <a:cs typeface="Heebo" pitchFamily="34" charset="-120"/>
              </a:rPr>
              <a:t>Operational Support</a:t>
            </a:r>
            <a:pPr algn="l" indent="0" marL="0">
              <a:lnSpc>
                <a:spcPts val="2500"/>
              </a:lnSpc>
              <a:buNone/>
            </a:pPr>
            <a:r>
              <a:rPr lang="en-US" sz="1550" u="sng" dirty="0">
                <a:solidFill>
                  <a:srgbClr val="FFFFFF"/>
                </a:solidFill>
                <a:latin typeface="Heebo" pitchFamily="34" charset="0"/>
                <a:ea typeface="Heebo" pitchFamily="34" charset="-122"/>
                <a:cs typeface="Heebo" pitchFamily="34" charset="-120"/>
                <a:hlinkClick r:id="rId3" invalidUrl="" action="" tgtFrame="" tooltip="" history="1" highlightClick="0" endSnd="0">
                  <a:extLst>
                    <a:ext uri="{A12FA001-AC4F-418D-AE19-62706E023703}">
                      <ahyp:hlinkClr xmlns:ahyp="http://schemas.microsoft.com/office/drawing/2018/hyperlinkcolor" val="tx"/>
                    </a:ext>
                  </a:extLst>
                </a:hlinkClick>
              </a:rPr>
              <a:t>support@papai.ai</a:t>
            </a:r>
            <a:endParaRPr lang="en-US" sz="1550" dirty="0"/>
          </a:p>
        </p:txBody>
      </p:sp>
      <p:sp>
        <p:nvSpPr>
          <p:cNvPr id="13" name="Shape 11"/>
          <p:cNvSpPr/>
          <p:nvPr/>
        </p:nvSpPr>
        <p:spPr>
          <a:xfrm>
            <a:off x="8296632" y="6489859"/>
            <a:ext cx="5491996" cy="14883"/>
          </a:xfrm>
          <a:prstGeom prst="rect">
            <a:avLst/>
          </a:prstGeom>
          <a:solidFill>
            <a:srgbClr val="FFFFFF">
              <a:alpha val="50000"/>
            </a:srgbClr>
          </a:solidFill>
          <a:ln/>
        </p:spPr>
      </p:sp>
      <p:sp>
        <p:nvSpPr>
          <p:cNvPr id="14" name="Text 12"/>
          <p:cNvSpPr/>
          <p:nvPr/>
        </p:nvSpPr>
        <p:spPr>
          <a:xfrm>
            <a:off x="8296632" y="6777514"/>
            <a:ext cx="5491996" cy="254079"/>
          </a:xfrm>
          <a:prstGeom prst="rect">
            <a:avLst/>
          </a:prstGeom>
          <a:noFill/>
          <a:ln/>
        </p:spPr>
        <p:txBody>
          <a:bodyPr wrap="none" lIns="0" tIns="0" rIns="0" bIns="0" rtlCol="0" anchor="t"/>
          <a:lstStyle/>
          <a:p>
            <a:pPr algn="l" indent="0" marL="0">
              <a:lnSpc>
                <a:spcPts val="2000"/>
              </a:lnSpc>
              <a:buNone/>
            </a:pPr>
            <a:r>
              <a:rPr lang="en-US" sz="1250" dirty="0">
                <a:solidFill>
                  <a:srgbClr val="FFFFFF"/>
                </a:solidFill>
                <a:latin typeface="Heebo" pitchFamily="34" charset="0"/>
                <a:ea typeface="Heebo" pitchFamily="34" charset="-122"/>
                <a:cs typeface="Heebo" pitchFamily="34" charset="-120"/>
              </a:rPr>
              <a:t>Datategy SAS · papAI / Agentium · April 2026</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2026-05-04T10:04:40Z</dcterms:created>
  <dcterms:modified xsi:type="dcterms:W3CDTF">2026-05-04T10:04:40Z</dcterms:modified>
</cp:coreProperties>
</file>