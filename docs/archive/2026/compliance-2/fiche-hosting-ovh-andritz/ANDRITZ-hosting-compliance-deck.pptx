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9" Type="http://schemas.openxmlformats.org/officeDocument/2006/relationships/viewProps" Target="viewProps.xml" /><Relationship Id="rId2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1" Type="http://schemas.openxmlformats.org/officeDocument/2006/relationships/tableStyles" Target="tableStyles.xml" /><Relationship Id="rId3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papAI / Agentium — Hosting &amp; Compliance (OVHcloud)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Datategy SAS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April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Enterprise SaaS on EU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Audience:</a:t>
            </a:r>
            <a:r>
              <a:rPr/>
              <a:t> Security, Compliance, DPO (video call)</a:t>
            </a:r>
          </a:p>
          <a:p>
            <a:pPr lvl="0" indent="0" marL="0">
              <a:buNone/>
            </a:pPr>
            <a:r>
              <a:rPr b="1"/>
              <a:t>Reference:</a:t>
            </a:r>
            <a:r>
              <a:rPr/>
              <a:t> </a:t>
            </a:r>
            <a:r>
              <a:rPr>
                <a:latin typeface="Courier"/>
              </a:rPr>
              <a:t>ANDRITZ-pack/00_synthese/fiche-hosting-ovh-andritz.docx</a:t>
            </a:r>
            <a:r>
              <a:rPr/>
              <a:t> (ISO/IEC 27001:2022–aligned full note)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Executive: what we propose and why it matters</a:t>
            </a:r>
          </a:p>
          <a:p>
            <a:pPr lvl="0"/>
            <a:r>
              <a:rPr/>
              <a:t>Architecture &amp; operations (OVHcloud MKS + Datategy platform)</a:t>
            </a:r>
          </a:p>
          <a:p>
            <a:pPr lvl="0"/>
            <a:r>
              <a:rPr/>
              <a:t>AI security (local inference on the same cluster)</a:t>
            </a:r>
          </a:p>
          <a:p>
            <a:pPr lvl="0"/>
            <a:r>
              <a:rPr/>
              <a:t>Assurance stack (OVHcloud + Datategy)</a:t>
            </a:r>
          </a:p>
          <a:p>
            <a:pPr lvl="0"/>
            <a:r>
              <a:rPr/>
              <a:t>GDPR &amp; ISO 27001:2022 mapping (high level)</a:t>
            </a:r>
          </a:p>
          <a:p>
            <a:pPr lvl="0"/>
            <a:r>
              <a:rPr/>
              <a:t>Deliverable pack &amp; next steps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SaaS offer:</a:t>
            </a:r>
            <a:r>
              <a:rPr/>
              <a:t> papAI / Agentium runs as a </a:t>
            </a:r>
            <a:r>
              <a:rPr b="1"/>
              <a:t>containerised platform</a:t>
            </a:r>
            <a:r>
              <a:rPr/>
              <a:t> on </a:t>
            </a:r>
            <a:r>
              <a:rPr b="1"/>
              <a:t>OVHcloud Managed Kubernetes (MKS)</a:t>
            </a:r>
            <a:r>
              <a:rPr/>
              <a:t> in </a:t>
            </a:r>
            <a:r>
              <a:rPr b="1"/>
              <a:t>EU data centres (France)</a:t>
            </a:r>
            <a:r>
              <a:rPr/>
              <a:t> — suitable for enterprise procurement and internal assurance.</a:t>
            </a:r>
          </a:p>
          <a:p>
            <a:pPr lvl="0"/>
            <a:r>
              <a:rPr b="1"/>
              <a:t>Compliance narrative:</a:t>
            </a:r>
            <a:r>
              <a:rPr/>
              <a:t> structured against </a:t>
            </a:r>
            <a:r>
              <a:rPr b="1"/>
              <a:t>ISO/IEC 27001:2022</a:t>
            </a:r>
            <a:r>
              <a:rPr/>
              <a:t> (Annex A) with a </a:t>
            </a:r>
            <a:r>
              <a:rPr b="1"/>
              <a:t>clear shared-responsibility model</a:t>
            </a:r>
            <a:r>
              <a:rPr/>
              <a:t> between </a:t>
            </a:r>
            <a:r>
              <a:rPr b="1"/>
              <a:t>OVHcloud</a:t>
            </a:r>
            <a:r>
              <a:rPr/>
              <a:t> (infrastructure), </a:t>
            </a:r>
            <a:r>
              <a:rPr b="1"/>
              <a:t>Datategy</a:t>
            </a:r>
            <a:r>
              <a:rPr/>
              <a:t> (platform &amp; security operations), and </a:t>
            </a:r>
            <a:r>
              <a:rPr b="1"/>
              <a:t>you</a:t>
            </a:r>
            <a:r>
              <a:rPr/>
              <a:t> (business data, accounts, policies).</a:t>
            </a:r>
          </a:p>
          <a:p>
            <a:pPr lvl="0"/>
            <a:r>
              <a:rPr b="1"/>
              <a:t>Trust basis:</a:t>
            </a:r>
            <a:r>
              <a:rPr/>
              <a:t> </a:t>
            </a:r>
            <a:r>
              <a:rPr b="1"/>
              <a:t>OVHcloud</a:t>
            </a:r>
            <a:r>
              <a:rPr/>
              <a:t> publishes a broad </a:t>
            </a:r>
            <a:r>
              <a:rPr b="1"/>
              <a:t>public compliance catalogue</a:t>
            </a:r>
            <a:r>
              <a:rPr/>
              <a:t> (ISO 27001 / 27017 / 27018 / 27701, HDS, SecNumCloud, SOC, PCI-DSS, etc.); </a:t>
            </a:r>
            <a:r>
              <a:rPr b="1"/>
              <a:t>Datategy</a:t>
            </a:r>
            <a:r>
              <a:rPr/>
              <a:t> provides </a:t>
            </a:r>
            <a:r>
              <a:rPr b="1"/>
              <a:t>PAS, BCP, DR, privacy, DPA, SLA, training</a:t>
            </a:r>
            <a:r>
              <a:rPr/>
              <a:t> in the delivery pack.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this deck is (and is not)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Is:</a:t>
            </a:r>
            <a:r>
              <a:rPr/>
              <a:t> A </a:t>
            </a:r>
            <a:r>
              <a:rPr b="1"/>
              <a:t>30–45 minute</a:t>
            </a:r>
            <a:r>
              <a:rPr/>
              <a:t> Visio-friendly </a:t>
            </a:r>
            <a:r>
              <a:rPr b="1"/>
              <a:t>executive + operational</a:t>
            </a:r>
            <a:r>
              <a:rPr/>
              <a:t> walkthrough of the hosting note — enough for a first gate with security / legal.</a:t>
            </a:r>
          </a:p>
          <a:p>
            <a:pPr lvl="0"/>
            <a:r>
              <a:rPr b="1"/>
              <a:t>Is not:</a:t>
            </a:r>
            <a:r>
              <a:rPr/>
              <a:t> A substitute for reading the </a:t>
            </a:r>
            <a:r>
              <a:rPr b="1"/>
              <a:t>Word note</a:t>
            </a:r>
            <a:r>
              <a:rPr/>
              <a:t> during due diligence; the note contains the </a:t>
            </a:r>
            <a:r>
              <a:rPr b="1"/>
              <a:t>detailed control mapping</a:t>
            </a:r>
            <a:r>
              <a:rPr/>
              <a:t> and evidence pointers.</a:t>
            </a:r>
          </a:p>
          <a:p>
            <a:pPr lvl="0"/>
            <a:r>
              <a:rPr b="1"/>
              <a:t>Deliverable:</a:t>
            </a:r>
            <a:r>
              <a:rPr/>
              <a:t> The same content is bundled in </a:t>
            </a:r>
            <a:r>
              <a:rPr b="1">
                <a:latin typeface="Courier"/>
              </a:rPr>
              <a:t>ANDRITZ-pack/</a:t>
            </a:r>
            <a:r>
              <a:rPr/>
              <a:t> (synthesis </a:t>
            </a:r>
            <a:r>
              <a:rPr>
                <a:latin typeface="Courier"/>
              </a:rPr>
              <a:t>.docx</a:t>
            </a:r>
            <a:r>
              <a:rPr/>
              <a:t>, Datategy PDFs, archived OVHcloud public pages as PDFs).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SaaS value for your organisation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you get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Sovereignty &amp; residency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Workloads and data in </a:t>
                      </a:r>
                      <a:r>
                        <a:rPr b="1"/>
                        <a:t>EU (FR)</a:t>
                      </a:r>
                      <a:r>
                        <a:rPr/>
                        <a:t> by default; EU legal framework for the hosting chain.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Operational burden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Managed Kubernetes control plane</a:t>
                      </a:r>
                      <a:r>
                        <a:rPr/>
                        <a:t> from OVHcloud; Datategy operates the </a:t>
                      </a:r>
                      <a:r>
                        <a:rPr b="1"/>
                        <a:t>application plane</a:t>
                      </a:r>
                      <a:r>
                        <a:rPr/>
                        <a:t> (releases, monitoring, backups).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Security transparency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Written policies</a:t>
                      </a:r>
                      <a:r>
                        <a:rPr/>
                        <a:t> (Datategy) + </a:t>
                      </a:r>
                      <a:r>
                        <a:rPr b="1"/>
                        <a:t>public OVHcloud compliance</a:t>
                      </a:r>
                      <a:r>
                        <a:rPr/>
                        <a:t> pages archived in the pack.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 governance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LLM and embedding inference on-cluster</a:t>
                      </a:r>
                      <a:r>
                        <a:rPr/>
                        <a:t> — prompts, completions, and vectors stay </a:t>
                      </a:r>
                      <a:r>
                        <a:rPr b="1"/>
                        <a:t>inside your tenancy boundary</a:t>
                      </a:r>
                      <a:r>
                        <a:rPr/>
                        <a:t> in the standard configuration.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Contract path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Art. 28 GDPR</a:t>
                      </a:r>
                      <a:r>
                        <a:rPr/>
                        <a:t> processor role for Datategy; sub-processor documentation for OVHcloud in the public materials pack.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Shared responsibility (one slide)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Who runs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they prove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Physical DC, power, cooling, low-level 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OVHcloud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ISO 27001 family, HDS, SecNumCloud (where applicable), SOC programme, etc.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Kubernetes control plane (MKS)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OVHcloud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Same compliance catalogue + product SLAs in public terms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Platform workloads</a:t>
                      </a:r>
                      <a:r>
                        <a:rPr/>
                        <a:t> (ingress, mesh, app, data, secrets, </a:t>
                      </a:r>
                      <a:r>
                        <a:rPr b="1"/>
                        <a:t>local AI services</a:t>
                      </a:r>
                      <a:r>
                        <a:rPr/>
                        <a:t>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Datategy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PAS, PCA/PRS, secure SDLC, monitoring, incident process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Tenant content &amp; access policy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classification, IAM policy, acceptable use, SSO integration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Target hosting footprint (operational)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Region:</a:t>
            </a:r>
            <a:r>
              <a:rPr/>
              <a:t> OVHcloud </a:t>
            </a:r>
            <a:r>
              <a:rPr b="1"/>
              <a:t>France</a:t>
            </a:r>
            <a:r>
              <a:rPr/>
              <a:t> (e.g. GRA / SBG / RBX) — </a:t>
            </a:r>
            <a:r>
              <a:rPr b="1"/>
              <a:t>data at rest in the EU</a:t>
            </a:r>
          </a:p>
          <a:p>
            <a:pPr lvl="0"/>
            <a:r>
              <a:rPr b="1"/>
              <a:t>Orchestration:</a:t>
            </a:r>
            <a:r>
              <a:rPr/>
              <a:t> </a:t>
            </a:r>
            <a:r>
              <a:rPr b="1"/>
              <a:t>OVH Managed Kubernetes Service (MKS)</a:t>
            </a:r>
          </a:p>
          <a:p>
            <a:pPr lvl="0"/>
            <a:r>
              <a:rPr b="1"/>
              <a:t>Storage:</a:t>
            </a:r>
            <a:r>
              <a:rPr/>
              <a:t> </a:t>
            </a:r>
            <a:r>
              <a:rPr b="1"/>
              <a:t>Cinder CSI</a:t>
            </a:r>
            <a:r>
              <a:rPr/>
              <a:t> (</a:t>
            </a:r>
            <a:r>
              <a:rPr>
                <a:latin typeface="Courier"/>
              </a:rPr>
              <a:t>csi-cinder-high-speed</a:t>
            </a:r>
            <a:r>
              <a:rPr/>
              <a:t>) for persistent volumes</a:t>
            </a:r>
          </a:p>
          <a:p>
            <a:pPr lvl="0"/>
            <a:r>
              <a:rPr b="1"/>
              <a:t>Ingress &amp; TLS:</a:t>
            </a:r>
            <a:r>
              <a:rPr/>
              <a:t> </a:t>
            </a:r>
            <a:r>
              <a:rPr b="1"/>
              <a:t>Istio</a:t>
            </a:r>
            <a:r>
              <a:rPr/>
              <a:t> + </a:t>
            </a:r>
            <a:r>
              <a:rPr b="1"/>
              <a:t>cert-manager</a:t>
            </a:r>
            <a:r>
              <a:rPr/>
              <a:t> (TLS 1.2 / 1.3)</a:t>
            </a:r>
          </a:p>
          <a:p>
            <a:pPr lvl="0"/>
            <a:r>
              <a:rPr b="1"/>
              <a:t>Identity:</a:t>
            </a:r>
            <a:r>
              <a:rPr/>
              <a:t> </a:t>
            </a:r>
            <a:r>
              <a:rPr b="1"/>
              <a:t>Keycloak 26</a:t>
            </a:r>
            <a:r>
              <a:rPr/>
              <a:t> (OIDC); </a:t>
            </a:r>
            <a:r>
              <a:rPr b="1"/>
              <a:t>federation to your IdP</a:t>
            </a:r>
            <a:r>
              <a:rPr/>
              <a:t> (SAML/OIDC) supported</a:t>
            </a:r>
          </a:p>
          <a:p>
            <a:pPr lvl="0"/>
            <a:r>
              <a:rPr b="1"/>
              <a:t>Secrets:</a:t>
            </a:r>
            <a:r>
              <a:rPr/>
              <a:t> </a:t>
            </a:r>
            <a:r>
              <a:rPr b="1"/>
              <a:t>HashiCorp Vault</a:t>
            </a:r>
            <a:r>
              <a:rPr/>
              <a:t> in-cluster</a:t>
            </a:r>
          </a:p>
          <a:p>
            <a:pPr lvl="0"/>
            <a:r>
              <a:rPr b="1"/>
              <a:t>Data plane:</a:t>
            </a:r>
            <a:r>
              <a:rPr/>
              <a:t> </a:t>
            </a:r>
            <a:r>
              <a:rPr b="1"/>
              <a:t>PostgreSQL</a:t>
            </a:r>
            <a:r>
              <a:rPr/>
              <a:t>, </a:t>
            </a:r>
            <a:r>
              <a:rPr b="1"/>
              <a:t>MinIO</a:t>
            </a:r>
            <a:r>
              <a:rPr/>
              <a:t> (object storage on cluster PV), message bus and time-series as deployed per environment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Application path 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Internet</a:t>
            </a:r>
            <a:r>
              <a:rPr/>
              <a:t> → HTTPS termination at the edge (OVH load balancer)</a:t>
            </a:r>
          </a:p>
          <a:p>
            <a:pPr lvl="0" indent="-342900" marL="342900">
              <a:buAutoNum type="arabicPeriod"/>
            </a:pPr>
            <a:r>
              <a:rPr b="1"/>
              <a:t>Istio ingress gateway</a:t>
            </a:r>
            <a:r>
              <a:rPr/>
              <a:t> → </a:t>
            </a:r>
            <a:r>
              <a:rPr b="1"/>
              <a:t>mTLS</a:t>
            </a:r>
            <a:r>
              <a:rPr/>
              <a:t> inside the mesh where configured</a:t>
            </a:r>
          </a:p>
          <a:p>
            <a:pPr lvl="0" indent="-342900" marL="342900">
              <a:buAutoNum type="arabicPeriod"/>
            </a:pPr>
            <a:r>
              <a:rPr b="1"/>
              <a:t>Web UI + API + IdP</a:t>
            </a:r>
            <a:r>
              <a:rPr/>
              <a:t> (frontend, FastAPI core, Keycloak)</a:t>
            </a:r>
          </a:p>
          <a:p>
            <a:pPr lvl="0" indent="-342900" marL="342900">
              <a:buAutoNum type="arabicPeriod"/>
            </a:pPr>
            <a:r>
              <a:rPr b="1"/>
              <a:t>Optional local AI services</a:t>
            </a:r>
            <a:r>
              <a:rPr/>
              <a:t> (see next slides) → same namespace / network policies as the app</a:t>
            </a:r>
          </a:p>
          <a:p>
            <a:pPr lvl="0" indent="-342900" marL="342900">
              <a:buAutoNum type="arabicPeriod"/>
            </a:pPr>
            <a:r>
              <a:rPr b="1"/>
              <a:t>Encrypted PVs</a:t>
            </a:r>
            <a:r>
              <a:rPr/>
              <a:t> on Cinder → </a:t>
            </a:r>
            <a:r>
              <a:rPr b="1"/>
              <a:t>snapshot / backup</a:t>
            </a:r>
            <a:r>
              <a:rPr/>
              <a:t> policy per Datategy PAS</a:t>
            </a:r>
          </a:p>
          <a:p>
            <a:pPr lvl="0" indent="0" marL="0">
              <a:buNone/>
            </a:pPr>
            <a:r>
              <a:rPr i="1"/>
              <a:t>Full diagram in the Word note.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layer — designed for enterprise trust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LLM inference (LLMaaS):</a:t>
            </a:r>
            <a:r>
              <a:rPr/>
              <a:t> </a:t>
            </a:r>
            <a:r>
              <a:rPr b="1"/>
              <a:t>vLLM</a:t>
            </a:r>
            <a:r>
              <a:rPr/>
              <a:t> (or </a:t>
            </a:r>
            <a:r>
              <a:rPr b="1"/>
              <a:t>llama.cpp</a:t>
            </a:r>
            <a:r>
              <a:rPr/>
              <a:t> for quantised models) as a </a:t>
            </a:r>
            <a:r>
              <a:rPr b="1"/>
              <a:t>private, in-cluster</a:t>
            </a:r>
            <a:r>
              <a:rPr/>
              <a:t> OpenAI-compatible endpoint — </a:t>
            </a:r>
            <a:r>
              <a:rPr b="1"/>
              <a:t>not</a:t>
            </a:r>
            <a:r>
              <a:rPr/>
              <a:t> exposed to the public Internet by default</a:t>
            </a:r>
          </a:p>
          <a:p>
            <a:pPr lvl="0"/>
            <a:r>
              <a:rPr b="1"/>
              <a:t>Embeddings (EMBaaS):</a:t>
            </a:r>
            <a:r>
              <a:rPr/>
              <a:t> self-hosted embedding service (e.g. </a:t>
            </a:r>
            <a:r>
              <a:rPr b="1"/>
              <a:t>TEI</a:t>
            </a:r>
            <a:r>
              <a:rPr/>
              <a:t> / vLLM-embed) with </a:t>
            </a:r>
            <a:r>
              <a:rPr b="1"/>
              <a:t>open models</a:t>
            </a:r>
            <a:r>
              <a:rPr/>
              <a:t> (e.g. BGE family) on </a:t>
            </a:r>
            <a:r>
              <a:rPr b="1"/>
              <a:t>your</a:t>
            </a:r>
            <a:r>
              <a:rPr/>
              <a:t> GPU/CPU pool</a:t>
            </a:r>
          </a:p>
          <a:p>
            <a:pPr lvl="0"/>
            <a:r>
              <a:rPr b="1"/>
              <a:t>Auxiliary NLP:</a:t>
            </a:r>
            <a:r>
              <a:rPr/>
              <a:t> semantic / NLI models (e.g. LaBSE, XLM-R) run </a:t>
            </a:r>
            <a:r>
              <a:rPr b="1"/>
              <a:t>locally</a:t>
            </a:r>
            <a:r>
              <a:rPr/>
              <a:t> via Transformers where needed</a:t>
            </a:r>
          </a:p>
          <a:p>
            <a:pPr lvl="0"/>
            <a:r>
              <a:rPr b="1"/>
              <a:t>Supply chain:</a:t>
            </a:r>
            <a:r>
              <a:rPr/>
              <a:t> model artefacts from </a:t>
            </a:r>
            <a:r>
              <a:rPr b="1"/>
              <a:t>internal registry / object storage</a:t>
            </a:r>
            <a:r>
              <a:rPr/>
              <a:t> — </a:t>
            </a:r>
            <a:r>
              <a:rPr b="1"/>
              <a:t>no hot pull from the public Internet</a:t>
            </a:r>
            <a:r>
              <a:rPr/>
              <a:t> in production configuration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— data stays in the tenancy (default posture)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Risk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Mitigation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Prompt / completion exfiltration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Traffic stays </a:t>
                      </a:r>
                      <a:r>
                        <a:rPr b="1"/>
                        <a:t>in-cluster</a:t>
                      </a:r>
                      <a:r>
                        <a:rPr/>
                        <a:t>; </a:t>
                      </a:r>
                      <a:r>
                        <a:rPr b="1"/>
                        <a:t>NetworkPolicies</a:t>
                      </a:r>
                      <a:r>
                        <a:rPr/>
                        <a:t> restrict who can call LLMaaS/EMBaaS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Shadow IT LLM APIs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Standard build </a:t>
                      </a:r>
                      <a:r>
                        <a:rPr b="1"/>
                        <a:t>does not</a:t>
                      </a:r>
                      <a:r>
                        <a:rPr/>
                        <a:t> route application data to </a:t>
                      </a:r>
                      <a:r>
                        <a:rPr b="1"/>
                        <a:t>external</a:t>
                      </a:r>
                      <a:r>
                        <a:rPr/>
                        <a:t> inference providers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Cross-tenant leakage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No customer fine-tuning</a:t>
                      </a:r>
                      <a:r>
                        <a:rPr/>
                        <a:t> on your data without explicit agreement + tenant isolation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Observability vs. privacy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Metrics</a:t>
                      </a:r>
                      <a:r>
                        <a:rPr/>
                        <a:t> (latency, tokens, status) — </a:t>
                      </a:r>
                      <a:r>
                        <a:rPr b="1"/>
                        <a:t>not</a:t>
                      </a:r>
                      <a:r>
                        <a:rPr/>
                        <a:t> bulk export of prompt contents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OVHcloud — assurance (public catalogue)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ISO/IEC 27001 / 27017 / 27018</a:t>
            </a:r>
            <a:r>
              <a:rPr/>
              <a:t> — ISMS for cloud services &amp; protection of PII in public cloud</a:t>
            </a:r>
          </a:p>
          <a:p>
            <a:pPr lvl="0"/>
            <a:r>
              <a:rPr b="1"/>
              <a:t>ISO/IEC 27701</a:t>
            </a:r>
            <a:r>
              <a:rPr/>
              <a:t> — privacy information management (PIMS) extension aligned with GDPR thinking</a:t>
            </a:r>
          </a:p>
          <a:p>
            <a:pPr lvl="0"/>
            <a:r>
              <a:rPr b="1"/>
              <a:t>HDS</a:t>
            </a:r>
            <a:r>
              <a:rPr/>
              <a:t> — health data hosting (where the workload requires it)</a:t>
            </a:r>
          </a:p>
          <a:p>
            <a:pPr lvl="0"/>
            <a:r>
              <a:rPr b="1"/>
              <a:t>SecNumCloud</a:t>
            </a:r>
            <a:r>
              <a:rPr/>
              <a:t> — French </a:t>
            </a:r>
            <a:r>
              <a:rPr b="1"/>
              <a:t>ANSSI</a:t>
            </a:r>
            <a:r>
              <a:rPr/>
              <a:t> trusted cloud qualification (specific offers)</a:t>
            </a:r>
          </a:p>
          <a:p>
            <a:pPr lvl="0"/>
            <a:r>
              <a:rPr b="1"/>
              <a:t>SOC 1 / 2 / 3</a:t>
            </a:r>
            <a:r>
              <a:rPr/>
              <a:t>, </a:t>
            </a:r>
            <a:r>
              <a:rPr b="1"/>
              <a:t>PCI-DSS</a:t>
            </a:r>
            <a:r>
              <a:rPr/>
              <a:t>, </a:t>
            </a:r>
            <a:r>
              <a:rPr b="1"/>
              <a:t>C5</a:t>
            </a:r>
            <a:r>
              <a:rPr/>
              <a:t>, </a:t>
            </a:r>
            <a:r>
              <a:rPr b="1"/>
              <a:t>HIPAA</a:t>
            </a:r>
            <a:r>
              <a:rPr/>
              <a:t> (US DCs where relevant), </a:t>
            </a:r>
            <a:r>
              <a:rPr b="1"/>
              <a:t>CISPE</a:t>
            </a:r>
            <a:r>
              <a:rPr/>
              <a:t> membership</a:t>
            </a:r>
          </a:p>
          <a:p>
            <a:pPr lvl="0" indent="0" marL="0">
              <a:buNone/>
            </a:pPr>
            <a:r>
              <a:rPr i="1"/>
              <a:t>Archived PDF snapshots of the public pages are in </a:t>
            </a:r>
            <a:r>
              <a:rPr i="1">
                <a:latin typeface="Courier"/>
              </a:rPr>
              <a:t>ANDRITZ-pack/02_ovhcloud/</a:t>
            </a:r>
            <a:r>
              <a:rPr i="1"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Datategy — ISMS posture (transparent)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Datategy is </a:t>
            </a:r>
            <a:r>
              <a:rPr b="1"/>
              <a:t>not ISO 27001–certified</a:t>
            </a:r>
            <a:r>
              <a:rPr/>
              <a:t> as a company today — we state this clearly.</a:t>
            </a:r>
          </a:p>
          <a:p>
            <a:pPr lvl="0"/>
            <a:r>
              <a:rPr/>
              <a:t>We operate an </a:t>
            </a:r>
            <a:r>
              <a:rPr b="1"/>
              <a:t>ISMS aligned with ISO/IEC 27001</a:t>
            </a:r>
            <a:r>
              <a:rPr/>
              <a:t> with a </a:t>
            </a:r>
            <a:r>
              <a:rPr b="1"/>
              <a:t>confidential internal IS policy</a:t>
            </a:r>
            <a:r>
              <a:rPr/>
              <a:t> and a </a:t>
            </a:r>
            <a:r>
              <a:rPr b="1"/>
              <a:t>communicable Security Assurance Plan (PAS)</a:t>
            </a:r>
            <a:r>
              <a:rPr/>
              <a:t> in the pack.</a:t>
            </a:r>
          </a:p>
          <a:p>
            <a:pPr lvl="0"/>
            <a:r>
              <a:rPr b="1"/>
              <a:t>Organisational controls:</a:t>
            </a:r>
            <a:r>
              <a:rPr/>
              <a:t> risk management (EBIOS-style), HR security, vendor governance, incident management, annual IS policy review.</a:t>
            </a:r>
          </a:p>
          <a:p>
            <a:pPr lvl="0"/>
            <a:r>
              <a:rPr b="1"/>
              <a:t>Technical &amp; SDLC controls:</a:t>
            </a:r>
            <a:r>
              <a:rPr/>
              <a:t> dependency &amp; container scanning, secure coding (OWASP), change management via GitOps, </a:t>
            </a:r>
            <a:r>
              <a:rPr b="1"/>
              <a:t>annual third-party pentest</a:t>
            </a:r>
            <a:r>
              <a:rPr/>
              <a:t>, backup &amp; restore testing.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— roles (who is controller / processor)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Party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Controller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Your organisation — defines purposes and means for personal data you place in the service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Processor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Datategy SAS</a:t>
                      </a:r>
                      <a:r>
                        <a:rPr/>
                        <a:t> — builds and operates papAI / Agentium for you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Sub-processor (hosting)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OVHcloud (OVH SAS)</a:t>
                      </a:r>
                      <a:r>
                        <a:rPr/>
                        <a:t> — EU data centres, public compliance materials in the pack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Default residency:</a:t>
            </a:r>
            <a:r>
              <a:rPr/>
              <a:t> </a:t>
            </a:r>
            <a:r>
              <a:rPr b="1"/>
              <a:t>EU (France)</a:t>
            </a:r>
            <a:r>
              <a:rPr/>
              <a:t> — no </a:t>
            </a:r>
            <a:r>
              <a:rPr b="1"/>
              <a:t>default</a:t>
            </a:r>
            <a:r>
              <a:rPr/>
              <a:t> third-country transfer for hosting.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GDPR — Article 32 measures (summary)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Pillar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Implementation (high level)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Confidentiality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TLS 1.2/1.3 in transit; encryption at rest for snapshots/backups; Vault for secrets; tenant isolation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Integrity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Signed commits, checksums on backups, append-only style logging where applicable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Availability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Redundant Kubernetes design; OVH-managed control plane; </a:t>
                      </a:r>
                      <a:r>
                        <a:rPr b="1"/>
                        <a:t>BCP/DR</a:t>
                      </a:r>
                      <a:r>
                        <a:rPr/>
                        <a:t> documents in pack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Resilience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Tested restores (quarterly); documented RTO/RPO targets in PCA for the reference environment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AI-specific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Local inference stack — </a:t>
                      </a:r>
                      <a:r>
                        <a:rPr b="1"/>
                        <a:t>no routine export of prompts to a third-party AI vendor</a:t>
                      </a:r>
                      <a:r>
                        <a:rPr/>
                        <a:t> in the standard build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ISO/IEC 27001:2022 — four Annex A themes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OVHcloud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Datategy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A.5 Organisational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Public IS policy, compliance catalogue, contracts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PAS, governance, incidents, legal &amp; DP annexes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A.6 People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DC physical security staff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 onboarding/offboarding, training programme (pack)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A.7 Physical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Full physical stack</a:t>
                      </a:r>
                      <a:r>
                        <a:rPr/>
                        <a:t> at OVHcloud sites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 (Datategy does not host customer data on premises)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A.8 Technological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Hypervisor / network / managed K8s control plane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Mesh, identity, crypto, logging, backups, </a:t>
                      </a:r>
                      <a:r>
                        <a:rPr b="1"/>
                        <a:t>local AI services</a:t>
                      </a:r>
                      <a:r>
                        <a:rPr/>
                        <a:t>, secure SDLC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The Word note breaks this down to control level.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Security operations you can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Access:</a:t>
            </a:r>
            <a:r>
              <a:rPr/>
              <a:t> Keycloak RBAC, strong password policy, MFA for admins, optional SSO to your IdP</a:t>
            </a:r>
          </a:p>
          <a:p>
            <a:pPr lvl="0"/>
            <a:r>
              <a:rPr b="1"/>
              <a:t>Network:</a:t>
            </a:r>
            <a:r>
              <a:rPr/>
              <a:t> Istio ingress, internal mTLS patterns, egress restrictions via Kubernetes </a:t>
            </a:r>
            <a:r>
              <a:rPr b="1"/>
              <a:t>NetworkPolicy</a:t>
            </a:r>
          </a:p>
          <a:p>
            <a:pPr lvl="0"/>
            <a:r>
              <a:rPr b="1"/>
              <a:t>Secrets:</a:t>
            </a:r>
            <a:r>
              <a:rPr/>
              <a:t> centralised in </a:t>
            </a:r>
            <a:r>
              <a:rPr b="1"/>
              <a:t>Vault</a:t>
            </a:r>
            <a:r>
              <a:rPr/>
              <a:t> with audit trail</a:t>
            </a:r>
          </a:p>
          <a:p>
            <a:pPr lvl="0"/>
            <a:r>
              <a:rPr b="1"/>
              <a:t>Vulnerability management:</a:t>
            </a:r>
            <a:r>
              <a:rPr/>
              <a:t> continuous scanning in CI; monthly patch cadence; CIS-style container checks</a:t>
            </a:r>
          </a:p>
          <a:p>
            <a:pPr lvl="0"/>
            <a:r>
              <a:rPr b="1"/>
              <a:t>Logging &amp; monitoring:</a:t>
            </a:r>
            <a:r>
              <a:rPr/>
              <a:t> cluster and application logs, health checks, alerting</a:t>
            </a:r>
          </a:p>
          <a:p>
            <a:pPr lvl="0"/>
            <a:r>
              <a:rPr b="1"/>
              <a:t>Incidents:</a:t>
            </a:r>
            <a:r>
              <a:rPr/>
              <a:t> documented path in PAS; breach notification chain </a:t>
            </a:r>
            <a:r>
              <a:rPr b="1"/>
              <a:t>Datategy → you → regulator</a:t>
            </a:r>
            <a:r>
              <a:rPr/>
              <a:t> as required by law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continuity &amp; disaster recovery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PCA (BCP):</a:t>
            </a:r>
            <a:r>
              <a:rPr/>
              <a:t> documented continuity approach — </a:t>
            </a:r>
            <a:r>
              <a:rPr b="1"/>
              <a:t>reference RTO/RPO</a:t>
            </a:r>
            <a:r>
              <a:rPr/>
              <a:t> in the published PCA (e.g. </a:t>
            </a:r>
            <a:r>
              <a:rPr b="1"/>
              <a:t>6 h / 12 h</a:t>
            </a:r>
            <a:r>
              <a:rPr/>
              <a:t> for the described test environment — production targets agreed per contract)</a:t>
            </a:r>
          </a:p>
          <a:p>
            <a:pPr lvl="0"/>
            <a:r>
              <a:rPr b="1"/>
              <a:t>PRS (DR):</a:t>
            </a:r>
            <a:r>
              <a:rPr/>
              <a:t> backup of persistent volumes, recovery playbook orientation</a:t>
            </a:r>
          </a:p>
          <a:p>
            <a:pPr lvl="0"/>
            <a:r>
              <a:rPr b="1"/>
              <a:t>Backups:</a:t>
            </a:r>
            <a:r>
              <a:rPr/>
              <a:t> encrypted snapshots with defined retention (hot / weekly / monthly) per PAS</a:t>
            </a:r>
          </a:p>
          <a:p>
            <a:pPr lvl="0"/>
            <a:r>
              <a:rPr b="1"/>
              <a:t>Tests:</a:t>
            </a:r>
            <a:r>
              <a:rPr/>
              <a:t> restore exercises on a defined cadence (documented in PAS/PCA family)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Reversibility &amp; exit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Data return:</a:t>
            </a:r>
            <a:r>
              <a:rPr/>
              <a:t> open formats — DB dumps, object exports, models, scripts — over agreed secure channel (e.g. SFTP/FTPS)</a:t>
            </a:r>
          </a:p>
          <a:p>
            <a:pPr lvl="0"/>
            <a:r>
              <a:rPr b="1"/>
              <a:t>Deletion:</a:t>
            </a:r>
            <a:r>
              <a:rPr/>
              <a:t> secure wipe after contractual retention window; destruction evidence where applicable</a:t>
            </a:r>
          </a:p>
          <a:p>
            <a:pPr lvl="0"/>
            <a:r>
              <a:rPr b="1"/>
              <a:t>Infrastructure:</a:t>
            </a:r>
            <a:r>
              <a:rPr/>
              <a:t> Cinder volumes follow OVHcloud lifecycle and secure disposal practices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Deliverable pack — </a:t>
            </a:r>
            <a:r>
              <a:rPr>
                <a:latin typeface="Courier"/>
              </a:rPr>
              <a:t>ANDRITZ-pack/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>
                          <a:latin typeface="Courier"/>
                        </a:rPr>
                        <a:t>00_synthese/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>
                          <a:latin typeface="Courier"/>
                        </a:rPr>
                        <a:t>fiche-hosting-ovh-andritz.docx</a:t>
                      </a:r>
                      <a:r>
                        <a:rPr/>
                        <a:t> — full structured note (ISO 27001:2022 + GDPR + architecture + AI)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>
                          <a:latin typeface="Courier"/>
                        </a:rPr>
                        <a:t>01_datategy/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PAS, PCA, DR, privacy, DPA, SLA/support, training — </a:t>
                      </a:r>
                      <a:r>
                        <a:rPr b="1"/>
                        <a:t>PDF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>
                          <a:latin typeface="Courier"/>
                        </a:rPr>
                        <a:t>02_ovhcloud/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16 PDFs</a:t>
                      </a:r>
                      <a:r>
                        <a:rPr/>
                        <a:t> — archived </a:t>
                      </a:r>
                      <a:r>
                        <a:rPr b="1"/>
                        <a:t>public</a:t>
                      </a:r>
                      <a:r>
                        <a:rPr/>
                        <a:t> OVHcloud compliance &amp; legal pages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Plus:</a:t>
            </a:r>
            <a:r>
              <a:rPr/>
              <a:t> </a:t>
            </a:r>
            <a:r>
              <a:rPr>
                <a:latin typeface="Courier"/>
              </a:rPr>
              <a:t>README.md</a:t>
            </a:r>
            <a:r>
              <a:rPr/>
              <a:t> at pack root — navigation aid for reviewers.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supports a SaaS security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Single narrative:</a:t>
            </a:r>
            <a:r>
              <a:rPr/>
              <a:t> one Word note ties </a:t>
            </a:r>
            <a:r>
              <a:rPr b="1"/>
              <a:t>architecture</a:t>
            </a:r>
            <a:r>
              <a:rPr/>
              <a:t>, </a:t>
            </a:r>
            <a:r>
              <a:rPr b="1"/>
              <a:t>shared responsibility</a:t>
            </a:r>
            <a:r>
              <a:rPr/>
              <a:t>, </a:t>
            </a:r>
            <a:r>
              <a:rPr b="1"/>
              <a:t>OVHcloud public assurance</a:t>
            </a:r>
            <a:r>
              <a:rPr/>
              <a:t>, and </a:t>
            </a:r>
            <a:r>
              <a:rPr b="1"/>
              <a:t>Datategy policies</a:t>
            </a:r>
            <a:r>
              <a:rPr/>
              <a:t> to </a:t>
            </a:r>
            <a:r>
              <a:rPr b="1"/>
              <a:t>ISO 27001:2022 Annex A</a:t>
            </a:r>
            <a:r>
              <a:rPr/>
              <a:t>.</a:t>
            </a:r>
          </a:p>
          <a:p>
            <a:pPr lvl="0"/>
            <a:r>
              <a:rPr b="1"/>
              <a:t>Evidence-first:</a:t>
            </a:r>
            <a:r>
              <a:rPr/>
              <a:t> the pack is </a:t>
            </a:r>
            <a:r>
              <a:rPr b="1"/>
              <a:t>self-contained</a:t>
            </a:r>
            <a:r>
              <a:rPr/>
              <a:t> for a </a:t>
            </a:r>
            <a:r>
              <a:rPr b="1"/>
              <a:t>first-pass</a:t>
            </a:r>
            <a:r>
              <a:rPr/>
              <a:t> review without hunting URLs during the meeting.</a:t>
            </a:r>
          </a:p>
          <a:p>
            <a:pPr lvl="0"/>
            <a:r>
              <a:rPr b="1"/>
              <a:t>AI clarity:</a:t>
            </a:r>
            <a:r>
              <a:rPr/>
              <a:t> explicit </a:t>
            </a:r>
            <a:r>
              <a:rPr b="1"/>
              <a:t>on-cluster</a:t>
            </a:r>
            <a:r>
              <a:rPr/>
              <a:t> LLM/embedding design — addresses the </a:t>
            </a:r>
            <a:r>
              <a:rPr b="1"/>
              <a:t>#1 enterprise question</a:t>
            </a:r>
            <a:r>
              <a:rPr/>
              <a:t> on GenAI today.</a:t>
            </a:r>
          </a:p>
          <a:p>
            <a:pPr lvl="0"/>
            <a:r>
              <a:rPr b="1"/>
              <a:t>Procurement-friendly:</a:t>
            </a:r>
            <a:r>
              <a:rPr/>
              <a:t> maps cleanly to </a:t>
            </a:r>
            <a:r>
              <a:rPr b="1"/>
              <a:t>security questionnaire</a:t>
            </a:r>
            <a:r>
              <a:rPr/>
              <a:t> sections (hosting, subprocessors, crypto, logging, DR, DPAs).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Circulate </a:t>
            </a:r>
            <a:r>
              <a:rPr b="1">
                <a:latin typeface="Courier"/>
              </a:rPr>
              <a:t>ANDRITZ-pack/</a:t>
            </a:r>
            <a:r>
              <a:rPr/>
              <a:t> (or at minimum </a:t>
            </a:r>
            <a:r>
              <a:rPr b="1">
                <a:latin typeface="Courier"/>
              </a:rPr>
              <a:t>00_synthese/fiche-hosting-ovh-andritz.docx</a:t>
            </a:r>
            <a:r>
              <a:rPr/>
              <a:t>) ahead of legal/security deep dive.</a:t>
            </a:r>
          </a:p>
          <a:p>
            <a:pPr lvl="0" indent="-342900" marL="342900">
              <a:buAutoNum type="arabicPeriod"/>
            </a:pPr>
            <a:r>
              <a:rPr/>
              <a:t>Align on </a:t>
            </a:r>
            <a:r>
              <a:rPr b="1"/>
              <a:t>tenant DNS</a:t>
            </a:r>
            <a:r>
              <a:rPr/>
              <a:t>, </a:t>
            </a:r>
            <a:r>
              <a:rPr b="1"/>
              <a:t>IdP federation</a:t>
            </a:r>
            <a:r>
              <a:rPr/>
              <a:t>, and </a:t>
            </a:r>
            <a:r>
              <a:rPr b="1"/>
              <a:t>production RTO/RPO</a:t>
            </a:r>
            <a:r>
              <a:rPr/>
              <a:t> targets in the order form / DPA schedules.</a:t>
            </a:r>
          </a:p>
          <a:p>
            <a:pPr lvl="0" indent="-342900" marL="342900">
              <a:buAutoNum type="arabicPeriod"/>
            </a:pPr>
            <a:r>
              <a:rPr/>
              <a:t>Schedule a </a:t>
            </a:r>
            <a:r>
              <a:rPr b="1"/>
              <a:t>technical session</a:t>
            </a:r>
            <a:r>
              <a:rPr/>
              <a:t> (optional): cluster hardening review, log retention, and backup restore drill witness.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 — contacts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Security:</a:t>
            </a:r>
            <a:r>
              <a:rPr/>
              <a:t> security@datategy.net</a:t>
            </a:r>
            <a:br/>
          </a:p>
          <a:p>
            <a:pPr lvl="0"/>
            <a:r>
              <a:rPr b="1"/>
              <a:t>Data Protection:</a:t>
            </a:r>
            <a:r>
              <a:rPr/>
              <a:t> dpo@datategy.net</a:t>
            </a:r>
            <a:br/>
          </a:p>
          <a:p>
            <a:pPr lvl="0"/>
            <a:r>
              <a:rPr b="1"/>
              <a:t>Support (operational):</a:t>
            </a:r>
            <a:r>
              <a:rPr/>
              <a:t> support@papai.ai</a:t>
            </a:r>
          </a:p>
          <a:p>
            <a:pPr lvl="0" indent="0" marL="0">
              <a:buNone/>
            </a:pPr>
            <a:r>
              <a:rPr b="1"/>
              <a:t>Deck source:</a:t>
            </a:r>
            <a:r>
              <a:rPr/>
              <a:t> </a:t>
            </a:r>
            <a:r>
              <a:rPr>
                <a:latin typeface="Courier"/>
              </a:rPr>
              <a:t>docs/compliance-2/fiche-hosting-ovh-andritz/ANDRITZ-hosting-compliance-deck.md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papAI / Agentium — Hosting &amp; Compliance (OVHcloud)</dc:title>
  <dc:creator>Datategy SAS</dc:creator>
  <cp:keywords/>
  <dcterms:created xsi:type="dcterms:W3CDTF">2026-05-04T09:01:31Z</dcterms:created>
  <dcterms:modified xsi:type="dcterms:W3CDTF">2026-05-04T09:01:31Z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April 2026</vt:lpwstr>
  </property>
</Properties>
</file>