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2" Type="http://schemas.openxmlformats.org/officeDocument/2006/relationships/viewProps" Target="viewProps.xml" /><Relationship Id="rId5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4" Type="http://schemas.openxmlformats.org/officeDocument/2006/relationships/tableStyles" Target="tableStyles.xml" /><Relationship Id="rId5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demo-aya-storytelling-trame.md" TargetMode="External" /><Relationship Id="rId3" Type="http://schemas.openxmlformats.org/officeDocument/2006/relationships/hyperlink" Target="sentinel-ci-demo-walkthrough-2026-05-25.md" TargetMode="External" /><Relationship Id="rId4" Type="http://schemas.openxmlformats.org/officeDocument/2006/relationships/hyperlink" Target="sentinel-ci-presenter-cheatsheet.md" TargetMode="External" /><Relationship Id="rId5" Type="http://schemas.openxmlformats.org/officeDocument/2006/relationships/hyperlink" Target="sentinel-ci-qa-postdeploy-s1-2026-05-24.md" TargetMode="External" /><Relationship Id="rId6" Type="http://schemas.openxmlformats.org/officeDocument/2006/relationships/hyperlink" Target="sentinel-ci-qa-postdeploy-s2-2026-05-24.md" TargetMode="Externa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SENTINEL-CI · Démo Vice-Président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Cockpit gouvernance Côte d’Ivoire · narrative Napié + Préfet Nawa</a:t>
            </a:r>
            <a:br/>
            <a:br/>
            <a:r>
              <a:rPr/>
              <a:t>Datategy · Plateforme Agentium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Lundi 25 mai 2026 · 09h00 (Abidjan)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SENTINEL-CI · Démo Vice-Président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Cockpit gouvernance souveraine Côte d’Ivoire</a:t>
            </a:r>
          </a:p>
          <a:p>
            <a:pPr lvl="0" indent="0" marL="0">
              <a:buNone/>
            </a:pPr>
            <a:r>
              <a:rPr b="1"/>
              <a:t>Narratives</a:t>
            </a:r>
            <a:r>
              <a:rPr/>
              <a:t> : Drill Nord / Centre Drones Napié — Préfet de Nawa / diversification cacao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Lundi 25 mai 2026 · 09h00 Abidjan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Interlocuteur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Vice-Président de la République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https://agentium.papai.ai</a:t>
                      </a:r>
                      <a:r>
                        <a:rPr/>
                        <a:t> · workspace </a:t>
                      </a:r>
                      <a:r>
                        <a:rPr>
                          <a:latin typeface="Courier"/>
                        </a:rPr>
                        <a:t>sentinel-ci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 prod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9d0f8012</a:t>
                      </a:r>
                      <a:r>
                        <a:rPr/>
                        <a:t> (commit walkthrough enrichi)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Smoke probe post-deploy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20 / 20 PASS</a:t>
                      </a:r>
                      <a:r>
                        <a:rPr/>
                        <a:t> (6 vocal + 14 API non-régression)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 clic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13 / 15 PASS</a:t>
                      </a:r>
                      <a:r>
                        <a:rPr/>
                        <a:t> · 2 actions </a:t>
                      </a:r>
                      <a:r>
                        <a:rPr>
                          <a:latin typeface="Courier"/>
                        </a:rPr>
                        <a:t>[AYA only]</a:t>
                      </a:r>
                      <a:r>
                        <a:rPr/>
                        <a:t> (</a:t>
                      </a:r>
                      <a:r>
                        <a:rPr>
                          <a:latin typeface="Courier"/>
                        </a:rPr>
                        <a:t>recommend_cacao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draft_strategic_report</a:t>
                      </a:r>
                      <a:r>
                        <a:rPr/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 résolveur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sentinel_ci_aya_v1</a:t>
                      </a:r>
                      <a:r>
                        <a:rPr/>
                        <a:t> · seuil </a:t>
                      </a:r>
                      <a:r>
                        <a:rPr>
                          <a:latin typeface="Courier"/>
                        </a:rPr>
                        <a:t>min_confidence = 0.78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Bloc 1 — Ouverture cockpit</a:t>
            </a:r>
            <a:r>
              <a:rPr/>
              <a:t> (3 slides · ~1 min)</a:t>
            </a:r>
          </a:p>
          <a:p>
            <a:pPr lvl="0" indent="-342900" marL="342900">
              <a:buAutoNum type="arabicPeriod"/>
            </a:pPr>
            <a:r>
              <a:rPr b="1"/>
              <a:t>Bloc 2 — Scénario 1 · Drill Nord / Centre Drones Napié</a:t>
            </a:r>
            <a:r>
              <a:rPr/>
              <a:t> (6 étapes + récap · ~5 min)</a:t>
            </a:r>
          </a:p>
          <a:p>
            <a:pPr lvl="0" indent="-342900" marL="342900">
              <a:buAutoNum type="arabicPeriod"/>
            </a:pPr>
            <a:r>
              <a:rPr b="1"/>
              <a:t>Bloc 3 — Transition agenda</a:t>
            </a:r>
            <a:r>
              <a:rPr/>
              <a:t> (1 slide · ~1 min)</a:t>
            </a:r>
          </a:p>
          <a:p>
            <a:pPr lvl="0" indent="-342900" marL="342900">
              <a:buAutoNum type="arabicPeriod"/>
            </a:pPr>
            <a:r>
              <a:rPr b="1"/>
              <a:t>Bloc 4 — Scénario 2 · Préfet Nawa / diversification cacao</a:t>
            </a:r>
            <a:r>
              <a:rPr/>
              <a:t> (9 étapes + récap · ~7 min)</a:t>
            </a:r>
          </a:p>
          <a:p>
            <a:pPr lvl="0" indent="-342900" marL="342900">
              <a:buAutoNum type="arabicPeriod"/>
            </a:pPr>
            <a:r>
              <a:rPr b="1"/>
              <a:t>Bloc 5 — Récap, plan B URL, bonus 8 KPIs souverains</a:t>
            </a:r>
            <a:r>
              <a:rPr/>
              <a:t> (3 slides · ~1 min)</a:t>
            </a:r>
          </a:p>
          <a:p>
            <a:pPr lvl="0" indent="-342900" marL="342900">
              <a:buAutoNum type="arabicPeriod"/>
            </a:pPr>
            <a:r>
              <a:rPr b="1"/>
              <a:t>Annexe</a:t>
            </a:r>
            <a:r>
              <a:rPr/>
              <a:t> — Smoke probe complet · liens trame / walkthrough / cheatsheet</a:t>
            </a:r>
          </a:p>
          <a:p>
            <a:pPr lvl="0" indent="0" marL="0">
              <a:buNone/>
            </a:pPr>
            <a:r>
              <a:rPr b="1"/>
              <a:t>Durée totale cible</a:t>
            </a:r>
            <a:r>
              <a:rPr/>
              <a:t> : ~13 min (5 + 1 + 7). </a:t>
            </a:r>
            <a:r>
              <a:rPr b="1"/>
              <a:t>Mode</a:t>
            </a:r>
            <a:r>
              <a:rPr/>
              <a:t> : </a:t>
            </a:r>
            <a:r>
              <a:rPr>
                <a:latin typeface="Courier"/>
              </a:rPr>
              <a:t>advisory-only</a:t>
            </a:r>
            <a:r>
              <a:rPr/>
              <a:t> · toute écriture passe par proposition + validation Cabinet.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 1 — Ouverture cockpit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État du jour · POSTURE NATIONALE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Écran</a:t>
            </a:r>
            <a:r>
              <a:rPr/>
              <a:t> : </a:t>
            </a:r>
            <a:r>
              <a:rPr>
                <a:latin typeface="Courier"/>
              </a:rPr>
              <a:t>/hypervisor/mission-room/cockpit</a:t>
            </a:r>
          </a:p>
          <a:p>
            <a:pPr lvl="0"/>
            <a:r>
              <a:rPr/>
              <a:t>Chip </a:t>
            </a:r>
            <a:r>
              <a:rPr b="1"/>
              <a:t>Zone Nord · Tendue</a:t>
            </a:r>
            <a:r>
              <a:rPr/>
              <a:t> en tête de barre statut (pulse)</a:t>
            </a:r>
          </a:p>
          <a:p>
            <a:pPr lvl="0"/>
            <a:r>
              <a:rPr/>
              <a:t>Bannière AYA : </a:t>
            </a:r>
            <a:r>
              <a:rPr i="1"/>
              <a:t>« Priorité absolue ce matin : la Zone Nord. »</a:t>
            </a:r>
          </a:p>
          <a:p>
            <a:pPr lvl="0"/>
            <a:r>
              <a:rPr/>
              <a:t>Boutons CTA : </a:t>
            </a:r>
            <a:r>
              <a:rPr>
                <a:latin typeface="Courier"/>
              </a:rPr>
              <a:t>Écouter le briefing AYA</a:t>
            </a:r>
            <a:r>
              <a:rPr/>
              <a:t> · </a:t>
            </a:r>
            <a:r>
              <a:rPr>
                <a:latin typeface="Courier"/>
              </a:rPr>
              <a:t>Ouvrir le dossier Zone Nord</a:t>
            </a:r>
          </a:p>
          <a:p>
            <a:pPr lvl="0"/>
            <a:r>
              <a:rPr/>
              <a:t>Carte fusionnée Territoire / signaux + badge </a:t>
            </a:r>
            <a:r>
              <a:rPr>
                <a:latin typeface="Courier"/>
              </a:rPr>
              <a:t>16 NAVIRES AIS · ABIDJAN / VRIDI</a:t>
            </a:r>
          </a:p>
          <a:p>
            <a:pPr lvl="0"/>
            <a:r>
              <a:rPr/>
              <a:t>Hero presse Napié visible bas-droite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AYA implicite : aya.priority_summary</a:t>
            </a:r>
            <a:r>
              <a:rPr/>
              <a:t> (la vue </a:t>
            </a:r>
            <a:r>
              <a:rPr b="1"/>
              <a:t>est</a:t>
            </a:r>
            <a:r>
              <a:rPr/>
              <a:t> le brief) </a:t>
            </a:r>
            <a:r>
              <a:rPr>
                <a:latin typeface="Courier"/>
              </a:rPr>
              <a:t>Plan B clic : pas nécessaire — la page d'accueil porte le message.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  <p:pic>
        <p:nvPicPr>
          <p:cNvPr descr="status-screenshots/2026-05-25-demo-eve/01-cockpit-ma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14800" y="203200"/>
            <a:ext cx="4000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Cockpit complet · 5 blocs souverains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1.2 8 KPIs Macro souverains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Bloc INDICATEURS MACRO</a:t>
            </a:r>
            <a:r>
              <a:rPr/>
              <a:t> · visible lorsque le panneau AYA est ouvert (grille souveraine compressée).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Valeur démo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4 095 000 FCFA / 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Osiris seed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Anacarde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825 FCFA / kg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Osiris seed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78.5 USD / bbl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Osiris seed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Réserves BCEAO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4.2 mois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Osiris seed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Tension régionale CEDEAO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72.0 / 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Osiris seed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Sentiment opinion 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58.0 / 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Osiris seed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Croissance PIB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6.02 %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Banque mondiale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3.45 %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Banque mondiale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Status : [PASS post-deploy]</a:t>
            </a:r>
            <a:r>
              <a:rPr/>
              <a:t> — </a:t>
            </a:r>
            <a:r>
              <a:rPr>
                <a:latin typeface="Courier"/>
              </a:rPr>
              <a:t>vp_status_bar[0].id</a:t>
            </a:r>
            <a:r>
              <a:rPr/>
              <a:t> non-null (Vague 3 polish déployée).</a:t>
            </a:r>
          </a:p>
        </p:txBody>
      </p:sp>
      <p:pic>
        <p:nvPicPr>
          <p:cNvPr descr="status-screenshots/2026-05-25-demo-eve/13-aya-chat-emp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8 KPIs souverains visibles avec panneau AYA ouvert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1.3 Sujets à arbitrer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Colonne droite cockpit · 3 cartes badge </a:t>
            </a:r>
            <a:r>
              <a:rPr b="1">
                <a:latin typeface="Courier"/>
              </a:rPr>
              <a:t>AYA PRÊT</a:t>
            </a:r>
          </a:p>
          <a:p>
            <a:pPr lvl="0" indent="-342900" marL="342900">
              <a:buAutoNum type="arabicPeriod"/>
            </a:pPr>
            <a:r>
              <a:rPr b="1"/>
              <a:t>Article L’Inter — critique budget défense</a:t>
            </a:r>
            <a:r>
              <a:rPr/>
              <a:t> · 14h00</a:t>
            </a:r>
          </a:p>
          <a:p>
            <a:pPr lvl="0" indent="-342900" marL="342900">
              <a:buAutoNum type="arabicPeriod"/>
            </a:pPr>
            <a:r>
              <a:rPr b="1"/>
              <a:t>Zone Nord — retard chantier Napié + cargo bloqué</a:t>
            </a:r>
            <a:r>
              <a:rPr/>
              <a:t> · 15h00 </a:t>
            </a:r>
            <a:r>
              <a:rPr i="1"/>
              <a:t>(fil rouge S1)</a:t>
            </a:r>
          </a:p>
          <a:p>
            <a:pPr lvl="0" indent="-342900" marL="342900">
              <a:buAutoNum type="arabicPeriod"/>
            </a:pPr>
            <a:r>
              <a:rPr b="1"/>
              <a:t>Ambassadeur de France — déjeuner</a:t>
            </a:r>
            <a:r>
              <a:rPr/>
              <a:t> · 13h00</a:t>
            </a:r>
          </a:p>
          <a:p>
            <a:pPr lvl="0" indent="0" marL="0">
              <a:buNone/>
            </a:pPr>
            <a:r>
              <a:rPr/>
              <a:t>Clic sur une carte → </a:t>
            </a:r>
            <a:r>
              <a:rPr>
                <a:latin typeface="Courier"/>
              </a:rPr>
              <a:t>/decisions?highlight=&lt;card-id&gt;</a:t>
            </a:r>
            <a:r>
              <a:rPr/>
              <a:t> (vue liste + détail). Depuis là : </a:t>
            </a:r>
            <a:r>
              <a:rPr>
                <a:latin typeface="Courier"/>
              </a:rPr>
              <a:t>Voir l'article</a:t>
            </a:r>
            <a:r>
              <a:rPr/>
              <a:t> · </a:t>
            </a:r>
            <a:r>
              <a:rPr>
                <a:latin typeface="Courier"/>
              </a:rPr>
              <a:t>Ouvrir le dossier Zone Nord</a:t>
            </a:r>
            <a:r>
              <a:rPr/>
              <a:t> · </a:t>
            </a:r>
            <a:r>
              <a:rPr>
                <a:latin typeface="Courier"/>
              </a:rPr>
              <a:t>Arbitrer les options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Status : [PASS post-deploy]</a:t>
            </a:r>
            <a:r>
              <a:rPr/>
              <a:t> — drill-down arbitrages câblé (commit </a:t>
            </a:r>
            <a:r>
              <a:rPr>
                <a:latin typeface="Courier"/>
              </a:rPr>
              <a:t>21f74531</a:t>
            </a:r>
            <a:r>
              <a:rPr/>
              <a:t>).</a:t>
            </a:r>
          </a:p>
        </p:txBody>
      </p:sp>
      <p:pic>
        <p:nvPicPr>
          <p:cNvPr descr="status-screenshots/2026-05-25-demo-eve/05-cockpit-arbitrag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3 sujets à arbitrer · badge AYA PRÊT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 2 — Scénario 1 · Drill Nord / Centre Drones Napié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Durée cible : 5 min · 6 étapes · fil rouge </a:t>
            </a:r>
            <a:r>
              <a:rPr b="1"/>
              <a:t>Centre International de Formation aux Métiers des Drones, Napié (Poro)</a:t>
            </a:r>
            <a:r>
              <a:rPr/>
              <a:t> — chantier ~120 j de retard, composants Aerostar Dynamics bloqués à Vridi.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S1.1 · Pourquoi le Nord est tendu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pourquoi la situation Nord est-elle tendue ?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Cockpit → chip rouge </a:t>
            </a:r>
            <a:r>
              <a:rPr b="1"/>
              <a:t>Zone Nord · Tendue</a:t>
            </a:r>
            <a:r>
              <a:rPr/>
              <a:t> (header) → carte recentrée Nord + prompt </a:t>
            </a:r>
            <a:r>
              <a:rPr>
                <a:latin typeface="Courier"/>
              </a:rPr>
              <a:t>explain_why</a:t>
            </a:r>
            <a:r>
              <a:rPr/>
              <a:t> injecté.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Drill causal niveau 1 (narratif Napié / Aerostar / Vridi / 120 j) - Navigation Stratégie · focus zone Nord - Bouton </a:t>
            </a:r>
            <a:r>
              <a:rPr b="1"/>
              <a:t>Ouvrir le dossier Zone Nord</a:t>
            </a:r>
            <a:r>
              <a:rPr/>
              <a:t> (bannière AYA)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aya.explain_why</a:t>
            </a:r>
            <a:r>
              <a:rPr/>
              <a:t> </a:t>
            </a:r>
            <a:r>
              <a:rPr>
                <a:latin typeface="Courier"/>
              </a:rPr>
              <a:t>Resolver : conf 0.95 (canonique) · seuil 0.78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S1.2 · Montre le PV douanes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ouvre le PV douanes.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Stratégie panel maritime → chip </a:t>
            </a:r>
            <a:r>
              <a:rPr b="1"/>
              <a:t>PV douanes 18 mai</a:t>
            </a:r>
            <a:r>
              <a:rPr/>
              <a:t> sous la fiche cargo → drawer </a:t>
            </a:r>
            <a:r>
              <a:rPr>
                <a:latin typeface="Courier"/>
              </a:rPr>
              <a:t>document_preview</a:t>
            </a:r>
            <a:r>
              <a:rPr/>
              <a:t>, page 2 OCR surlignée.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Drawer </a:t>
            </a:r>
            <a:r>
              <a:rPr>
                <a:latin typeface="Courier"/>
              </a:rPr>
              <a:t>document_preview</a:t>
            </a:r>
            <a:r>
              <a:rPr/>
              <a:t> · target </a:t>
            </a:r>
            <a:r>
              <a:rPr>
                <a:latin typeface="Courier"/>
              </a:rPr>
              <a:t>proces-verbal-douanes-non-conformite-2026-05-18</a:t>
            </a:r>
            <a:r>
              <a:rPr/>
              <a:t> - Page 2 surlignée (passages OCR cités) - Bouton </a:t>
            </a:r>
            <a:r>
              <a:rPr b="1"/>
              <a:t>Télécharger PDF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aya.show_customs_record</a:t>
            </a:r>
            <a:r>
              <a:rPr/>
              <a:t> </a:t>
            </a:r>
            <a:r>
              <a:rPr>
                <a:latin typeface="Courier"/>
              </a:rPr>
              <a:t>Resolver : conf 1.04 (probe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  <p:pic>
        <p:nvPicPr>
          <p:cNvPr descr="status-screenshots/2026-05-25-demo-eve/15-drawer-pv-douan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Drawer PV douanes · page 2 OCR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Légende : capture pré-deploy montre fallback </a:t>
            </a:r>
            <a:r>
              <a:rPr sz="2000" i="1">
                <a:latin typeface="Courier"/>
              </a:rPr>
              <a:t>workspace_map_not_found</a:t>
            </a:r>
            <a:r>
              <a:rPr sz="2000" i="1"/>
              <a:t>. Post-deploy HEAD </a:t>
            </a:r>
            <a:r>
              <a:rPr sz="2000" i="1">
                <a:latin typeface="Courier"/>
              </a:rPr>
              <a:t>9d0f8012</a:t>
            </a:r>
            <a:r>
              <a:rPr sz="2000" i="1"/>
              <a:t> : le drawer s’ouvre correctement (probe </a:t>
            </a:r>
            <a:r>
              <a:rPr sz="2000" i="1">
                <a:latin typeface="Courier"/>
              </a:rPr>
              <a:t>aya.show_customs_record</a:t>
            </a:r>
            <a:r>
              <a:rPr sz="2000" i="1"/>
              <a:t> PASS conf 1.04).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S1.3 · Focus zone Nord + projet Napié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focus sur la zone Nord et le projet Napié.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Cockpit → bouton </a:t>
            </a:r>
            <a:r>
              <a:rPr b="1"/>
              <a:t>Brief opérationnel · Projet sensible Nord</a:t>
            </a:r>
            <a:r>
              <a:rPr/>
              <a:t> → </a:t>
            </a:r>
            <a:r>
              <a:rPr>
                <a:latin typeface="Courier"/>
              </a:rPr>
              <a:t>/strategie?focus=zone-nord&amp;highlight=proj-drone-centre-napie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Recadrage carte Korhogo / Poro - Surbrillance projet </a:t>
            </a:r>
            <a:r>
              <a:rPr>
                <a:latin typeface="Courier"/>
              </a:rPr>
              <a:t>proj-drone-centre-napie</a:t>
            </a:r>
            <a:r>
              <a:rPr/>
              <a:t> (Centre Drones, 100 M USD) - Étiquette projet ouverte avec lien article Abidjan.net (juillet 2025)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aya.focus_zone_with_project</a:t>
            </a:r>
            <a:r>
              <a:rPr/>
              <a:t> </a:t>
            </a:r>
            <a:r>
              <a:rPr>
                <a:latin typeface="Courier"/>
              </a:rPr>
              <a:t>Resolver : conf 0.88 (probe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  <p:pic>
        <p:nvPicPr>
          <p:cNvPr descr="status-screenshots/2026-05-25-postdeploy/19-aya-focus-nord-napi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350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Carte stratégie · focus zone Nord + projet Centre Drones Napié (briefing opérationnel ouvert)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S1.4 · Cargo MV Atlantic Trader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montre le cargo Atlantic Trader.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Carte preview cockpit → </a:t>
            </a:r>
            <a:r>
              <a:rPr b="1"/>
              <a:t>clic pin violet MV Atlantic Trader</a:t>
            </a:r>
            <a:r>
              <a:rPr/>
              <a:t> </a:t>
            </a:r>
            <a:r>
              <a:rPr i="1"/>
              <a:t>(ou)</a:t>
            </a:r>
            <a:r>
              <a:rPr/>
              <a:t> bouton </a:t>
            </a:r>
            <a:r>
              <a:rPr b="1"/>
              <a:t>Port Vridi · webcam demo</a:t>
            </a:r>
            <a:r>
              <a:rPr/>
              <a:t> (légende carte) </a:t>
            </a:r>
            <a:r>
              <a:rPr i="1"/>
              <a:t>(ou)</a:t>
            </a:r>
            <a:r>
              <a:rPr/>
              <a:t> FLUX TERRAIN → </a:t>
            </a:r>
            <a:r>
              <a:rPr b="1"/>
              <a:t>APM Apapa Gate #1</a:t>
            </a:r>
            <a:r>
              <a:rPr/>
              <a:t> (badge </a:t>
            </a:r>
            <a:r>
              <a:rPr>
                <a:latin typeface="Courier"/>
              </a:rPr>
              <a:t>Port Vridi · cargo demo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Vignette webcam </a:t>
            </a:r>
            <a:r>
              <a:rPr b="1"/>
              <a:t>APM Apapa Gate #1</a:t>
            </a:r>
            <a:r>
              <a:rPr/>
              <a:t> (snapshot live) - Panel maritime · AIS pin · cargo </a:t>
            </a:r>
            <a:r>
              <a:rPr>
                <a:latin typeface="Courier"/>
              </a:rPr>
              <a:t>cargo-abidjan-supply-001</a:t>
            </a:r>
            <a:r>
              <a:rPr/>
              <a:t> (composants Aerostar Dynamics) - Proposition AYA : </a:t>
            </a:r>
            <a:r>
              <a:rPr i="1"/>
              <a:t>« Voir le PV des douanes ? »</a:t>
            </a:r>
            <a:r>
              <a:rPr/>
              <a:t> → enchaîne S1.2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aya.show_vessel_evidence</a:t>
            </a:r>
            <a:r>
              <a:rPr/>
              <a:t> </a:t>
            </a:r>
            <a:r>
              <a:rPr>
                <a:latin typeface="Courier"/>
              </a:rPr>
              <a:t>Resolver : conf 1.05 (probe post-deploy — variante</a:t>
            </a:r>
            <a:r>
              <a:rPr/>
              <a:t>explique le cargo</a:t>
            </a:r>
            <a:r>
              <a:rPr>
                <a:latin typeface="Courier"/>
              </a:rPr>
              <a:t>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  <a:r>
              <a:rPr/>
              <a:t> · 16 vessels AIS confirmés · webcam APM 200 image/jpeg</a:t>
            </a:r>
          </a:p>
        </p:txBody>
      </p:sp>
      <p:pic>
        <p:nvPicPr>
          <p:cNvPr descr="status-screenshots/2026-05-25-postdeploy/17-aya-vessel-carg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06400"/>
            <a:ext cx="51054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Mission Control · carte + webcam APM Apapa Gate #1 (cargo demo Port Vridi) — 16/16 flux terrain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S1.5 · Situation au port (vue d’ensemble maritime)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montre la situation au port.</a:t>
            </a:r>
            <a:r>
              <a:rPr/>
              <a:t> </a:t>
            </a:r>
            <a:r>
              <a:rPr i="1"/>
              <a:t>(action nouvelle — commit </a:t>
            </a:r>
            <a:r>
              <a:rPr i="1">
                <a:latin typeface="Courier"/>
              </a:rPr>
              <a:t>6335d460</a:t>
            </a:r>
            <a:r>
              <a:rPr i="1"/>
              <a:t>)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Stratégie → bouton </a:t>
            </a:r>
            <a:r>
              <a:rPr b="1"/>
              <a:t>Mode live · Maritime</a:t>
            </a:r>
            <a:r>
              <a:rPr/>
              <a:t> → grille webcams + panel AIS Vridi.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Vue port Abidjan (map zoomée Vridi) - Panel maritime ouvert · liste 16 navires - Webcam APM Apapa en tête de la grille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aya.show_maritime_traffic</a:t>
            </a:r>
            <a:r>
              <a:rPr/>
              <a:t> </a:t>
            </a:r>
            <a:r>
              <a:rPr>
                <a:latin typeface="Courier"/>
              </a:rPr>
              <a:t>Resolver : conf 1.05 (probe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  <a:r>
              <a:rPr/>
              <a:t> — action vague-1.5 confirmée déployée</a:t>
            </a:r>
          </a:p>
        </p:txBody>
      </p:sp>
      <p:pic>
        <p:nvPicPr>
          <p:cNvPr descr="status-screenshots/2026-05-25-postdeploy/16-aya-port-webc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06400"/>
            <a:ext cx="51054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Mission Control · Maritime / douanes — Port d’Abidjan Vridi + brief opérationnel Nord 72 % (post-deploy)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S1.6 · Mail dérogation douanière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rédige le courrier de dédouanement pour Atlantic Trader.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Drawer PV douanes → bouton </a:t>
            </a:r>
            <a:r>
              <a:rPr b="1"/>
              <a:t>Préparer email dérogation</a:t>
            </a:r>
            <a:r>
              <a:rPr/>
              <a:t> (proposal </a:t>
            </a:r>
            <a:r>
              <a:rPr>
                <a:latin typeface="Courier"/>
              </a:rPr>
              <a:t>propose-customs-derogation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Drawer email </a:t>
            </a:r>
            <a:r>
              <a:rPr>
                <a:latin typeface="Courier"/>
              </a:rPr>
              <a:t>customs_derogation</a:t>
            </a:r>
            <a:r>
              <a:rPr/>
              <a:t> · advisory-only - Destinataire : Direction Générale des Douanes (DGD Abidjan) - Corps pré-rédigé : distingue cargo drones ≠ lot non conforme · cite Abidjan.net + PV 18/05 - Bandeau </a:t>
            </a:r>
            <a:r>
              <a:rPr b="1"/>
              <a:t>« Proposition Cabinet — aucun envoi automatique »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aya.draft_customs_email</a:t>
            </a:r>
            <a:r>
              <a:rPr/>
              <a:t> </a:t>
            </a:r>
            <a:r>
              <a:rPr>
                <a:latin typeface="Courier"/>
              </a:rPr>
              <a:t>Resolver : conf 0.94 (probe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  <p:pic>
        <p:nvPicPr>
          <p:cNvPr descr="status-screenshots/2026-05-25-postdeploy/18-aya-mail-derog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AYA · brouillon mail dérogation douanière (reasoning trail visible, structure « Objet · Monsieur/Madame le Chef des Douanes »)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Légende : capture post-deploy — AYA streame le brouillon advisory (structure formelle, citations à compléter par le Cabinet). Drawer email dédié </a:t>
            </a:r>
            <a:r>
              <a:rPr sz="2000" i="1">
                <a:latin typeface="Courier"/>
              </a:rPr>
              <a:t>customs_derogation</a:t>
            </a:r>
            <a:r>
              <a:rPr sz="2000" i="1"/>
              <a:t> activable via le bouton « Préparer email dérogation » du drawer PV (plan B clic).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Récap S1 · Drill Nord — verdict 6 / 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  <a:gridCol w="165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Étape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 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Probe post-deploy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 B clic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S1.1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Pourquoi Nord tendue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aya.explain_why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Chip Zone Nord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S1.2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PV douanes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aya.show_customs_record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1.04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Chip PV (panel maritime)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S1.3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Focus Nord + Napié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aya.focus_zone_with_project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Bouton Brief opérationnel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S1.4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Cargo Atlantic Trader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aya.show_vessel_evidence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1.05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Pin carte / Webcam demo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Situation au 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aya.show_maritime_traffic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1.05 (NOUVEAU)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 live maritime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S1.6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Mail dérogation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aya.draft_customs_email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0.94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Bouton drawer PV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Verdict S1 : 6 / 6 PASS post-deploy · 6 / 6 plan B clic confirmé</a:t>
            </a:r>
          </a:p>
          <a:p>
            <a:pPr lvl="0" indent="0" marL="1270000">
              <a:buNone/>
            </a:pPr>
            <a:r>
              <a:rPr sz="2000" i="1"/>
              <a:t>« En cinq minutes, AYA est passée du signal territorial à la preuve douanière, avec une proposition d’action sourcée — sans exécuter à la place du Cabinet. »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 3 — Transition · L’agenda reprend le fil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T.1 · Prochain rendez-vous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quel est mon prochain rendez-vous ?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Sidebar </a:t>
            </a:r>
            <a:r>
              <a:rPr b="1"/>
              <a:t>Agenda</a:t>
            </a:r>
            <a:r>
              <a:rPr/>
              <a:t> → carte </a:t>
            </a:r>
            <a:r>
              <a:rPr b="1"/>
              <a:t>Préfet Nawa · 11h00 Soubré</a:t>
            </a:r>
            <a:r>
              <a:rPr/>
              <a:t> dans la timeline du 25 mai.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Navigation </a:t>
            </a:r>
            <a:r>
              <a:rPr>
                <a:latin typeface="Courier"/>
              </a:rPr>
              <a:t>/hypervisor/mission-room/agenda</a:t>
            </a:r>
            <a:r>
              <a:rPr/>
              <a:t> - Highlight event </a:t>
            </a:r>
            <a:r>
              <a:rPr>
                <a:latin typeface="Courier"/>
              </a:rPr>
              <a:t>evt-prefet-nawa</a:t>
            </a:r>
            <a:r>
              <a:rPr/>
              <a:t> (id </a:t>
            </a:r>
            <a:r>
              <a:rPr>
                <a:latin typeface="Courier"/>
              </a:rPr>
              <a:t>5f3ccd49-9877-445a-a385-cabf61a784b4</a:t>
            </a:r>
            <a:r>
              <a:rPr/>
              <a:t>) - Drawer détail · participants Cabinet · contexte rapport préfectoral 10/05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aya.open_next_meeting</a:t>
            </a:r>
            <a:r>
              <a:rPr/>
              <a:t> </a:t>
            </a:r>
            <a:r>
              <a:rPr>
                <a:latin typeface="Courier"/>
              </a:rPr>
              <a:t>Resolver : conf 0.89 (smoke probe)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  <p:pic>
        <p:nvPicPr>
          <p:cNvPr descr="status-screenshots/2026-05-25-demo-eve/08-agend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350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Agenda · 6 events du 25/05 · Préfet Nawa 11h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 4 — Scénario 2 · Préfet Nawa / diversification cacao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Durée cible : 7 min · 9 étapes · enjeu </a:t>
            </a:r>
            <a:r>
              <a:rPr b="1"/>
              <a:t>diversification cacao + transformation locale</a:t>
            </a:r>
            <a:r>
              <a:rPr/>
              <a:t> · le VP prépare l’arbitrage avant la rencontre du Préfet de Nawa à Soubré (11h00).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S2.1 · Résume nos derniers échanges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donne-moi le résumé du rapport préfet.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Agenda → event Nawa → bouton </a:t>
            </a:r>
            <a:r>
              <a:rPr b="1"/>
              <a:t>« Synthèse AYA »</a:t>
            </a:r>
            <a:r>
              <a:rPr/>
              <a:t> (chip dans </a:t>
            </a:r>
            <a:r>
              <a:rPr>
                <a:latin typeface="Courier"/>
              </a:rPr>
              <a:t>agenda-timeline-panel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Synthèse inline structurée · région Nawa / Soubré · filière cacao - Proposition automatique : </a:t>
            </a:r>
            <a:r>
              <a:rPr i="1"/>
              <a:t>« Préconisations cacao ? »</a:t>
            </a:r>
            <a:r>
              <a:rPr/>
              <a:t> - Awaiting bucket workspace · </a:t>
            </a:r>
            <a:r>
              <a:rPr>
                <a:latin typeface="Courier"/>
              </a:rPr>
              <a:t>key=cacao_summary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aya.summarize_last_exchanges</a:t>
            </a:r>
            <a:r>
              <a:rPr/>
              <a:t> </a:t>
            </a:r>
            <a:r>
              <a:rPr>
                <a:latin typeface="Courier"/>
              </a:rPr>
              <a:t>Resolver : conf 0.92 (QA S2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S2.2 · Résume le rapport Préfet Nawa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résume le rapport Préfet Nawa.</a:t>
            </a:r>
          </a:p>
          <a:p>
            <a:pPr lvl="0" indent="0" marL="0">
              <a:buNone/>
            </a:pPr>
            <a:r>
              <a:rPr b="1"/>
              <a:t>Pas de plan B clic dédié</a:t>
            </a:r>
            <a:r>
              <a:rPr/>
              <a:t> — la trame s’appuie sur S2.1 / chip Synthèse AYA pour la lecture inline. Document complet ~70 p. (</a:t>
            </a:r>
            <a:r>
              <a:rPr>
                <a:latin typeface="Courier"/>
              </a:rPr>
              <a:t>report-prefet-nawa-2026-05-10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Même handler que S2.1, mais déclenche le skill </a:t>
            </a:r>
            <a:r>
              <a:rPr>
                <a:latin typeface="Courier"/>
              </a:rPr>
              <a:t>summarize_long_document_v1</a:t>
            </a:r>
            <a:r>
              <a:rPr/>
              <a:t> (lecture longue) - Synthèse texte structurée (pas de drawer </a:t>
            </a:r>
            <a:r>
              <a:rPr>
                <a:latin typeface="Courier"/>
              </a:rPr>
              <a:t>document_preview</a:t>
            </a:r>
            <a:r>
              <a:rPr/>
              <a:t> ici) - Sources citées en bas de bulle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aya.summarize_last_exchanges</a:t>
            </a:r>
            <a:r>
              <a:rPr/>
              <a:t> </a:t>
            </a:r>
            <a:r>
              <a:rPr i="1"/>
              <a:t>(handler intègre </a:t>
            </a:r>
            <a:r>
              <a:rPr i="1">
                <a:latin typeface="Courier"/>
              </a:rPr>
              <a:t>summarize_long_document_v1</a:t>
            </a:r>
            <a:r>
              <a:rPr i="1"/>
              <a:t>)</a:t>
            </a:r>
            <a:r>
              <a:rPr/>
              <a:t> </a:t>
            </a:r>
            <a:r>
              <a:rPr>
                <a:latin typeface="Courier"/>
              </a:rPr>
              <a:t>Resolver : conf 0.91 (QA S2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  <a:r>
              <a:rPr/>
              <a:t> · </a:t>
            </a:r>
            <a:r>
              <a:rPr>
                <a:latin typeface="Courier"/>
              </a:rPr>
              <a:t>[AYA only]</a:t>
            </a:r>
            <a:r>
              <a:rPr/>
              <a:t> </a:t>
            </a:r>
            <a:r>
              <a:rPr i="1"/>
              <a:t>(synthèse inline, pas de drawer)</a:t>
            </a:r>
          </a:p>
        </p:txBody>
      </p:sp>
      <p:pic>
        <p:nvPicPr>
          <p:cNvPr descr="status-screenshots/2026-05-25-demo-eve/09-agenda-meeting-detai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350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Agenda detail · Préfet Nawa · ordre du jour vierge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S2.3 · Recommande un plan cacao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donne-moi des préconisations sur le cacao.</a:t>
            </a:r>
          </a:p>
          <a:p>
            <a:pPr lvl="0" indent="0" marL="0">
              <a:buNone/>
            </a:pPr>
            <a:r>
              <a:rPr b="1"/>
              <a:t>Pas de plan B clic en démo</a:t>
            </a:r>
            <a:r>
              <a:rPr/>
              <a:t> — skill </a:t>
            </a:r>
            <a:r>
              <a:rPr>
                <a:latin typeface="Courier"/>
              </a:rPr>
              <a:t>generate_recommendations_v1</a:t>
            </a:r>
            <a:r>
              <a:rPr/>
              <a:t> invoqué par AYA. </a:t>
            </a:r>
            <a:r>
              <a:rPr i="1"/>
              <a:t>(Backlog post-démo : tuile « Préconisations cacao » sur la fiche event.)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Navigation </a:t>
            </a:r>
            <a:r>
              <a:rPr>
                <a:latin typeface="Courier"/>
              </a:rPr>
              <a:t>/hypervisor/mission-room/decisions?focus=package-cacao-diversification</a:t>
            </a:r>
            <a:r>
              <a:rPr/>
              <a:t> - 3 leviers chiffrés : 1. </a:t>
            </a:r>
            <a:r>
              <a:rPr b="1"/>
              <a:t>Petite industrie transformation</a:t>
            </a:r>
            <a:r>
              <a:rPr/>
              <a:t> ~4,2 Mds FCFA · 78 % conf. 2. </a:t>
            </a:r>
            <a:r>
              <a:rPr b="1"/>
              <a:t>Coopérative régionale</a:t>
            </a:r>
            <a:r>
              <a:rPr/>
              <a:t> 3. </a:t>
            </a:r>
            <a:r>
              <a:rPr b="1"/>
              <a:t>Plan mixte PPP</a:t>
            </a:r>
            <a:r>
              <a:rPr/>
              <a:t> - Sources : guide diversification anacarde · Banque mondiale · EUDR - Awaiting bucket : </a:t>
            </a:r>
            <a:r>
              <a:rPr>
                <a:latin typeface="Courier"/>
              </a:rPr>
              <a:t>strategic_report</a:t>
            </a:r>
            <a:r>
              <a:rPr/>
              <a:t> armé (préparation S2.4)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aya.recommend_cacao</a:t>
            </a:r>
            <a:r>
              <a:rPr/>
              <a:t> </a:t>
            </a:r>
            <a:r>
              <a:rPr>
                <a:latin typeface="Courier"/>
              </a:rPr>
              <a:t>Resolver : conf 1.06 (probe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  <a:r>
              <a:rPr/>
              <a:t> · </a:t>
            </a:r>
            <a:r>
              <a:rPr>
                <a:latin typeface="Courier"/>
              </a:rPr>
              <a:t>[AYA only]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S2.4 · Génère le rapport stratégique complet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génère le rapport complet.</a:t>
            </a:r>
          </a:p>
          <a:p>
            <a:pPr lvl="0" indent="0" marL="0">
              <a:buNone/>
            </a:pPr>
            <a:r>
              <a:rPr b="1"/>
              <a:t>Pas de plan B clic en démo</a:t>
            </a:r>
            <a:r>
              <a:rPr/>
              <a:t> — skill </a:t>
            </a:r>
            <a:r>
              <a:rPr>
                <a:latin typeface="Courier"/>
              </a:rPr>
              <a:t>draft_strategic_report</a:t>
            </a:r>
            <a:r>
              <a:rPr/>
              <a:t> invoqué par AYA. </a:t>
            </a:r>
            <a:r>
              <a:rPr i="1"/>
              <a:t>(Backlog : action « Générer rapport » dans </a:t>
            </a:r>
            <a:r>
              <a:rPr i="1">
                <a:latin typeface="Courier"/>
              </a:rPr>
              <a:t>/decisions?focus=package-cacao-diversification</a:t>
            </a:r>
            <a:r>
              <a:rPr i="1"/>
              <a:t>.)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Drawer PDF stratégique cacao · ~12 pages · WeasyPrint synchrone (~1.2 s) - URL signée ObjectStore · bouton </a:t>
            </a:r>
            <a:r>
              <a:rPr b="1"/>
              <a:t>Télécharger</a:t>
            </a:r>
            <a:r>
              <a:rPr/>
              <a:t> - </a:t>
            </a:r>
            <a:r>
              <a:rPr>
                <a:latin typeface="Courier"/>
              </a:rPr>
              <a:t>audit_event = report.strategic.generated</a:t>
            </a:r>
            <a:r>
              <a:rPr/>
              <a:t> - Bandeau advisory </a:t>
            </a:r>
            <a:r>
              <a:rPr>
                <a:latin typeface="Courier"/>
              </a:rPr>
              <a:t>requires_validation=true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aya.draft_strategic_report</a:t>
            </a:r>
            <a:r>
              <a:rPr/>
              <a:t> </a:t>
            </a:r>
            <a:r>
              <a:rPr>
                <a:latin typeface="Courier"/>
              </a:rPr>
              <a:t>Resolver : conf 1.04 (smoke probe)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  <a:r>
              <a:rPr/>
              <a:t> · </a:t>
            </a:r>
            <a:r>
              <a:rPr>
                <a:latin typeface="Courier"/>
              </a:rPr>
              <a:t>[AYA only]</a:t>
            </a:r>
          </a:p>
          <a:p>
            <a:pPr lvl="0" indent="0" marL="1270000">
              <a:buNone/>
            </a:pPr>
            <a:r>
              <a:rPr sz="2000" i="1"/>
              <a:t>Note narratif : le PDF stratégique fait 12 p. (~15 KB) — c’est une </a:t>
            </a:r>
            <a:r>
              <a:rPr sz="2000" b="1" i="1"/>
              <a:t>synthèse cacao</a:t>
            </a:r>
            <a:r>
              <a:rPr sz="2000" i="1"/>
              <a:t>, pas le rapport préfet de 70 p. Aligner la phrase de présentation : « rapport de diversification cacao prêt pour validation advisory ».</a:t>
            </a:r>
          </a:p>
        </p:txBody>
      </p:sp>
      <p:pic>
        <p:nvPicPr>
          <p:cNvPr descr="status-screenshots/2026-05-25-postdeploy/20-aya-rapport-strategiq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35000"/>
            <a:ext cx="5105400" cy="300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Page décisions · package cacao-diversification — 3 arbitrages matin · barres comparaison option terrain · bandeau « Brouillon advisory »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S2.5 · Mets à jour l’ODJ : cacao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ajoute le point cacao à l'ordre du jour.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Agenda → event Préfet Nawa → page meeting → </a:t>
            </a:r>
            <a:r>
              <a:rPr b="1"/>
              <a:t>form « Proposer un point ODJ »</a:t>
            </a:r>
            <a:r>
              <a:rPr/>
              <a:t> (champ titre + bouton </a:t>
            </a:r>
            <a:r>
              <a:rPr b="1"/>
              <a:t>Proposer modification</a:t>
            </a:r>
            <a:r>
              <a:rPr/>
              <a:t>). Endpoint : </a:t>
            </a:r>
            <a:r>
              <a:rPr>
                <a:latin typeface="Courier"/>
              </a:rPr>
              <a:t>POST /api/v1/meetings/{event_id}/agenda-patch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Drawer </a:t>
            </a:r>
            <a:r>
              <a:rPr>
                <a:latin typeface="Courier"/>
              </a:rPr>
              <a:t>calendar_agenda_patch</a:t>
            </a:r>
            <a:r>
              <a:rPr/>
              <a:t> · target </a:t>
            </a:r>
            <a:r>
              <a:rPr>
                <a:latin typeface="Courier"/>
              </a:rPr>
              <a:t>evt-prefet-nawa</a:t>
            </a:r>
            <a:r>
              <a:rPr/>
              <a:t> - Proposition d’item </a:t>
            </a:r>
            <a:r>
              <a:rPr i="1"/>
              <a:t>« Point cacao — diversification anacarde (proposition AYA) »</a:t>
            </a:r>
            <a:r>
              <a:rPr/>
              <a:t> - </a:t>
            </a:r>
            <a:r>
              <a:rPr>
                <a:latin typeface="Courier"/>
              </a:rPr>
              <a:t>pending_agenda_patch</a:t>
            </a:r>
            <a:r>
              <a:rPr/>
              <a:t> staged · awaiting </a:t>
            </a:r>
            <a:r>
              <a:rPr>
                <a:latin typeface="Courier"/>
              </a:rPr>
              <a:t>calendar_agenda_patch</a:t>
            </a:r>
            <a:r>
              <a:rPr/>
              <a:t> - Bannière orange </a:t>
            </a:r>
            <a:r>
              <a:rPr b="1"/>
              <a:t>« Modification ODJ proposée · AYA »</a:t>
            </a:r>
            <a:r>
              <a:rPr/>
              <a:t> sur la fiche event - </a:t>
            </a:r>
            <a:r>
              <a:rPr b="1"/>
              <a:t>PAS</a:t>
            </a:r>
            <a:r>
              <a:rPr/>
              <a:t> d’écriture immédiate sur </a:t>
            </a:r>
            <a:r>
              <a:rPr>
                <a:latin typeface="Courier"/>
              </a:rPr>
              <a:t>evt-prefet-nawa.metadata.agenda_items</a:t>
            </a:r>
            <a:r>
              <a:rPr/>
              <a:t> (garde de confirmation)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aya.update_meeting_agenda</a:t>
            </a:r>
            <a:r>
              <a:rPr/>
              <a:t> </a:t>
            </a:r>
            <a:r>
              <a:rPr>
                <a:latin typeface="Courier"/>
              </a:rPr>
              <a:t>Resolver : conf 0.92 (probe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  <p:pic>
        <p:nvPicPr>
          <p:cNvPr descr="status-screenshots/2026-05-25-postdeploy/21-aya-odj-caca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350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Meeting Préfet Nawa · chrono live · form « Proposer un point ODJ » (placeholder « Point cacao - diversification anacarde ») prêt à recevoir la proposition AYA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S2.6 · Valide la proposition ODJ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Oui, valide.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Bannière orange </a:t>
            </a:r>
            <a:r>
              <a:rPr b="1"/>
              <a:t>« Modification ODJ proposée · AYA »</a:t>
            </a:r>
            <a:r>
              <a:rPr/>
              <a:t> → bouton </a:t>
            </a:r>
            <a:r>
              <a:rPr b="1"/>
              <a:t>Valider modification</a:t>
            </a:r>
            <a:r>
              <a:rPr/>
              <a:t> (sur la fiche event ou page meeting). Endpoint : </a:t>
            </a:r>
            <a:r>
              <a:rPr>
                <a:latin typeface="Courier"/>
              </a:rPr>
              <a:t>POST /api/v1/meetings/{event_id}/agenda-patch/confirm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Resolver brut matche </a:t>
            </a:r>
            <a:r>
              <a:rPr>
                <a:latin typeface="Courier"/>
              </a:rPr>
              <a:t>voice.confirm_yes</a:t>
            </a:r>
            <a:r>
              <a:rPr/>
              <a:t> (conf 0.88) - Traduction via awaiting bucket : </a:t>
            </a:r>
            <a:r>
              <a:rPr>
                <a:latin typeface="Courier"/>
              </a:rPr>
              <a:t>voice.confirm_yes → aya.confirm_agenda_patch</a:t>
            </a:r>
            <a:r>
              <a:rPr/>
              <a:t> - Patch appliqué · </a:t>
            </a:r>
            <a:r>
              <a:rPr>
                <a:latin typeface="Courier"/>
              </a:rPr>
              <a:t>evt-prefet-nawa.metadata.agenda_items</a:t>
            </a:r>
            <a:r>
              <a:rPr/>
              <a:t> mis à jour - Badge </a:t>
            </a:r>
            <a:r>
              <a:rPr b="1"/>
              <a:t>« Ajouté par AYA »</a:t>
            </a:r>
            <a:r>
              <a:rPr/>
              <a:t> · historique versionné - </a:t>
            </a:r>
            <a:r>
              <a:rPr>
                <a:latin typeface="Courier"/>
              </a:rPr>
              <a:t>pending_agenda_patch = null</a:t>
            </a:r>
            <a:r>
              <a:rPr/>
              <a:t> (cleared)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Actions : voice.confirm_yes → aya.confirm_agenda_patch</a:t>
            </a:r>
            <a:r>
              <a:rPr/>
              <a:t> </a:t>
            </a:r>
            <a:r>
              <a:rPr>
                <a:latin typeface="Courier"/>
              </a:rPr>
              <a:t>Resolver : conf 0.88 + awaiting bucket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  <a:r>
              <a:rPr/>
              <a:t> — guard </a:t>
            </a:r>
            <a:r>
              <a:rPr>
                <a:latin typeface="Courier"/>
              </a:rPr>
              <a:t>_CONFIRM_MAX_TOKENS=4</a:t>
            </a:r>
            <a:r>
              <a:rPr/>
              <a:t> actif (</a:t>
            </a:r>
            <a:r>
              <a:rPr>
                <a:latin typeface="Courier"/>
              </a:rPr>
              <a:t>6335d460</a:t>
            </a:r>
            <a:r>
              <a:rPr/>
              <a:t>)</a:t>
            </a:r>
          </a:p>
          <a:p>
            <a:pPr lvl="0" indent="0" marL="1270000">
              <a:buNone/>
            </a:pPr>
            <a:r>
              <a:rPr sz="2000" i="1"/>
              <a:t>Garde-fou : ne jamais dire « OK » seul. Toujours « Oui, valide. » ou enchaîner sur un verbe.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S2.7 · Démarre la réunion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démarre la réunion.</a:t>
            </a:r>
            <a:r>
              <a:rPr/>
              <a:t> </a:t>
            </a:r>
            <a:r>
              <a:rPr i="1"/>
              <a:t>(variante : </a:t>
            </a:r>
            <a:r>
              <a:rPr i="1">
                <a:latin typeface="Courier"/>
              </a:rPr>
              <a:t>commence la réunion</a:t>
            </a:r>
            <a:r>
              <a:rPr i="1"/>
              <a:t>)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Agenda → event Préfet Nawa → bouton </a:t>
            </a:r>
            <a:r>
              <a:rPr b="1"/>
              <a:t>« Démarrer la réunion »</a:t>
            </a:r>
            <a:r>
              <a:rPr/>
              <a:t> sur la card. Endpoint : </a:t>
            </a:r>
            <a:r>
              <a:rPr>
                <a:latin typeface="Courier"/>
              </a:rPr>
              <a:t>POST /api/v1/meetings/{event_id}/start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Navigation </a:t>
            </a:r>
            <a:r>
              <a:rPr>
                <a:latin typeface="Courier"/>
              </a:rPr>
              <a:t>/hypervisor/mission-room/agenda/meeting/5f3ccd49…</a:t>
            </a:r>
            <a:r>
              <a:rPr/>
              <a:t> - </a:t>
            </a:r>
            <a:r>
              <a:rPr>
                <a:latin typeface="Courier"/>
              </a:rPr>
              <a:t>actions.current_meeting = evt-prefet-nawa</a:t>
            </a:r>
            <a:r>
              <a:rPr/>
              <a:t> persisté - UI bascule en </a:t>
            </a:r>
            <a:r>
              <a:rPr b="1"/>
              <a:t>mode meeting live</a:t>
            </a:r>
            <a:r>
              <a:rPr/>
              <a:t> · chronométrage · ODJ vertical - Bandeau </a:t>
            </a:r>
            <a:r>
              <a:rPr i="1"/>
              <a:t>« Mode meeting live · chaque arbitrage sera loggé dans le registre des décisions »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aya.start_meeting</a:t>
            </a:r>
            <a:r>
              <a:rPr/>
              <a:t> </a:t>
            </a:r>
            <a:r>
              <a:rPr>
                <a:latin typeface="Courier"/>
              </a:rPr>
              <a:t>Resolver : conf 1.02 (probe post-deploy, variante</a:t>
            </a:r>
            <a:r>
              <a:rPr/>
              <a:t>commence la réunion</a:t>
            </a:r>
            <a:r>
              <a:rPr>
                <a:latin typeface="Courier"/>
              </a:rPr>
              <a:t>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S2.8 · Acte décision option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décide option B.</a:t>
            </a:r>
            <a:r>
              <a:rPr/>
              <a:t> </a:t>
            </a:r>
            <a:r>
              <a:rPr i="1"/>
              <a:t>(variantes : </a:t>
            </a:r>
            <a:r>
              <a:rPr i="1">
                <a:latin typeface="Courier"/>
              </a:rPr>
              <a:t>valide l'option B</a:t>
            </a:r>
            <a:r>
              <a:rPr i="1"/>
              <a:t>, </a:t>
            </a:r>
            <a:r>
              <a:rPr i="1">
                <a:latin typeface="Courier"/>
              </a:rPr>
              <a:t>j'arbitre option B</a:t>
            </a:r>
            <a:r>
              <a:rPr i="1"/>
              <a:t>)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Meeting view → clic point ODJ </a:t>
            </a:r>
            <a:r>
              <a:rPr b="1"/>
              <a:t>« Cacao »</a:t>
            </a:r>
            <a:r>
              <a:rPr/>
              <a:t> → clic carte </a:t>
            </a:r>
            <a:r>
              <a:rPr b="1"/>
              <a:t>Option B</a:t>
            </a:r>
            <a:r>
              <a:rPr/>
              <a:t> → bouton </a:t>
            </a:r>
            <a:r>
              <a:rPr b="1"/>
              <a:t>Décider</a:t>
            </a:r>
            <a:r>
              <a:rPr/>
              <a:t> → modal rationale → </a:t>
            </a:r>
            <a:r>
              <a:rPr b="1"/>
              <a:t>Logger la décision</a:t>
            </a:r>
            <a:r>
              <a:rPr/>
              <a:t>. Endpoint : </a:t>
            </a:r>
            <a:r>
              <a:rPr>
                <a:latin typeface="Courier"/>
              </a:rPr>
              <a:t>POST /api/v1/meetings/{event_id}/decisions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Modal rationale · choix </a:t>
            </a:r>
            <a:r>
              <a:rPr>
                <a:latin typeface="Courier"/>
              </a:rPr>
              <a:t>option B = Diversification anacarde</a:t>
            </a:r>
            <a:r>
              <a:rPr/>
              <a:t> - Décision persistée · registre </a:t>
            </a:r>
            <a:r>
              <a:rPr>
                <a:latin typeface="Courier"/>
              </a:rPr>
              <a:t>meeting_decisions</a:t>
            </a:r>
            <a:r>
              <a:rPr/>
              <a:t> - </a:t>
            </a:r>
            <a:r>
              <a:rPr>
                <a:latin typeface="Courier"/>
              </a:rPr>
              <a:t>source_refs = [sentinel-ci-anacarde-diversification-v1, report-prefet-nawa-2026-05-10]</a:t>
            </a:r>
            <a:r>
              <a:rPr/>
              <a:t> - Frame SSE </a:t>
            </a:r>
            <a:r>
              <a:rPr>
                <a:latin typeface="Courier"/>
              </a:rPr>
              <a:t>assistant-navigate ?decision=&lt;id&gt;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aya.log_decision</a:t>
            </a:r>
            <a:r>
              <a:rPr/>
              <a:t> </a:t>
            </a:r>
            <a:r>
              <a:rPr>
                <a:latin typeface="Courier"/>
              </a:rPr>
              <a:t>Resolver : conf 0.89 (probe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S2.9 · Rappelle les décisions passées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Phrase AYA</a:t>
            </a:r>
            <a:r>
              <a:rPr/>
              <a:t> : </a:t>
            </a:r>
            <a:r>
              <a:rPr>
                <a:latin typeface="Courier"/>
              </a:rPr>
              <a:t>AYA, qu'avons-nous décidé la dernière fois ?</a:t>
            </a:r>
          </a:p>
          <a:p>
            <a:pPr lvl="0" indent="0" marL="0">
              <a:buNone/>
            </a:pPr>
            <a:r>
              <a:rPr b="1"/>
              <a:t>Plan B clic</a:t>
            </a:r>
            <a:r>
              <a:rPr/>
              <a:t> : Sidebar </a:t>
            </a:r>
            <a:r>
              <a:rPr b="1"/>
              <a:t>Arbitrages</a:t>
            </a:r>
            <a:r>
              <a:rPr/>
              <a:t> → bloc </a:t>
            </a:r>
            <a:r>
              <a:rPr b="1"/>
              <a:t>« Arbitrages loggés en mode meeting »</a:t>
            </a:r>
            <a:r>
              <a:rPr/>
              <a:t> </a:t>
            </a:r>
            <a:r>
              <a:rPr i="1"/>
              <a:t>(ou)</a:t>
            </a:r>
            <a:r>
              <a:rPr/>
              <a:t> meeting view → décisions inline.</a:t>
            </a:r>
          </a:p>
          <a:p>
            <a:pPr lvl="0" indent="0" marL="0">
              <a:buNone/>
            </a:pPr>
            <a:r>
              <a:rPr b="1"/>
              <a:t>Effet attendu</a:t>
            </a:r>
            <a:r>
              <a:rPr/>
              <a:t> : - Liste antéchronologique top-5 décisions cacao - La décision du jour (S2.8) en tête - 2 historiques de runs précédents (</a:t>
            </a:r>
            <a:r>
              <a:rPr>
                <a:latin typeface="Courier"/>
              </a:rPr>
              <a:t>2026-05-24T10:53</a:t>
            </a:r>
            <a:r>
              <a:rPr/>
              <a:t>, </a:t>
            </a:r>
            <a:r>
              <a:rPr>
                <a:latin typeface="Courier"/>
              </a:rPr>
              <a:t>09:35</a:t>
            </a:r>
            <a:r>
              <a:rPr/>
              <a:t>, </a:t>
            </a:r>
            <a:r>
              <a:rPr>
                <a:latin typeface="Courier"/>
              </a:rPr>
              <a:t>06:50</a:t>
            </a:r>
            <a:r>
              <a:rPr/>
              <a:t>) - Pas de side-effect navigation (réponse texte uniquement)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Action : aya.recall_past_decisions</a:t>
            </a:r>
            <a:r>
              <a:rPr/>
              <a:t> </a:t>
            </a:r>
            <a:r>
              <a:rPr>
                <a:latin typeface="Courier"/>
              </a:rPr>
              <a:t>Resolver : conf 1.06 (probe post-deploy)</a:t>
            </a:r>
            <a:r>
              <a:rPr/>
              <a:t> </a:t>
            </a:r>
            <a:r>
              <a:rPr>
                <a:latin typeface="Courier"/>
              </a:rPr>
              <a:t>Status : [PASS post-deploy]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Récap S2 · Préfet Nawa — verdict 9 / 9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  <a:gridCol w="165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Étape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 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Probe post-deploy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 B clic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Résume derniers échanges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aya.summarize_last_exchanges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Bouton Synthèse AYA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S2.2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Résume rapport Nawa (~70p)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aya.summarize_last_exchanges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0.91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[AYA only]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Préconisations cacao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aya.recommend_cacao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[AYA only]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S2.4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Rapport stratégique 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aya.draft_strategic_report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1.04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[AYA only]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Ajout point ODJ cacao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aya.update_meeting_agenda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 « Proposer un point 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S2.6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Validation ODJ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voice.confirm_yes → aya.confirm_agenda_patch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Bouton « Valider modification 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S2.7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Démarre la réunion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aya.start_meeting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1.02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Bouton « Démarrer la réunion 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S2.8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Décide option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aya.log_decision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0.89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Modal Décider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S2.9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Rappelle décisions passées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aya.recall_past_decisions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[PASS]</a:t>
                      </a:r>
                      <a:r>
                        <a:rPr/>
                        <a:t> conf 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Sidebar Arbitrages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Verdict S2 : 9 / 9 PASS post-deploy · 6 / 9 plan B clic confirmé · 3 / 9 </a:t>
            </a:r>
            <a:r>
              <a:rPr b="1">
                <a:latin typeface="Courier"/>
              </a:rPr>
              <a:t>[AYA only]</a:t>
            </a:r>
            <a:r>
              <a:rPr b="1"/>
              <a:t> (S2.2, S2.3, S2.4)</a:t>
            </a:r>
          </a:p>
          <a:p>
            <a:pPr lvl="0" indent="0" marL="1270000">
              <a:buNone/>
            </a:pPr>
            <a:r>
              <a:rPr sz="2000" i="1"/>
              <a:t>« De la lecture d’un rapport de 70 pages à la décision loggée en réunion — AYA a accompagné tout le cycle, avec traçabilité et validation à chaque étape d’écriture. »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 5 — Récap global, plan B, bonus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Récap global · 16 / 16 étapes PASS post-deploy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Étapes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[AYA only]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 B clic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S1 — Drill Nord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/ 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/ 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 — Transition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/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/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S2 — Préfet Nawa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/ 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(S2.2, S2.3, S2.4)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/ 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 démo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 / 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13 / 16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Smoke probe pré-démo</a:t>
            </a:r>
            <a:r>
              <a:rPr/>
              <a:t> : 20 / 20 PASS (6 vocal + 14 API non-régression). </a:t>
            </a:r>
            <a:r>
              <a:rPr b="1"/>
              <a:t>Probes ciblés post-deploy</a:t>
            </a:r>
            <a:r>
              <a:rPr/>
              <a:t> : 11 / 11 PASS (</a:t>
            </a:r>
            <a:r>
              <a:rPr>
                <a:latin typeface="Courier"/>
              </a:rPr>
              <a:t>show_maritime_traffic</a:t>
            </a:r>
            <a:r>
              <a:rPr/>
              <a:t>, </a:t>
            </a:r>
            <a:r>
              <a:rPr>
                <a:latin typeface="Courier"/>
              </a:rPr>
              <a:t>show_vessel_evidence</a:t>
            </a:r>
            <a:r>
              <a:rPr/>
              <a:t>, </a:t>
            </a:r>
            <a:r>
              <a:rPr>
                <a:latin typeface="Courier"/>
              </a:rPr>
              <a:t>update_meeting_agenda</a:t>
            </a:r>
            <a:r>
              <a:rPr/>
              <a:t>, </a:t>
            </a:r>
            <a:r>
              <a:rPr>
                <a:latin typeface="Courier"/>
              </a:rPr>
              <a:t>show_customs_record</a:t>
            </a:r>
            <a:r>
              <a:rPr/>
              <a:t>, </a:t>
            </a:r>
            <a:r>
              <a:rPr>
                <a:latin typeface="Courier"/>
              </a:rPr>
              <a:t>start_meeting</a:t>
            </a:r>
            <a:r>
              <a:rPr/>
              <a:t>, </a:t>
            </a:r>
            <a:r>
              <a:rPr>
                <a:latin typeface="Courier"/>
              </a:rPr>
              <a:t>focus_zone_with_project</a:t>
            </a:r>
            <a:r>
              <a:rPr/>
              <a:t>, </a:t>
            </a:r>
            <a:r>
              <a:rPr>
                <a:latin typeface="Courier"/>
              </a:rPr>
              <a:t>draft_customs_email</a:t>
            </a:r>
            <a:r>
              <a:rPr/>
              <a:t>, </a:t>
            </a:r>
            <a:r>
              <a:rPr>
                <a:latin typeface="Courier"/>
              </a:rPr>
              <a:t>recommend_cacao</a:t>
            </a:r>
            <a:r>
              <a:rPr/>
              <a:t>, </a:t>
            </a:r>
            <a:r>
              <a:rPr>
                <a:latin typeface="Courier"/>
              </a:rPr>
              <a:t>log_decision</a:t>
            </a:r>
            <a:r>
              <a:rPr/>
              <a:t>, </a:t>
            </a:r>
            <a:r>
              <a:rPr>
                <a:latin typeface="Courier"/>
              </a:rPr>
              <a:t>recall_past_decisions</a:t>
            </a:r>
            <a:r>
              <a:rPr/>
              <a:t>, </a:t>
            </a:r>
            <a:r>
              <a:rPr>
                <a:latin typeface="Courier"/>
              </a:rPr>
              <a:t>voice.confirm_yes</a:t>
            </a:r>
            <a:r>
              <a:rPr/>
              <a:t>).</a:t>
            </a:r>
          </a:p>
          <a:p>
            <a:pPr lvl="0" indent="0" marL="1270000">
              <a:buNone/>
            </a:pPr>
            <a:r>
              <a:rPr sz="2000" i="1"/>
              <a:t>Verdict opérationnel : </a:t>
            </a:r>
            <a:r>
              <a:rPr sz="2000" i="1">
                <a:latin typeface="Courier"/>
              </a:rPr>
              <a:t>Go</a:t>
            </a:r>
            <a:r>
              <a:rPr sz="2000" i="1"/>
              <a:t> plein écran. Pas de P0. WARN unique documenté : volumétrie PDF stratégique (12 p. ~15 KB vs 70 p. annoncés au brief initial — aligner verbalement « synthèse cacao »).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Plan B URL · raccourcis directs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 AYA ne répond pas ou si une route ne se charge pas, taper l’URL en direct (workspace </a:t>
            </a:r>
            <a:r>
              <a:rPr>
                <a:latin typeface="Courier"/>
              </a:rPr>
              <a:t>sentinel-ci</a:t>
            </a:r>
            <a:r>
              <a:rPr/>
              <a:t>) 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URL directe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Cockpit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/hypervisor/mission-room/cockpit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Stratégie · carte plein écran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/hypervisor/mission-room/strategie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Stratégie · focus Nord + Napié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/hypervisor/mission-room/strategie?focus=zone-nord&amp;highlight=proj-drone-centre-napie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Stratégie · maritime live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/hypervisor/mission-room/strategie?mode=live&amp;panel=maritime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Stratégie · MV Atlantic Trader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/hypervisor/mission-room/strategie?mode=live&amp;panel=maritime&amp;vessel=627012345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/hypervisor/mission-room/presse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/hypervisor/mission-room/agenda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Meeting live Préfet Nawa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/hypervisor/mission-room/agenda/meeting/evt-prefet-nawa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Décisions · package cacao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/hypervisor/mission-room/decisions?focus=package-cacao-diversification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Monitor (FLUX TERRAIN)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/hypervisor/mission-room/monitor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Endpoints REST clic-équivalents</a:t>
            </a:r>
            <a:r>
              <a:rPr/>
              <a:t> : - </a:t>
            </a:r>
            <a:r>
              <a:rPr>
                <a:latin typeface="Courier"/>
              </a:rPr>
              <a:t>POST /api/v1/meetings/{event_id}/start</a:t>
            </a:r>
            <a:r>
              <a:rPr/>
              <a:t> - </a:t>
            </a:r>
            <a:r>
              <a:rPr>
                <a:latin typeface="Courier"/>
              </a:rPr>
              <a:t>POST /api/v1/meetings/{event_id}/agenda-patch</a:t>
            </a:r>
            <a:r>
              <a:rPr/>
              <a:t> - </a:t>
            </a:r>
            <a:r>
              <a:rPr>
                <a:latin typeface="Courier"/>
              </a:rPr>
              <a:t>POST /api/v1/meetings/{event_id}/agenda-patch/confirm</a:t>
            </a:r>
            <a:r>
              <a:rPr/>
              <a:t> - </a:t>
            </a:r>
            <a:r>
              <a:rPr>
                <a:latin typeface="Courier"/>
              </a:rPr>
              <a:t>POST /api/v1/meetings/{event_id}/decisions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Bonus · 8 KPIs Osiris démo-safe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Valeurs cohérentes pour la démo (figées dans le seed Osiris CI) — à citer si le VP regarde le bloc INDICATEURS MACRO 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Tendance démo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Cacao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4 095 000 FCFA / 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-0.4 %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Anacarde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825 FCFA / kg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-0.8 %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78.5 USD / bbl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Spread souverain 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+15 bps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légère tension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Réserves BCEAO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4.2 mois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confortable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Tension régionale CEDEAO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 / 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surveillance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Sentiment opinion 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 / 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favorable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Port Abidjan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12 400 TEU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nominal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Anchor narratif : la baisse cacao -0.4 % et anacarde -0.8 % donne du sens à la conversation diversification du S2.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Annexe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A.1 · Smoke probe complet (sortie tabulaire)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Run</a:t>
            </a:r>
            <a:r>
              <a:rPr/>
              <a:t> : </a:t>
            </a:r>
            <a:r>
              <a:rPr>
                <a:latin typeface="Courier"/>
              </a:rPr>
              <a:t>2026-05-25 07:08:20 +0200</a:t>
            </a:r>
            <a:r>
              <a:rPr/>
              <a:t> · host </a:t>
            </a:r>
            <a:r>
              <a:rPr>
                <a:latin typeface="Courier"/>
              </a:rPr>
              <a:t>https://agentium.papai.ai</a:t>
            </a:r>
            <a:r>
              <a:rPr/>
              <a:t> · workspace </a:t>
            </a:r>
            <a:r>
              <a:rPr>
                <a:latin typeface="Courier"/>
              </a:rPr>
              <a:t>sentinel-ci</a:t>
            </a:r>
            <a:r>
              <a:rPr/>
              <a:t> · timeout 8s.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Smoke vocal — POST </a:t>
            </a:r>
            <a:r>
              <a:rPr b="1">
                <a:latin typeface="Courier"/>
              </a:rPr>
              <a:t>/api/v1/actions/resolve</a:t>
            </a:r>
            <a:r>
              <a:rPr b="1"/>
              <a:t> (6 / 6)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Attendu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Obtenu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aya.acknowledge_presence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aya.acknowledge_presence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AYA, donne-moi le brief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priority_summary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aya.priority_summary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pv douanes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aya.show_customs_record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aya.show_customs_record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resume Prefet Nawa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aya.summarize_last_exchanges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aya.summarize_last_exchanges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genere le rapport complet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aya.draft_strategic_report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aya.draft_strategic_report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ouvre la prochaine reunion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aya.open_next_meeting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aya.open_next_meeting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API non-régression (14 / 14)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Obtenu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cockpit.date_label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Lundi 25 Mai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vp_status_bar[0].key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zone-nord-tension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vp_status_bar[0].pulse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vp_status_bar[0].id</a:t>
                      </a:r>
                      <a:r>
                        <a:rPr/>
                        <a:t> (Vague 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zone-nord-tension</a:t>
                      </a:r>
                      <a:r>
                        <a:rPr/>
                        <a:t> (non-null)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press_preview[0]</a:t>
                      </a:r>
                      <a:r>
                        <a:rPr/>
                        <a:t> CI-first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« Côte d’Ivoire — lancement … 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agenda_day.events</a:t>
                      </a:r>
                      <a:r>
                        <a:rPr/>
                        <a:t> premiers 4 sur 25/05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/ 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maritime/vessels</a:t>
                      </a:r>
                      <a:r>
                        <a:rPr/>
                        <a:t> 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MV Atlantic Trader </a:t>
                      </a:r>
                      <a:r>
                        <a:rPr>
                          <a:latin typeface="Courier"/>
                        </a:rPr>
                        <a:t>linked_cargo_id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cargo-abidjan-supply-001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MV Atlantic Trader </a:t>
                      </a:r>
                      <a:r>
                        <a:rPr>
                          <a:latin typeface="Courier"/>
                        </a:rPr>
                        <a:t>recommended_webcam_source_id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apm-apapa-gate-1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webcams/proxy</a:t>
                      </a:r>
                      <a:r>
                        <a:rPr/>
                        <a:t> GET </a:t>
                      </a:r>
                      <a:r>
                        <a:rPr>
                          <a:latin typeface="Courier"/>
                        </a:rPr>
                        <a:t>apm-apapa-gate-1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200 image/jpeg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webcams/proxy</a:t>
                      </a:r>
                      <a:r>
                        <a:rPr/>
                        <a:t> HEAD (Vague 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manifest </a:t>
                      </a:r>
                      <a:r>
                        <a:rPr>
                          <a:latin typeface="Courier"/>
                        </a:rPr>
                        <a:t>aya.acknowledge_presence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calendar/events</a:t>
                      </a:r>
                      <a:r>
                        <a:rPr/>
                        <a:t> 2026-05-25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calendar/events</a:t>
                      </a:r>
                      <a:r>
                        <a:rPr/>
                        <a:t> 2026-05-26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</a:t>
            </a:r>
            <a:r>
              <a:rPr/>
              <a:t> : 20 / 20 PASS · 100 %.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Probes ciblés post-deploy (11 / 11)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 obtenue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montre la situation au 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aya.show_maritime_traffic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explique le cargo Atlantic Trader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aya.show_vessel_evidence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ajoute le point cacao a l'ODJ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aya.update_meeting_agenda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ouvre le PV douanes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aya.show_customs_record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commence la reunion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aya.start_meeting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focus sur la zone Nord et le projet Napie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aya.focus_zone_with_project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redige le courrier de dedouanement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aya.draft_customs_email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preconisations sur le cacao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aya.recommend_cacao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decide option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aya.log_decision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qu'avons-nous decide la derniere fois 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aya.recall_past_decisions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Oui, valide.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voice.confirm_yes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A.2 · Sources de vérité · HEAD prod confirmé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Trame narrative</a:t>
            </a:r>
            <a:r>
              <a:rPr/>
              <a:t> : </a:t>
            </a:r>
            <a:r>
              <a:rPr>
                <a:hlinkClick r:id="rId2"/>
                <a:latin typeface="Courier"/>
              </a:rPr>
              <a:t>docs/demo-aya-storytelling-trame.md</a:t>
            </a:r>
          </a:p>
          <a:p>
            <a:pPr lvl="0"/>
            <a:r>
              <a:rPr b="1"/>
              <a:t>Walkthrough opérationnel</a:t>
            </a:r>
            <a:r>
              <a:rPr/>
              <a:t> : </a:t>
            </a:r>
            <a:r>
              <a:rPr>
                <a:hlinkClick r:id="rId3"/>
                <a:latin typeface="Courier"/>
              </a:rPr>
              <a:t>docs/sentinel-ci-demo-walkthrough-2026-05-25.md</a:t>
            </a:r>
            <a:r>
              <a:rPr/>
              <a:t> (avec colonne « Chemin clic alternatif »)</a:t>
            </a:r>
          </a:p>
          <a:p>
            <a:pPr lvl="0"/>
            <a:r>
              <a:rPr b="1"/>
              <a:t>Cheatsheet présentateur</a:t>
            </a:r>
            <a:r>
              <a:rPr/>
              <a:t> : </a:t>
            </a:r>
            <a:r>
              <a:rPr>
                <a:hlinkClick r:id="rId4"/>
                <a:latin typeface="Courier"/>
              </a:rPr>
              <a:t>docs/sentinel-ci-presenter-cheatsheet.md</a:t>
            </a:r>
          </a:p>
          <a:p>
            <a:pPr lvl="0"/>
            <a:r>
              <a:rPr b="1"/>
              <a:t>QA post-deploy S1</a:t>
            </a:r>
            <a:r>
              <a:rPr/>
              <a:t> : </a:t>
            </a:r>
            <a:r>
              <a:rPr>
                <a:hlinkClick r:id="rId5"/>
                <a:latin typeface="Courier"/>
              </a:rPr>
              <a:t>docs/sentinel-ci-qa-postdeploy-s1-2026-05-24.md</a:t>
            </a:r>
            <a:r>
              <a:rPr/>
              <a:t> (6 PASS / 1 WARN)</a:t>
            </a:r>
          </a:p>
          <a:p>
            <a:pPr lvl="0"/>
            <a:r>
              <a:rPr b="1"/>
              <a:t>QA post-deploy S2</a:t>
            </a:r>
            <a:r>
              <a:rPr/>
              <a:t> : </a:t>
            </a:r>
            <a:r>
              <a:rPr>
                <a:hlinkClick r:id="rId6"/>
                <a:latin typeface="Courier"/>
              </a:rPr>
              <a:t>docs/sentinel-ci-qa-postdeploy-s2-2026-05-24.md</a:t>
            </a:r>
            <a:r>
              <a:rPr/>
              <a:t> (9 PASS / 1 WARN)</a:t>
            </a:r>
          </a:p>
          <a:p>
            <a:pPr lvl="0"/>
            <a:r>
              <a:rPr b="1"/>
              <a:t>Pack résolveur backend</a:t>
            </a:r>
            <a:r>
              <a:rPr/>
              <a:t> : </a:t>
            </a:r>
            <a:r>
              <a:rPr>
                <a:latin typeface="Courier"/>
              </a:rPr>
              <a:t>backend/app/services/actions/registry.py</a:t>
            </a:r>
            <a:r>
              <a:rPr/>
              <a:t> (manifests </a:t>
            </a:r>
            <a:r>
              <a:rPr>
                <a:latin typeface="Courier"/>
              </a:rPr>
              <a:t>aya.*</a:t>
            </a:r>
            <a:r>
              <a:rPr/>
              <a:t>, lignes 274-1041)</a:t>
            </a:r>
          </a:p>
          <a:p>
            <a:pPr lvl="0"/>
            <a:r>
              <a:rPr b="1"/>
              <a:t>Pack handlers backend</a:t>
            </a:r>
            <a:r>
              <a:rPr/>
              <a:t> : </a:t>
            </a:r>
            <a:r>
              <a:rPr>
                <a:latin typeface="Courier"/>
              </a:rPr>
              <a:t>backend/app/services/actions/executor.py</a:t>
            </a:r>
            <a:r>
              <a:rPr/>
              <a:t> (handlers + awaiting bucket)</a:t>
            </a:r>
          </a:p>
          <a:p>
            <a:pPr lvl="0" indent="0" marL="0">
              <a:buNone/>
            </a:pPr>
            <a:r>
              <a:rPr b="1"/>
              <a:t>HEAD prod confirmé</a:t>
            </a:r>
            <a:r>
              <a:rPr/>
              <a:t> : </a:t>
            </a:r>
            <a:r>
              <a:rPr>
                <a:latin typeface="Courier"/>
              </a:rPr>
              <a:t>9d0f8012</a:t>
            </a:r>
            <a:r>
              <a:rPr/>
              <a:t> — </a:t>
            </a:r>
            <a:r>
              <a:rPr i="1"/>
              <a:t>Update demo walkthrough with click-path alternatives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Commits déployés (top 10 sur </a:t>
                      </a:r>
                      <a:r>
                        <a:rPr>
                          <a:latin typeface="Courier"/>
                        </a:rPr>
                        <a:t>demo/agentic</a:t>
                      </a:r>
                      <a:r>
                        <a:rPr/>
                        <a:t>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9d0f8012</a:t>
                      </a:r>
                      <a:r>
                        <a:rPr/>
                        <a:t> Update demo walkthrough with click-path alternatives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21f74531</a:t>
                      </a:r>
                      <a:r>
                        <a:rPr/>
                        <a:t> Wire agenda actions and arbitrage drill-down to UI clicks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86355ad7</a:t>
                      </a:r>
                      <a:r>
                        <a:rPr/>
                        <a:t> Add click-path endpoints for agenda patch + meeting start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fa8eae27</a:t>
                      </a:r>
                      <a:r>
                        <a:rPr/>
                        <a:t> Add 8 sovereign KPIs to cockpit macro indicators block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57258579</a:t>
                      </a:r>
                      <a:r>
                        <a:rPr/>
                        <a:t> Fix maritime overlay: auto-enable layer on async vessel arrival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e31dab21</a:t>
                      </a:r>
                      <a:r>
                        <a:rPr/>
                        <a:t> Add practical demo walkthrough with UI clicks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3509e03d</a:t>
                      </a:r>
                      <a:r>
                        <a:rPr/>
                        <a:t> Fix cockpit click targets + webcam port entry for demo S1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e6e20200</a:t>
                      </a:r>
                      <a:r>
                        <a:rPr/>
                        <a:t> Add press drill-down: article drawer + full list + clickable brief items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c14fa2ed</a:t>
                      </a:r>
                      <a:r>
                        <a:rPr/>
                        <a:t> Load maritime webcam snapshots with auth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7df0599c</a:t>
                      </a:r>
                      <a:r>
                        <a:rPr/>
                        <a:t> Fix maritime port action browser effects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A.3 · Conseil présentateur · 3 ouvertures + 3 clôtures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 phrases d’ouverture</a:t>
            </a:r>
          </a:p>
          <a:p>
            <a:pPr lvl="0" indent="-342900" marL="342900">
              <a:buAutoNum type="arabicPeriod"/>
            </a:pPr>
            <a:r>
              <a:rPr i="1"/>
              <a:t>« Monsieur le Vice-Président, voici SENTINEL-CI : un cockpit souverain de gouvernance, opéré en mode advisory — AYA propose, le Cabinet décide. »</a:t>
            </a:r>
          </a:p>
          <a:p>
            <a:pPr lvl="0" indent="-342900" marL="342900">
              <a:buAutoNum type="arabicPeriod"/>
            </a:pPr>
            <a:r>
              <a:rPr i="1"/>
              <a:t>« En treize minutes, deux postures complémentaires : ce matin réactif sur le Nord, ce midi proactif sur la diversification cacao avec le Préfet de Nawa. »</a:t>
            </a:r>
          </a:p>
          <a:p>
            <a:pPr lvl="0" indent="-342900" marL="342900">
              <a:buAutoNum type="arabicPeriod"/>
            </a:pPr>
            <a:r>
              <a:rPr i="1"/>
              <a:t>« Toutes les sources sont citées, toutes les écritures (agenda, décisions, emails) passent par une validation explicite — rien ne sort sans votre accord. 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 phrases de clôture</a:t>
            </a:r>
          </a:p>
          <a:p>
            <a:pPr lvl="0" indent="-342900" marL="342900">
              <a:buAutoNum type="arabicPeriod"/>
            </a:pPr>
            <a:r>
              <a:rPr i="1"/>
              <a:t>« Nord qualifié · Nawa arbitré · décision option B loggée et mémorisée — la prochaine échéance est le Conseil de 15h. »</a:t>
            </a:r>
          </a:p>
          <a:p>
            <a:pPr lvl="0" indent="-342900" marL="342900">
              <a:buAutoNum type="arabicPeriod"/>
            </a:pPr>
            <a:r>
              <a:rPr i="1"/>
              <a:t>« SENTINEL-CI ne remplace pas l’exécutif. Il accélère la lecture du réel, relie les signaux aux preuves, et prépare les arbitrages sous contrôle Cabinet. »</a:t>
            </a:r>
          </a:p>
          <a:p>
            <a:pPr lvl="0" indent="-342900" marL="342900">
              <a:buAutoNum type="arabicPeriod"/>
            </a:pPr>
            <a:r>
              <a:rPr i="1"/>
              <a:t>« Plateforme Agentium : action pack </a:t>
            </a:r>
            <a:r>
              <a:rPr i="1">
                <a:latin typeface="Courier"/>
              </a:rPr>
              <a:t>sentinel_ci_aya_v1</a:t>
            </a:r>
            <a:r>
              <a:rPr i="1"/>
              <a:t> isolé, déployable workspace par workspace, héritage transverse sans pollution des autres clients souverains. »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A.4 · Garde-fous présentateur (rappel)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Toujours</a:t>
            </a:r>
            <a:r>
              <a:rPr/>
              <a:t> démarrer par un verbe d’action ou « </a:t>
            </a:r>
            <a:r>
              <a:rPr b="1"/>
              <a:t>AYA, …</a:t>
            </a:r>
            <a:r>
              <a:rPr/>
              <a:t> ».</a:t>
            </a:r>
          </a:p>
          <a:p>
            <a:pPr lvl="0"/>
            <a:r>
              <a:rPr b="1"/>
              <a:t>Jamais</a:t>
            </a:r>
            <a:r>
              <a:rPr/>
              <a:t> dire « OK » seul / « D’accord » seul → match </a:t>
            </a:r>
            <a:r>
              <a:rPr>
                <a:latin typeface="Courier"/>
              </a:rPr>
              <a:t>voice.confirm_yes</a:t>
            </a:r>
            <a:r>
              <a:rPr/>
              <a:t> accidentel (guard </a:t>
            </a:r>
            <a:r>
              <a:rPr>
                <a:latin typeface="Courier"/>
              </a:rPr>
              <a:t>_CONFIRM_MAX_TOKENS=4</a:t>
            </a:r>
            <a:r>
              <a:rPr/>
              <a:t> actif, mais filler isolé reste piégeux).</a:t>
            </a:r>
          </a:p>
          <a:p>
            <a:pPr lvl="0"/>
            <a:r>
              <a:rPr b="1"/>
              <a:t>Toujours</a:t>
            </a:r>
            <a:r>
              <a:rPr/>
              <a:t> dire et écrire </a:t>
            </a:r>
            <a:r>
              <a:rPr b="1"/>
              <a:t>« Monsieur le Vice-Président »</a:t>
            </a:r>
            <a:r>
              <a:rPr/>
              <a:t> (jamais « M. le Vice-Président » — TTS prononce « M » comme la lettre).</a:t>
            </a:r>
          </a:p>
          <a:p>
            <a:pPr lvl="0"/>
            <a:r>
              <a:rPr/>
              <a:t>Si AYA répond hors-sujet : recommencer avec la forme canonique du cheatsheet (verbe pivot : </a:t>
            </a:r>
            <a:r>
              <a:rPr>
                <a:latin typeface="Courier"/>
              </a:rPr>
              <a:t>pourquoi</a:t>
            </a:r>
            <a:r>
              <a:rPr/>
              <a:t>, </a:t>
            </a:r>
            <a:r>
              <a:rPr>
                <a:latin typeface="Courier"/>
              </a:rPr>
              <a:t>montre</a:t>
            </a:r>
            <a:r>
              <a:rPr/>
              <a:t>, </a:t>
            </a:r>
            <a:r>
              <a:rPr>
                <a:latin typeface="Courier"/>
              </a:rPr>
              <a:t>rédige</a:t>
            </a:r>
            <a:r>
              <a:rPr/>
              <a:t>, </a:t>
            </a:r>
            <a:r>
              <a:rPr>
                <a:latin typeface="Courier"/>
              </a:rPr>
              <a:t>démarre</a:t>
            </a:r>
            <a:r>
              <a:rPr/>
              <a:t>, </a:t>
            </a:r>
            <a:r>
              <a:rPr>
                <a:latin typeface="Courier"/>
              </a:rPr>
              <a:t>décide</a:t>
            </a:r>
            <a:r>
              <a:rPr/>
              <a:t>, </a:t>
            </a:r>
            <a:r>
              <a:rPr>
                <a:latin typeface="Courier"/>
              </a:rPr>
              <a:t>résume</a:t>
            </a:r>
            <a:r>
              <a:rPr/>
              <a:t>).</a:t>
            </a:r>
          </a:p>
          <a:p>
            <a:pPr lvl="0"/>
            <a:r>
              <a:rPr/>
              <a:t>En cas de doute UI : URL directe (voir slide « Plan B URL »).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 · </a:t>
            </a:r>
            <a:r>
              <a:rPr>
                <a:latin typeface="Courier"/>
              </a:rPr>
              <a:t>Go</a:t>
            </a:r>
            <a:r>
              <a:rPr/>
              <a:t> démo 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HEAD prod 9d0f8012</a:t>
            </a:r>
            <a:r>
              <a:rPr/>
              <a:t> · </a:t>
            </a:r>
            <a:r>
              <a:rPr>
                <a:latin typeface="Courier"/>
              </a:rPr>
              <a:t>Smoke 20/20 PASS</a:t>
            </a:r>
            <a:r>
              <a:rPr/>
              <a:t> · </a:t>
            </a:r>
            <a:r>
              <a:rPr>
                <a:latin typeface="Courier"/>
              </a:rPr>
              <a:t>Probes ciblés 11/11 PASS</a:t>
            </a:r>
            <a:r>
              <a:rPr/>
              <a:t> · </a:t>
            </a:r>
            <a:r>
              <a:rPr>
                <a:latin typeface="Courier"/>
              </a:rPr>
              <a:t>Audit 16/16 étapes</a:t>
            </a:r>
          </a:p>
          <a:p>
            <a:pPr lvl="0" indent="0" marL="0">
              <a:buNone/>
            </a:pPr>
            <a:r>
              <a:rPr b="1"/>
              <a:t>Datategy · Plateforme Agentium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SENTINEL-CI · Démo Vice-Président</dc:title>
  <dc:creator>Datategy · Plateforme Agentium</dc:creator>
  <cp:keywords/>
  <dcterms:created xsi:type="dcterms:W3CDTF">2026-05-25T05:57:42Z</dcterms:created>
  <dcterms:modified xsi:type="dcterms:W3CDTF">2026-05-25T05:57:42Z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Lundi 25 mai 2026 · 09h00 (Abidjan)</vt:lpwstr>
  </property>
  <property fmtid="{D5CDD505-2E9C-101B-9397-08002B2CF9AE}" pid="3" name="subtitle">
    <vt:lpwstr>Cockpit gouvernance Côte d’Ivoire · narrative Napié + Préfet Nawa</vt:lpwstr>
  </property>
</Properties>
</file>