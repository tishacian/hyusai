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demo-aya-storytelling-trame.md" TargetMode="External"/><Relationship Id="rId3" Type="http://schemas.openxmlformats.org/officeDocument/2006/relationships/hyperlink" Target="sentinel-ci-demo-walkthrough-2026-05-25.md" TargetMode="External"/><Relationship Id="rId4" Type="http://schemas.openxmlformats.org/officeDocument/2006/relationships/hyperlink" Target="sentinel-ci-presenter-cheatsheet.md" TargetMode="External"/><Relationship Id="rId5" Type="http://schemas.openxmlformats.org/officeDocument/2006/relationships/hyperlink" Target="sentinel-ci-qa-postdeploy-s1-2026-05-24.md" TargetMode="External"/><Relationship Id="rId6" Type="http://schemas.openxmlformats.org/officeDocument/2006/relationships/hyperlink" Target="sentinel-ci-qa-postdeploy-s2-2026-05-24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4400">
                <a:solidFill>
                  <a:srgbClr val="3EE68A"/>
                </a:solidFill>
                <a:latin typeface="Calibri"/>
              </a:rPr>
              <a:t>SENTINEL-CI · Démo Vice-Président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Cockpit gouvernance Côte d’Ivoire · narrative Napié + Préfet Nawa</a:t>
            </a:r>
            <a:br/>
            <a:br/>
            <a:r>
              <a:rPr sz="2000" i="1" b="0">
                <a:solidFill>
                  <a:srgbClr val="E2E8F0"/>
                </a:solidFill>
                <a:latin typeface="Calibri"/>
              </a:rPr>
              <a:t>Datategy · Plateforme Agentium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Lundi 25 mai 2026 · 09h00 (Abidjan)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723500"/>
            <a:ext cx="8784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ctr"/>
            <a:r>
              <a:rPr sz="1000" i="1" b="0">
                <a:solidFill>
                  <a:srgbClr val="64748B"/>
                </a:solidFill>
                <a:latin typeface="Calibri"/>
              </a:rPr>
              <a:t>Confidentiel · Démo interne · Datategy / Plateforme Agentium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SENTINEL-CI · Démo Vice-Président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 / 49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Cockpit gouvernance souveraine Côte d’Ivoire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Narratives</a:t>
            </a:r>
            <a:r>
              <a:rPr sz="1300">
                <a:solidFill>
                  <a:srgbClr val="E2E8F0"/>
                </a:solidFill>
                <a:latin typeface="Calibri"/>
              </a:rPr>
              <a:t> : Drill Nord / Centre Drones Napié — Préfet de Nawa / diversification cacao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Lundi 25 mai 2026 · 09h00 Abidjan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Interlocuteur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Vice-Président de la République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URL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https://agentium.papai.ai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· workspace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sentinel-ci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HEAD prod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9d0f8012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(commit walkthrough enrichi)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Smoke probe post-deploy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20 / 20 PASS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(6 vocal + 14 API non-régression)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Audit clic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13 / 15 PASS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· 2 actions </a:t>
                      </a:r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[AYA only]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recommend_cacao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,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draft_strategic_report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Pack résolveur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sentinel_ci_aya_v1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· seuil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min_confidence = 0.78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 / 49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Sommaire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Bloc 1 — Ouverture cockpit</a:t>
            </a:r>
            <a:r>
              <a:rPr sz="1300">
                <a:solidFill>
                  <a:srgbClr val="E2E8F0"/>
                </a:solidFill>
                <a:latin typeface="Calibri"/>
              </a:rPr>
              <a:t> (3 slides · ~1 min)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Bloc 2 — Scénario 1 · Drill Nord / Centre Drones Napié</a:t>
            </a:r>
            <a:r>
              <a:rPr sz="1300">
                <a:solidFill>
                  <a:srgbClr val="E2E8F0"/>
                </a:solidFill>
                <a:latin typeface="Calibri"/>
              </a:rPr>
              <a:t> (6 étapes + récap · ~5 min)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Bloc 3 — Transition agenda</a:t>
            </a:r>
            <a:r>
              <a:rPr sz="1300">
                <a:solidFill>
                  <a:srgbClr val="E2E8F0"/>
                </a:solidFill>
                <a:latin typeface="Calibri"/>
              </a:rPr>
              <a:t> (1 slide · ~1 min)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Bloc 4 — Scénario 2 · Préfet Nawa / diversification cacao</a:t>
            </a:r>
            <a:r>
              <a:rPr sz="1300">
                <a:solidFill>
                  <a:srgbClr val="E2E8F0"/>
                </a:solidFill>
                <a:latin typeface="Calibri"/>
              </a:rPr>
              <a:t> (9 étapes + récap · ~7 min)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Bloc 5 — Récap, plan B URL, bonus 8 KPIs souverains</a:t>
            </a:r>
            <a:r>
              <a:rPr sz="1300">
                <a:solidFill>
                  <a:srgbClr val="E2E8F0"/>
                </a:solidFill>
                <a:latin typeface="Calibri"/>
              </a:rPr>
              <a:t> (3 slides · ~1 min)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Annexe</a:t>
            </a:r>
            <a:r>
              <a:rPr sz="1300">
                <a:solidFill>
                  <a:srgbClr val="E2E8F0"/>
                </a:solidFill>
                <a:latin typeface="Calibri"/>
              </a:rPr>
              <a:t> — Smoke probe complet · liens trame / walkthrough / cheatsheet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Durée totale cible</a:t>
            </a:r>
            <a:r>
              <a:rPr sz="1300">
                <a:solidFill>
                  <a:srgbClr val="E2E8F0"/>
                </a:solidFill>
                <a:latin typeface="Calibri"/>
              </a:rPr>
              <a:t> : ~13 min (5 + 1 + 7). </a:t>
            </a:r>
            <a:r>
              <a:rPr b="1" sz="1300">
                <a:solidFill>
                  <a:srgbClr val="E2E8F0"/>
                </a:solidFill>
                <a:latin typeface="Calibri"/>
              </a:rPr>
              <a:t>Mode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advisory-only</a:t>
            </a:r>
            <a:r>
              <a:rPr sz="1300">
                <a:solidFill>
                  <a:srgbClr val="E2E8F0"/>
                </a:solidFill>
                <a:latin typeface="Calibri"/>
              </a:rPr>
              <a:t> · toute écriture passe par proposition + validation Cabinet.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 / 49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Bloc 1 — Ouverture cockpit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5 / 49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1.1 État du jour · POSTURE NATIONALE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Écran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/hypervisor/mission-room/cockpit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en tête de barre statut (pulse)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Bannière AYA : </a:t>
            </a:r>
            <a:r>
              <a:rPr i="1" sz="1300">
                <a:solidFill>
                  <a:srgbClr val="E2E8F0"/>
                </a:solidFill>
                <a:latin typeface="Calibri"/>
              </a:rPr>
              <a:t>« Priorité absolue ce matin : la Zone Nord. »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Boutons CTA : </a:t>
            </a:r>
            <a:r>
              <a:rPr sz="1300">
                <a:solidFill>
                  <a:srgbClr val="E2E8F0"/>
                </a:solidFill>
                <a:latin typeface="Calibri"/>
              </a:rPr>
              <a:t>Écouter le briefing AYA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Ouvrir le dossier Zone Nord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Carte fusionnée Territoire / signaux + badge </a:t>
            </a:r>
            <a:r>
              <a:rPr sz="1300">
                <a:solidFill>
                  <a:srgbClr val="E2E8F0"/>
                </a:solidFill>
                <a:latin typeface="Calibri"/>
              </a:rPr>
              <a:t>16 NAVIRES AIS · ABIDJAN / VRIDI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Hero presse Napié visible bas-droite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AYA implicite : aya.priority_summary</a:t>
            </a:r>
            <a:r>
              <a:rPr sz="1300">
                <a:solidFill>
                  <a:srgbClr val="E2E8F0"/>
                </a:solidFill>
                <a:latin typeface="Calibri"/>
              </a:rPr>
              <a:t> (la vue </a:t>
            </a:r>
            <a:r>
              <a:rPr b="1" sz="1300">
                <a:solidFill>
                  <a:srgbClr val="E2E8F0"/>
                </a:solidFill>
                <a:latin typeface="Calibri"/>
              </a:rPr>
              <a:t>est</a:t>
            </a:r>
            <a:r>
              <a:rPr sz="1300">
                <a:solidFill>
                  <a:srgbClr val="E2E8F0"/>
                </a:solidFill>
                <a:latin typeface="Calibri"/>
              </a:rPr>
              <a:t> le brief) </a:t>
            </a:r>
            <a:r>
              <a:rPr sz="1300">
                <a:solidFill>
                  <a:srgbClr val="E2E8F0"/>
                </a:solidFill>
                <a:latin typeface="Calibri"/>
              </a:rPr>
              <a:t>Plan B clic : pas nécessaire — la page d'accueil porte le message.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demo-eve/01-cockpit-m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4800" y="203200"/>
            <a:ext cx="4000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Cockpit complet · 5 blocs souverains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6 / 49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1.2 8 KPIs Macro souverains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Bloc INDICATEURS MACRO</a:t>
            </a:r>
            <a:r>
              <a:rPr sz="1300">
                <a:solidFill>
                  <a:srgbClr val="E2E8F0"/>
                </a:solidFill>
                <a:latin typeface="Calibri"/>
              </a:rPr>
              <a:t> · visible lorsque le panneau AYA est ouvert (grille souveraine compressée).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KPI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Valeur démo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4 095 000 FCFA / 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Anacarde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825 FCFA / kg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Brent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78.5 USD / bbl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Réserves BCEAO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4.2 mois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Tension régionale CEDEAO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72.0 / 100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Sentiment opinion CI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58.0 / 100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Croissance PIB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6.02 %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Banque mondiale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Inflation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3.45 %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Banque mondiale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7 / 49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— </a:t>
            </a:r>
            <a:r>
              <a:rPr sz="1300">
                <a:solidFill>
                  <a:srgbClr val="E2E8F0"/>
                </a:solidFill>
                <a:latin typeface="Calibri"/>
              </a:rPr>
              <a:t>vp_status_bar[0].id</a:t>
            </a:r>
            <a:r>
              <a:rPr sz="1300">
                <a:solidFill>
                  <a:srgbClr val="E2E8F0"/>
                </a:solidFill>
                <a:latin typeface="Calibri"/>
              </a:rPr>
              <a:t> non-null (Vague 3 polish déployée).</a:t>
            </a:r>
          </a:p>
        </p:txBody>
      </p:sp>
      <p:pic>
        <p:nvPicPr>
          <p:cNvPr descr="status-screenshots/2026-05-25-demo-eve/13-aya-chat-emp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8 KPIs souverains visibles avec panneau AYA ouvert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8 / 49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1.3 Sujets à arbitrer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Colonne droite cockpit · 3 cartes badge </a:t>
            </a:r>
            <a:r>
              <a:rPr b="1" sz="1300">
                <a:solidFill>
                  <a:srgbClr val="E2E8F0"/>
                </a:solidFill>
                <a:latin typeface="Calibri"/>
              </a:rPr>
              <a:t>AYA PRÊT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Article L’Inter — critique budget défense</a:t>
            </a:r>
            <a:r>
              <a:rPr sz="1300">
                <a:solidFill>
                  <a:srgbClr val="E2E8F0"/>
                </a:solidFill>
                <a:latin typeface="Calibri"/>
              </a:rPr>
              <a:t> · 14h00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Zone Nord — retard chantier Napié + cargo bloqué</a:t>
            </a:r>
            <a:r>
              <a:rPr sz="1300">
                <a:solidFill>
                  <a:srgbClr val="E2E8F0"/>
                </a:solidFill>
                <a:latin typeface="Calibri"/>
              </a:rPr>
              <a:t> · 15h00 </a:t>
            </a:r>
            <a:r>
              <a:rPr i="1" sz="1300">
                <a:solidFill>
                  <a:srgbClr val="E2E8F0"/>
                </a:solidFill>
                <a:latin typeface="Calibri"/>
              </a:rPr>
              <a:t>(fil rouge S1)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Ambassadeur de France — déjeuner</a:t>
            </a:r>
            <a:r>
              <a:rPr sz="1300">
                <a:solidFill>
                  <a:srgbClr val="E2E8F0"/>
                </a:solidFill>
                <a:latin typeface="Calibri"/>
              </a:rPr>
              <a:t> · 13h00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Clic sur une carte → </a:t>
            </a:r>
            <a:r>
              <a:rPr sz="1300">
                <a:solidFill>
                  <a:srgbClr val="E2E8F0"/>
                </a:solidFill>
                <a:latin typeface="Calibri"/>
              </a:rPr>
              <a:t>/decisions?highlight=&lt;card-id&gt;</a:t>
            </a:r>
            <a:r>
              <a:rPr sz="1300">
                <a:solidFill>
                  <a:srgbClr val="E2E8F0"/>
                </a:solidFill>
                <a:latin typeface="Calibri"/>
              </a:rPr>
              <a:t> (vue liste + détail). Depuis là : </a:t>
            </a:r>
            <a:r>
              <a:rPr sz="1300">
                <a:solidFill>
                  <a:srgbClr val="E2E8F0"/>
                </a:solidFill>
                <a:latin typeface="Calibri"/>
              </a:rPr>
              <a:t>Voir l'article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Ouvrir le dossier Zone Nord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Arbitrer les options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— drill-down arbitrages câblé (commit </a:t>
            </a:r>
            <a:r>
              <a:rPr sz="1300">
                <a:solidFill>
                  <a:srgbClr val="E2E8F0"/>
                </a:solidFill>
                <a:latin typeface="Calibri"/>
              </a:rPr>
              <a:t>21f74531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</p:txBody>
      </p:sp>
      <p:pic>
        <p:nvPicPr>
          <p:cNvPr descr="status-screenshots/2026-05-25-demo-eve/05-cockpit-arbitrag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3 sujets à arbitrer · badge AYA PRÊT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9 / 49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Bloc 2 — Scénario 1 · Drill Nord / Centre Drones Napié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10 / 49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Durée cible : 5 min · 6 étapes · fil rouge </a:t>
            </a:r>
            <a:r>
              <a:rPr b="1" sz="1300">
                <a:solidFill>
                  <a:srgbClr val="E2E8F0"/>
                </a:solidFill>
                <a:latin typeface="Calibri"/>
              </a:rPr>
              <a:t>Centre International de Formation aux Métiers des Drones, Napié (Poro)</a:t>
            </a:r>
            <a:r>
              <a:rPr sz="1300">
                <a:solidFill>
                  <a:srgbClr val="E2E8F0"/>
                </a:solidFill>
                <a:latin typeface="Calibri"/>
              </a:rPr>
              <a:t> — chantier ~120 j de retard, composants Aerostar Dynamics bloqués à Vridi.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11 / 49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S1.1 · Pourquoi le Nord est tendu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pourquoi la situation Nord est-elle tendue ?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Cockpit → chip rouge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(header) → carte recentrée Nord + prompt </a:t>
            </a:r>
            <a:r>
              <a:rPr sz="1300">
                <a:solidFill>
                  <a:srgbClr val="E2E8F0"/>
                </a:solidFill>
                <a:latin typeface="Calibri"/>
              </a:rPr>
              <a:t>explain_why</a:t>
            </a:r>
            <a:r>
              <a:rPr sz="1300">
                <a:solidFill>
                  <a:srgbClr val="E2E8F0"/>
                </a:solidFill>
                <a:latin typeface="Calibri"/>
              </a:rPr>
              <a:t> injecté.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Drill causal niveau 1 (narratif Napié / Aerostar / Vridi / 120 j) - Navigation Stratégie · focus zone Nord -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Ouvrir le dossier Zone Nord</a:t>
            </a:r>
            <a:r>
              <a:rPr sz="1300">
                <a:solidFill>
                  <a:srgbClr val="E2E8F0"/>
                </a:solidFill>
                <a:latin typeface="Calibri"/>
              </a:rPr>
              <a:t> (bannière AYA)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aya.explain_why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0.95 (canonique) · seuil 0.78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12 / 49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S1.2 · Montre le PV douanes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ouvre le PV douanes.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Stratégie panel maritime →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PV douanes 18 mai</a:t>
            </a:r>
            <a:r>
              <a:rPr sz="1300">
                <a:solidFill>
                  <a:srgbClr val="E2E8F0"/>
                </a:solidFill>
                <a:latin typeface="Calibri"/>
              </a:rPr>
              <a:t> sous la fiche cargo → drawer </a:t>
            </a:r>
            <a:r>
              <a:rPr sz="1300">
                <a:solidFill>
                  <a:srgbClr val="E2E8F0"/>
                </a:solidFill>
                <a:latin typeface="Calibri"/>
              </a:rPr>
              <a:t>document_preview</a:t>
            </a:r>
            <a:r>
              <a:rPr sz="1300">
                <a:solidFill>
                  <a:srgbClr val="E2E8F0"/>
                </a:solidFill>
                <a:latin typeface="Calibri"/>
              </a:rPr>
              <a:t>, page 2 OCR surlignée.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Drawer </a:t>
            </a:r>
            <a:r>
              <a:rPr sz="1300">
                <a:solidFill>
                  <a:srgbClr val="E2E8F0"/>
                </a:solidFill>
                <a:latin typeface="Calibri"/>
              </a:rPr>
              <a:t>document_preview</a:t>
            </a:r>
            <a:r>
              <a:rPr sz="1300">
                <a:solidFill>
                  <a:srgbClr val="E2E8F0"/>
                </a:solidFill>
                <a:latin typeface="Calibri"/>
              </a:rPr>
              <a:t> · target </a:t>
            </a:r>
            <a:r>
              <a:rPr sz="1300">
                <a:solidFill>
                  <a:srgbClr val="E2E8F0"/>
                </a:solidFill>
                <a:latin typeface="Calibri"/>
              </a:rPr>
              <a:t>proces-verbal-douanes-non-conformite-2026-05-18</a:t>
            </a:r>
            <a:r>
              <a:rPr sz="1300">
                <a:solidFill>
                  <a:srgbClr val="E2E8F0"/>
                </a:solidFill>
                <a:latin typeface="Calibri"/>
              </a:rPr>
              <a:t> - Page 2 surlignée (passages OCR cités) -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Télécharger PDF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aya.show_customs_record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1.04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demo-eve/15-drawer-pv-doua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Drawer PV douanes · page 2 OCR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1270000">
              <a:buNone/>
            </a:pPr>
            <a:r>
              <a:rPr sz="900" i="1">
                <a:solidFill>
                  <a:srgbClr val="E2E8F0"/>
                </a:solidFill>
                <a:latin typeface="Calibri"/>
              </a:rPr>
              <a:t>Légende : capture pré-deploy montre fallback </a:t>
            </a:r>
            <a:r>
              <a:rPr sz="900" i="1">
                <a:solidFill>
                  <a:srgbClr val="E2E8F0"/>
                </a:solidFill>
                <a:latin typeface="Calibri"/>
              </a:rPr>
              <a:t>workspace_map_not_found</a:t>
            </a:r>
            <a:r>
              <a:rPr sz="900" i="1">
                <a:solidFill>
                  <a:srgbClr val="E2E8F0"/>
                </a:solidFill>
                <a:latin typeface="Calibri"/>
              </a:rPr>
              <a:t>. Post-deploy HEAD </a:t>
            </a:r>
            <a:r>
              <a:rPr sz="900" i="1">
                <a:solidFill>
                  <a:srgbClr val="E2E8F0"/>
                </a:solidFill>
                <a:latin typeface="Calibri"/>
              </a:rPr>
              <a:t>9d0f8012</a:t>
            </a:r>
            <a:r>
              <a:rPr sz="900" i="1">
                <a:solidFill>
                  <a:srgbClr val="E2E8F0"/>
                </a:solidFill>
                <a:latin typeface="Calibri"/>
              </a:rPr>
              <a:t> : le drawer s’ouvre correctement (probe </a:t>
            </a:r>
            <a:r>
              <a:rPr sz="900" i="1">
                <a:solidFill>
                  <a:srgbClr val="E2E8F0"/>
                </a:solidFill>
                <a:latin typeface="Calibri"/>
              </a:rPr>
              <a:t>aya.show_customs_record</a:t>
            </a:r>
            <a:r>
              <a:rPr sz="900" i="1">
                <a:solidFill>
                  <a:srgbClr val="E2E8F0"/>
                </a:solidFill>
                <a:latin typeface="Calibri"/>
              </a:rPr>
              <a:t> PASS conf 1.04).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13 / 49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S1.3 · Focus zone Nord + projet Napié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focus sur la zone Nord et le projet Napié.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Cockpit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Brief opérationnel · Projet sensible Nord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sz="1300">
                <a:solidFill>
                  <a:srgbClr val="E2E8F0"/>
                </a:solidFill>
                <a:latin typeface="Calibri"/>
              </a:rPr>
              <a:t>/strategie?focus=zone-nord&amp;highlight=proj-drone-centre-napie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Recadrage carte Korhogo / Poro - Surbrillance projet </a:t>
            </a:r>
            <a:r>
              <a:rPr sz="1300">
                <a:solidFill>
                  <a:srgbClr val="E2E8F0"/>
                </a:solidFill>
                <a:latin typeface="Calibri"/>
              </a:rPr>
              <a:t>proj-drone-centre-napie</a:t>
            </a:r>
            <a:r>
              <a:rPr sz="1300">
                <a:solidFill>
                  <a:srgbClr val="E2E8F0"/>
                </a:solidFill>
                <a:latin typeface="Calibri"/>
              </a:rPr>
              <a:t> (Centre Drones, 100 M USD) - Étiquette projet ouverte avec lien article Abidjan.net (juillet 2025)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aya.focus_zone_with_project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0.88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postdeploy/19-aya-focus-nord-napi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Carte stratégie · focus zone Nord + projet Centre Drones Napié (briefing opérationnel ouvert)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14 / 49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S1.4 · Cargo MV Atlantic Trader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montre le cargo Atlantic Trader.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Carte preview cockpit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clic pin violet MV Atlantic Trader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(ou)</a:t>
            </a:r>
            <a:r>
              <a:rPr sz="1300">
                <a:solidFill>
                  <a:srgbClr val="E2E8F0"/>
                </a:solidFill>
                <a:latin typeface="Calibri"/>
              </a:rPr>
              <a:t>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Port Vridi · webcam demo</a:t>
            </a:r>
            <a:r>
              <a:rPr sz="1300">
                <a:solidFill>
                  <a:srgbClr val="E2E8F0"/>
                </a:solidFill>
                <a:latin typeface="Calibri"/>
              </a:rPr>
              <a:t> (légende carte) </a:t>
            </a:r>
            <a:r>
              <a:rPr i="1" sz="1300">
                <a:solidFill>
                  <a:srgbClr val="E2E8F0"/>
                </a:solidFill>
                <a:latin typeface="Calibri"/>
              </a:rPr>
              <a:t>(ou)</a:t>
            </a:r>
            <a:r>
              <a:rPr sz="1300">
                <a:solidFill>
                  <a:srgbClr val="E2E8F0"/>
                </a:solidFill>
                <a:latin typeface="Calibri"/>
              </a:rPr>
              <a:t> FLUX TERRAIN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 (badge </a:t>
            </a:r>
            <a:r>
              <a:rPr sz="1300">
                <a:solidFill>
                  <a:srgbClr val="E2E8F0"/>
                </a:solidFill>
                <a:latin typeface="Calibri"/>
              </a:rPr>
              <a:t>Port Vridi · cargo demo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Vignette webcam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 (snapshot live) - Panel maritime · AIS pin · cargo </a:t>
            </a:r>
            <a:r>
              <a:rPr sz="1300">
                <a:solidFill>
                  <a:srgbClr val="E2E8F0"/>
                </a:solidFill>
                <a:latin typeface="Calibri"/>
              </a:rPr>
              <a:t>cargo-abidjan-supply-001</a:t>
            </a:r>
            <a:r>
              <a:rPr sz="1300">
                <a:solidFill>
                  <a:srgbClr val="E2E8F0"/>
                </a:solidFill>
                <a:latin typeface="Calibri"/>
              </a:rPr>
              <a:t> (composants Aerostar Dynamics) - Proposition AYA : </a:t>
            </a:r>
            <a:r>
              <a:rPr i="1" sz="1300">
                <a:solidFill>
                  <a:srgbClr val="E2E8F0"/>
                </a:solidFill>
                <a:latin typeface="Calibri"/>
              </a:rPr>
              <a:t>« Voir le PV des douanes ? »</a:t>
            </a:r>
            <a:r>
              <a:rPr sz="1300">
                <a:solidFill>
                  <a:srgbClr val="E2E8F0"/>
                </a:solidFill>
                <a:latin typeface="Calibri"/>
              </a:rPr>
              <a:t> → enchaîne S1.2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aya.show_vessel_evidence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1.05 (probe post-deploy — variante</a:t>
            </a:r>
            <a:r>
              <a:rPr sz="1300">
                <a:solidFill>
                  <a:srgbClr val="E2E8F0"/>
                </a:solidFill>
                <a:latin typeface="Calibri"/>
              </a:rPr>
              <a:t>explique le cargo</a:t>
            </a:r>
            <a:r>
              <a:rPr sz="1300">
                <a:solidFill>
                  <a:srgbClr val="E2E8F0"/>
                </a:solidFill>
                <a:latin typeface="Calibri"/>
              </a:rPr>
              <a:t>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· 16 vessels AIS confirmés · webcam APM 200 image/jpeg</a:t>
            </a:r>
          </a:p>
        </p:txBody>
      </p:sp>
      <p:pic>
        <p:nvPicPr>
          <p:cNvPr descr="status-screenshots/2026-05-25-postdeploy/17-aya-vessel-carg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06400"/>
            <a:ext cx="51054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Mission Control · carte + webcam APM Apapa Gate #1 (cargo demo Port Vridi) — 16/16 flux terrain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15 / 49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S1.5 · Situation au port (vue d’ensemble maritime)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montre la situation au port.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(action nouvelle — commit </a:t>
            </a:r>
            <a:r>
              <a:rPr i="1" sz="1300">
                <a:solidFill>
                  <a:srgbClr val="E2E8F0"/>
                </a:solidFill>
                <a:latin typeface="Calibri"/>
              </a:rPr>
              <a:t>6335d460</a:t>
            </a:r>
            <a:r>
              <a:rPr i="1" sz="1300">
                <a:solidFill>
                  <a:srgbClr val="E2E8F0"/>
                </a:solidFill>
                <a:latin typeface="Calibri"/>
              </a:rPr>
              <a:t>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Stratégie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Mode live · Maritime</a:t>
            </a:r>
            <a:r>
              <a:rPr sz="1300">
                <a:solidFill>
                  <a:srgbClr val="E2E8F0"/>
                </a:solidFill>
                <a:latin typeface="Calibri"/>
              </a:rPr>
              <a:t> → grille webcams + panel AIS Vridi.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Vue port Abidjan (map zoomée Vridi) - Panel maritime ouvert · liste 16 navires - Webcam APM Apapa en tête de la grille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aya.show_maritime_traffic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1.05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— action vague-1.5 confirmée déployée</a:t>
            </a:r>
          </a:p>
        </p:txBody>
      </p:sp>
      <p:pic>
        <p:nvPicPr>
          <p:cNvPr descr="status-screenshots/2026-05-25-postdeploy/16-aya-port-webc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06400"/>
            <a:ext cx="51054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Mission Control · Maritime / douanes — Port d’Abidjan Vridi + brief opérationnel Nord 72 % (post-deploy)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16 / 49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S1.6 · Mail dérogation douanière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rédige le courrier de dédouanement pour Atlantic Trader.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Drawer PV douanes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Préparer email dérogation</a:t>
            </a:r>
            <a:r>
              <a:rPr sz="1300">
                <a:solidFill>
                  <a:srgbClr val="E2E8F0"/>
                </a:solidFill>
                <a:latin typeface="Calibri"/>
              </a:rPr>
              <a:t> (proposal </a:t>
            </a:r>
            <a:r>
              <a:rPr sz="1300">
                <a:solidFill>
                  <a:srgbClr val="E2E8F0"/>
                </a:solidFill>
                <a:latin typeface="Calibri"/>
              </a:rPr>
              <a:t>propose-customs-derogation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Drawer email </a:t>
            </a:r>
            <a:r>
              <a:rPr sz="1300">
                <a:solidFill>
                  <a:srgbClr val="E2E8F0"/>
                </a:solidFill>
                <a:latin typeface="Calibri"/>
              </a:rPr>
              <a:t>customs_derogation</a:t>
            </a:r>
            <a:r>
              <a:rPr sz="1300">
                <a:solidFill>
                  <a:srgbClr val="E2E8F0"/>
                </a:solidFill>
                <a:latin typeface="Calibri"/>
              </a:rPr>
              <a:t> · advisory-only - Destinataire : Direction Générale des Douanes (DGD Abidjan) - Corps pré-rédigé : distingue cargo drones ≠ lot non conforme · cite Abidjan.net + PV 18/05 - Bandeau </a:t>
            </a:r>
            <a:r>
              <a:rPr b="1" sz="1300">
                <a:solidFill>
                  <a:srgbClr val="E2E8F0"/>
                </a:solidFill>
                <a:latin typeface="Calibri"/>
              </a:rPr>
              <a:t>« Proposition Cabinet — aucun envoi automatique »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aya.draft_customs_email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0.94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postdeploy/18-aya-mail-derog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AYA · brouillon mail dérogation douanière (reasoning trail visible, structure « Objet · Monsieur/Madame le Chef des Douanes »)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1270000">
              <a:buNone/>
            </a:pPr>
            <a:r>
              <a:rPr sz="900" i="1">
                <a:solidFill>
                  <a:srgbClr val="E2E8F0"/>
                </a:solidFill>
                <a:latin typeface="Calibri"/>
              </a:rPr>
              <a:t>Légende : capture post-deploy — AYA streame le brouillon advisory (structure formelle, citations à compléter par le Cabinet). Drawer email dédié </a:t>
            </a:r>
            <a:r>
              <a:rPr sz="900" i="1">
                <a:solidFill>
                  <a:srgbClr val="E2E8F0"/>
                </a:solidFill>
                <a:latin typeface="Calibri"/>
              </a:rPr>
              <a:t>customs_derogation</a:t>
            </a:r>
            <a:r>
              <a:rPr sz="900" i="1">
                <a:solidFill>
                  <a:srgbClr val="E2E8F0"/>
                </a:solidFill>
                <a:latin typeface="Calibri"/>
              </a:rPr>
              <a:t> activable via le bouton « Préparer email dérogation » du drawer PV (plan B clic).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17 / 49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S1 · Drill Nord — verdict 6 / 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0"/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Étape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Action AYA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Probe post-deploy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Plan B clic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Pourquoi Nord tendue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aya.explain_why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Zone Nord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S1.2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PV douanes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aya.show_customs_record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PV (panel maritime)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S1.3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Focus Nord + Napié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aya.focus_zone_with_project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0.88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Bouton Brief opérationnel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Cargo Atlantic Trader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aya.show_vessel_evidence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1.05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Pin carte / Webcam demo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Situation au port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aya.show_maritime_traffic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1.05 (NOUVEAU)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Mode live maritime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Mail dérogation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aya.draft_customs_email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0.94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Bouton drawer PV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18 / 49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 S1 : 6 / 6 PASS post-deploy · 6 / 6 plan B clic confirmé</a:t>
            </a:r>
          </a:p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« En cinq minutes, AYA est passée du signal territorial à la preuve douanière, avec une proposition d’action sourcée — sans exécuter à la place du Cabinet.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19 / 49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Bloc 3 — Transition · L’agenda reprend le fil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20 / 49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T.1 · Prochain rendez-vous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quel est mon prochain rendez-vous ?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Agenda</a:t>
            </a:r>
            <a:r>
              <a:rPr sz="1300">
                <a:solidFill>
                  <a:srgbClr val="E2E8F0"/>
                </a:solidFill>
                <a:latin typeface="Calibri"/>
              </a:rPr>
              <a:t> →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Préfet Nawa · 11h00 Soubré</a:t>
            </a:r>
            <a:r>
              <a:rPr sz="1300">
                <a:solidFill>
                  <a:srgbClr val="E2E8F0"/>
                </a:solidFill>
                <a:latin typeface="Calibri"/>
              </a:rPr>
              <a:t> dans la timeline du 25 mai.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Navigation </a:t>
            </a:r>
            <a:r>
              <a:rPr sz="1300">
                <a:solidFill>
                  <a:srgbClr val="E2E8F0"/>
                </a:solidFill>
                <a:latin typeface="Calibri"/>
              </a:rPr>
              <a:t>/hypervisor/mission-room/agenda</a:t>
            </a:r>
            <a:r>
              <a:rPr sz="1300">
                <a:solidFill>
                  <a:srgbClr val="E2E8F0"/>
                </a:solidFill>
                <a:latin typeface="Calibri"/>
              </a:rPr>
              <a:t> - Highlight event </a:t>
            </a:r>
            <a:r>
              <a:rPr sz="1300">
                <a:solidFill>
                  <a:srgbClr val="E2E8F0"/>
                </a:solidFill>
                <a:latin typeface="Calibri"/>
              </a:rPr>
              <a:t>evt-prefet-nawa</a:t>
            </a:r>
            <a:r>
              <a:rPr sz="1300">
                <a:solidFill>
                  <a:srgbClr val="E2E8F0"/>
                </a:solidFill>
                <a:latin typeface="Calibri"/>
              </a:rPr>
              <a:t> (id </a:t>
            </a:r>
            <a:r>
              <a:rPr sz="1300">
                <a:solidFill>
                  <a:srgbClr val="E2E8F0"/>
                </a:solidFill>
                <a:latin typeface="Calibri"/>
              </a:rPr>
              <a:t>5f3ccd49-9877-445a-a385-cabf61a784b4</a:t>
            </a:r>
            <a:r>
              <a:rPr sz="1300">
                <a:solidFill>
                  <a:srgbClr val="E2E8F0"/>
                </a:solidFill>
                <a:latin typeface="Calibri"/>
              </a:rPr>
              <a:t>) - Drawer détail · participants Cabinet · contexte rapport préfectoral 10/05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aya.open_next_meeting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0.89 (smoke probe)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demo-eve/08-agend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Agenda · 6 events du 25/05 · Préfet Nawa 11h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21 / 49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Bloc 4 — Scénario 2 · Préfet Nawa / diversification cacao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22 / 49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Durée cible : 7 min · 9 étapes · enjeu </a:t>
            </a:r>
            <a:r>
              <a:rPr b="1" sz="1300">
                <a:solidFill>
                  <a:srgbClr val="E2E8F0"/>
                </a:solidFill>
                <a:latin typeface="Calibri"/>
              </a:rPr>
              <a:t>diversification cacao + transformation locale</a:t>
            </a:r>
            <a:r>
              <a:rPr sz="1300">
                <a:solidFill>
                  <a:srgbClr val="E2E8F0"/>
                </a:solidFill>
                <a:latin typeface="Calibri"/>
              </a:rPr>
              <a:t> · le VP prépare l’arbitrage avant la rencontre du Préfet de Nawa à Soubré (11h00).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23 / 49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S2.1 · Résume nos derniers échanges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donne-moi le résumé du rapport préfet.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Agenda → event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« Synthèse AYA »</a:t>
            </a:r>
            <a:r>
              <a:rPr sz="1300">
                <a:solidFill>
                  <a:srgbClr val="E2E8F0"/>
                </a:solidFill>
                <a:latin typeface="Calibri"/>
              </a:rPr>
              <a:t> (chip dans </a:t>
            </a:r>
            <a:r>
              <a:rPr sz="1300">
                <a:solidFill>
                  <a:srgbClr val="E2E8F0"/>
                </a:solidFill>
                <a:latin typeface="Calibri"/>
              </a:rPr>
              <a:t>agenda-timeline-panel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Synthèse inline structurée · région Nawa / Soubré · filière cacao - Proposition automatique : </a:t>
            </a:r>
            <a:r>
              <a:rPr i="1" sz="1300">
                <a:solidFill>
                  <a:srgbClr val="E2E8F0"/>
                </a:solidFill>
                <a:latin typeface="Calibri"/>
              </a:rPr>
              <a:t>« Préconisations cacao ? »</a:t>
            </a:r>
            <a:r>
              <a:rPr sz="1300">
                <a:solidFill>
                  <a:srgbClr val="E2E8F0"/>
                </a:solidFill>
                <a:latin typeface="Calibri"/>
              </a:rPr>
              <a:t> - Awaiting bucket workspace · </a:t>
            </a:r>
            <a:r>
              <a:rPr sz="1300">
                <a:solidFill>
                  <a:srgbClr val="E2E8F0"/>
                </a:solidFill>
                <a:latin typeface="Calibri"/>
              </a:rPr>
              <a:t>key=cacao_summary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aya.summarize_last_exchanges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0.92 (QA S2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24 / 49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S2.2 · Résume le rapport Préfet Nawa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résume le rapport Préfet Nawa.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Pas de plan B clic dédié</a:t>
            </a:r>
            <a:r>
              <a:rPr sz="1300">
                <a:solidFill>
                  <a:srgbClr val="E2E8F0"/>
                </a:solidFill>
                <a:latin typeface="Calibri"/>
              </a:rPr>
              <a:t> — la trame s’appuie sur S2.1 / chip Synthèse AYA pour la lecture inline. Document complet ~70 p. (</a:t>
            </a:r>
            <a:r>
              <a:rPr sz="1300">
                <a:solidFill>
                  <a:srgbClr val="E2E8F0"/>
                </a:solidFill>
                <a:latin typeface="Calibri"/>
              </a:rPr>
              <a:t>report-prefet-nawa-2026-05-10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Même handler que S2.1, mais déclenche le skill </a:t>
            </a:r>
            <a:r>
              <a:rPr sz="1300">
                <a:solidFill>
                  <a:srgbClr val="E2E8F0"/>
                </a:solidFill>
                <a:latin typeface="Calibri"/>
              </a:rPr>
              <a:t>summarize_long_document_v1</a:t>
            </a:r>
            <a:r>
              <a:rPr sz="1300">
                <a:solidFill>
                  <a:srgbClr val="E2E8F0"/>
                </a:solidFill>
                <a:latin typeface="Calibri"/>
              </a:rPr>
              <a:t> (lecture longue) - Synthèse texte structurée (pas de drawer </a:t>
            </a:r>
            <a:r>
              <a:rPr sz="1300">
                <a:solidFill>
                  <a:srgbClr val="E2E8F0"/>
                </a:solidFill>
                <a:latin typeface="Calibri"/>
              </a:rPr>
              <a:t>document_preview</a:t>
            </a:r>
            <a:r>
              <a:rPr sz="1300">
                <a:solidFill>
                  <a:srgbClr val="E2E8F0"/>
                </a:solidFill>
                <a:latin typeface="Calibri"/>
              </a:rPr>
              <a:t> ici) - Sources citées en bas de bulle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aya.summarize_last_exchanges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(handler intègre </a:t>
            </a:r>
            <a:r>
              <a:rPr i="1" sz="1300">
                <a:solidFill>
                  <a:srgbClr val="E2E8F0"/>
                </a:solidFill>
                <a:latin typeface="Calibri"/>
              </a:rPr>
              <a:t>summarize_long_document_v1</a:t>
            </a:r>
            <a:r>
              <a:rPr i="1" sz="1300">
                <a:solidFill>
                  <a:srgbClr val="E2E8F0"/>
                </a:solidFill>
                <a:latin typeface="Calibri"/>
              </a:rPr>
              <a:t>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0.91 (QA S2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 b="1">
                <a:solidFill>
                  <a:srgbClr val="A78BFA"/>
                </a:solidFill>
                <a:latin typeface="Calibri"/>
              </a:rPr>
              <a:t>[AYA only]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(synthèse inline, pas de drawer)</a:t>
            </a:r>
          </a:p>
        </p:txBody>
      </p:sp>
      <p:pic>
        <p:nvPicPr>
          <p:cNvPr descr="status-screenshots/2026-05-25-demo-eve/09-agenda-meeting-detai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Agenda detail · Préfet Nawa · ordre du jour vierge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25 / 49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S2.3 · Recommande un plan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donne-moi des préconisations sur le cacao.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Pas de plan B clic en démo</a:t>
            </a:r>
            <a:r>
              <a:rPr sz="1300">
                <a:solidFill>
                  <a:srgbClr val="E2E8F0"/>
                </a:solidFill>
                <a:latin typeface="Calibri"/>
              </a:rPr>
              <a:t> — skill </a:t>
            </a:r>
            <a:r>
              <a:rPr sz="1300">
                <a:solidFill>
                  <a:srgbClr val="E2E8F0"/>
                </a:solidFill>
                <a:latin typeface="Calibri"/>
              </a:rPr>
              <a:t>generate_recommendations_v1</a:t>
            </a:r>
            <a:r>
              <a:rPr sz="1300">
                <a:solidFill>
                  <a:srgbClr val="E2E8F0"/>
                </a:solidFill>
                <a:latin typeface="Calibri"/>
              </a:rPr>
              <a:t> invoqué par AYA. </a:t>
            </a:r>
            <a:r>
              <a:rPr i="1" sz="1300">
                <a:solidFill>
                  <a:srgbClr val="E2E8F0"/>
                </a:solidFill>
                <a:latin typeface="Calibri"/>
              </a:rPr>
              <a:t>(Backlog post-démo : tuile « Préconisations cacao » sur la fiche event.)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Navigation </a:t>
            </a:r>
            <a:r>
              <a:rPr sz="1300">
                <a:solidFill>
                  <a:srgbClr val="E2E8F0"/>
                </a:solidFill>
                <a:latin typeface="Calibri"/>
              </a:rPr>
              <a:t>/hypervisor/mission-room/decisions?focus=package-cacao-diversification</a:t>
            </a:r>
            <a:r>
              <a:rPr sz="1300">
                <a:solidFill>
                  <a:srgbClr val="E2E8F0"/>
                </a:solidFill>
                <a:latin typeface="Calibri"/>
              </a:rPr>
              <a:t> - 3 leviers chiffrés : 1. </a:t>
            </a:r>
            <a:r>
              <a:rPr b="1" sz="1300">
                <a:solidFill>
                  <a:srgbClr val="E2E8F0"/>
                </a:solidFill>
                <a:latin typeface="Calibri"/>
              </a:rPr>
              <a:t>Petite industrie transformation</a:t>
            </a:r>
            <a:r>
              <a:rPr sz="1300">
                <a:solidFill>
                  <a:srgbClr val="E2E8F0"/>
                </a:solidFill>
                <a:latin typeface="Calibri"/>
              </a:rPr>
              <a:t> ~4,2 Mds FCFA · 78 % conf. 2. </a:t>
            </a:r>
            <a:r>
              <a:rPr b="1" sz="1300">
                <a:solidFill>
                  <a:srgbClr val="E2E8F0"/>
                </a:solidFill>
                <a:latin typeface="Calibri"/>
              </a:rPr>
              <a:t>Coopérative régionale</a:t>
            </a:r>
            <a:r>
              <a:rPr sz="1300">
                <a:solidFill>
                  <a:srgbClr val="E2E8F0"/>
                </a:solidFill>
                <a:latin typeface="Calibri"/>
              </a:rPr>
              <a:t> 3. </a:t>
            </a:r>
            <a:r>
              <a:rPr b="1" sz="1300">
                <a:solidFill>
                  <a:srgbClr val="E2E8F0"/>
                </a:solidFill>
                <a:latin typeface="Calibri"/>
              </a:rPr>
              <a:t>Plan mixte PPP</a:t>
            </a:r>
            <a:r>
              <a:rPr sz="1300">
                <a:solidFill>
                  <a:srgbClr val="E2E8F0"/>
                </a:solidFill>
                <a:latin typeface="Calibri"/>
              </a:rPr>
              <a:t> - Sources : guide diversification anacarde · Banque mondiale · EUDR - Awaiting bucket : </a:t>
            </a:r>
            <a:r>
              <a:rPr sz="1300">
                <a:solidFill>
                  <a:srgbClr val="E2E8F0"/>
                </a:solidFill>
                <a:latin typeface="Calibri"/>
              </a:rPr>
              <a:t>strategic_report</a:t>
            </a:r>
            <a:r>
              <a:rPr sz="1300">
                <a:solidFill>
                  <a:srgbClr val="E2E8F0"/>
                </a:solidFill>
                <a:latin typeface="Calibri"/>
              </a:rPr>
              <a:t> armé (préparation S2.4)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aya.recommend_cacao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1.06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 b="1">
                <a:solidFill>
                  <a:srgbClr val="A78BFA"/>
                </a:solidFill>
                <a:latin typeface="Calibri"/>
              </a:rPr>
              <a:t>[AYA only]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26 / 49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S2.4 · Génère le rapport stratégique complet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génère le rapport complet.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Pas de plan B clic en démo</a:t>
            </a:r>
            <a:r>
              <a:rPr sz="1300">
                <a:solidFill>
                  <a:srgbClr val="E2E8F0"/>
                </a:solidFill>
                <a:latin typeface="Calibri"/>
              </a:rPr>
              <a:t> — skill </a:t>
            </a:r>
            <a:r>
              <a:rPr sz="1300">
                <a:solidFill>
                  <a:srgbClr val="E2E8F0"/>
                </a:solidFill>
                <a:latin typeface="Calibri"/>
              </a:rPr>
              <a:t>draft_strategic_report</a:t>
            </a:r>
            <a:r>
              <a:rPr sz="1300">
                <a:solidFill>
                  <a:srgbClr val="E2E8F0"/>
                </a:solidFill>
                <a:latin typeface="Calibri"/>
              </a:rPr>
              <a:t> invoqué par AYA. </a:t>
            </a:r>
            <a:r>
              <a:rPr i="1" sz="1300">
                <a:solidFill>
                  <a:srgbClr val="E2E8F0"/>
                </a:solidFill>
                <a:latin typeface="Calibri"/>
              </a:rPr>
              <a:t>(Backlog : action « Générer rapport » dans </a:t>
            </a:r>
            <a:r>
              <a:rPr i="1" sz="1300">
                <a:solidFill>
                  <a:srgbClr val="E2E8F0"/>
                </a:solidFill>
                <a:latin typeface="Calibri"/>
              </a:rPr>
              <a:t>/decisions?focus=package-cacao-diversification</a:t>
            </a:r>
            <a:r>
              <a:rPr i="1" sz="1300">
                <a:solidFill>
                  <a:srgbClr val="E2E8F0"/>
                </a:solidFill>
                <a:latin typeface="Calibri"/>
              </a:rPr>
              <a:t>.)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Drawer PDF stratégique cacao · ~12 pages · WeasyPrint synchrone (~1.2 s) - URL signée ObjectStore ·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Télécharger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audit_event = report.strategic.generated</a:t>
            </a:r>
            <a:r>
              <a:rPr sz="1300">
                <a:solidFill>
                  <a:srgbClr val="E2E8F0"/>
                </a:solidFill>
                <a:latin typeface="Calibri"/>
              </a:rPr>
              <a:t> - Bandeau advisory </a:t>
            </a:r>
            <a:r>
              <a:rPr sz="1300">
                <a:solidFill>
                  <a:srgbClr val="E2E8F0"/>
                </a:solidFill>
                <a:latin typeface="Calibri"/>
              </a:rPr>
              <a:t>requires_validation=true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aya.draft_strategic_report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1.04 (smoke probe)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 b="1">
                <a:solidFill>
                  <a:srgbClr val="A78BFA"/>
                </a:solidFill>
                <a:latin typeface="Calibri"/>
              </a:rPr>
              <a:t>[AYA only]</a:t>
            </a:r>
          </a:p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Note narratif : le PDF stratégique fait 12 p. (~15 KB) — c’est une </a:t>
            </a:r>
            <a:r>
              <a:rPr sz="2000" b="1" i="1">
                <a:solidFill>
                  <a:srgbClr val="E2E8F0"/>
                </a:solidFill>
                <a:latin typeface="Calibri"/>
              </a:rPr>
              <a:t>synthèse cacao</a:t>
            </a:r>
            <a:r>
              <a:rPr sz="2000" i="1">
                <a:solidFill>
                  <a:srgbClr val="E2E8F0"/>
                </a:solidFill>
                <a:latin typeface="Calibri"/>
              </a:rPr>
              <a:t>, pas le rapport préfet de 70 p. Aligner la phrase de présentation : « rapport de diversification cacao prêt pour validation advisory ».</a:t>
            </a:r>
          </a:p>
        </p:txBody>
      </p:sp>
      <p:pic>
        <p:nvPicPr>
          <p:cNvPr descr="status-screenshots/2026-05-25-postdeploy/20-aya-rapport-strategiqu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300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Page décisions · package cacao-diversification — 3 arbitrages matin · barres comparaison option terrain · bandeau « Brouillon advisory »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27 / 49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S2.5 · Mets à jour l’ODJ : cacao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ajoute le point cacao à l'ordre du jour.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Agenda → event Préfet Nawa → page meeting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form « Proposer un point ODJ »</a:t>
            </a:r>
            <a:r>
              <a:rPr sz="1300">
                <a:solidFill>
                  <a:srgbClr val="E2E8F0"/>
                </a:solidFill>
                <a:latin typeface="Calibri"/>
              </a:rPr>
              <a:t> (champ titre +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Proposer modification</a:t>
            </a:r>
            <a:r>
              <a:rPr sz="1300">
                <a:solidFill>
                  <a:srgbClr val="E2E8F0"/>
                </a:solidFill>
                <a:latin typeface="Calibri"/>
              </a:rPr>
              <a:t>). Endpoint :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/api/v1/meetings/{event_id}/agenda-patch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Drawer </a:t>
            </a:r>
            <a:r>
              <a:rPr sz="1300">
                <a:solidFill>
                  <a:srgbClr val="E2E8F0"/>
                </a:solidFill>
                <a:latin typeface="Calibri"/>
              </a:rPr>
              <a:t>calendar_agenda_patch</a:t>
            </a:r>
            <a:r>
              <a:rPr sz="1300">
                <a:solidFill>
                  <a:srgbClr val="E2E8F0"/>
                </a:solidFill>
                <a:latin typeface="Calibri"/>
              </a:rPr>
              <a:t> · target </a:t>
            </a:r>
            <a:r>
              <a:rPr sz="1300">
                <a:solidFill>
                  <a:srgbClr val="E2E8F0"/>
                </a:solidFill>
                <a:latin typeface="Calibri"/>
              </a:rPr>
              <a:t>evt-prefet-nawa</a:t>
            </a:r>
            <a:r>
              <a:rPr sz="1300">
                <a:solidFill>
                  <a:srgbClr val="E2E8F0"/>
                </a:solidFill>
                <a:latin typeface="Calibri"/>
              </a:rPr>
              <a:t> - Proposition d’item </a:t>
            </a:r>
            <a:r>
              <a:rPr i="1" sz="1300">
                <a:solidFill>
                  <a:srgbClr val="E2E8F0"/>
                </a:solidFill>
                <a:latin typeface="Calibri"/>
              </a:rPr>
              <a:t>« Point cacao — diversification anacarde (proposition AYA) »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pending_agenda_patch</a:t>
            </a:r>
            <a:r>
              <a:rPr sz="1300">
                <a:solidFill>
                  <a:srgbClr val="E2E8F0"/>
                </a:solidFill>
                <a:latin typeface="Calibri"/>
              </a:rPr>
              <a:t> staged · awaiting </a:t>
            </a:r>
            <a:r>
              <a:rPr sz="1300">
                <a:solidFill>
                  <a:srgbClr val="E2E8F0"/>
                </a:solidFill>
                <a:latin typeface="Calibri"/>
              </a:rPr>
              <a:t>calendar_agenda_patch</a:t>
            </a:r>
            <a:r>
              <a:rPr sz="1300">
                <a:solidFill>
                  <a:srgbClr val="E2E8F0"/>
                </a:solidFill>
                <a:latin typeface="Calibri"/>
              </a:rPr>
              <a:t> - Bannière orange </a:t>
            </a:r>
            <a:r>
              <a:rPr b="1" sz="1300">
                <a:solidFill>
                  <a:srgbClr val="E2E8F0"/>
                </a:solidFill>
                <a:latin typeface="Calibri"/>
              </a:rPr>
              <a:t>« Modification ODJ proposée · AYA »</a:t>
            </a:r>
            <a:r>
              <a:rPr sz="1300">
                <a:solidFill>
                  <a:srgbClr val="E2E8F0"/>
                </a:solidFill>
                <a:latin typeface="Calibri"/>
              </a:rPr>
              <a:t> sur la fiche event - </a:t>
            </a:r>
            <a:r>
              <a:rPr b="1" sz="1300">
                <a:solidFill>
                  <a:srgbClr val="E2E8F0"/>
                </a:solidFill>
                <a:latin typeface="Calibri"/>
              </a:rPr>
              <a:t>PAS</a:t>
            </a:r>
            <a:r>
              <a:rPr sz="1300">
                <a:solidFill>
                  <a:srgbClr val="E2E8F0"/>
                </a:solidFill>
                <a:latin typeface="Calibri"/>
              </a:rPr>
              <a:t> d’écriture immédiate sur </a:t>
            </a:r>
            <a:r>
              <a:rPr sz="1300">
                <a:solidFill>
                  <a:srgbClr val="E2E8F0"/>
                </a:solidFill>
                <a:latin typeface="Calibri"/>
              </a:rPr>
              <a:t>evt-prefet-nawa.metadata.agenda_items</a:t>
            </a:r>
            <a:r>
              <a:rPr sz="1300">
                <a:solidFill>
                  <a:srgbClr val="E2E8F0"/>
                </a:solidFill>
                <a:latin typeface="Calibri"/>
              </a:rPr>
              <a:t> (garde de confirmation)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aya.update_meeting_agenda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0.92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postdeploy/21-aya-odj-caca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Meeting Préfet Nawa · chrono live · form « Proposer un point ODJ » (placeholder « Point cacao - diversification anacarde ») prêt à recevoir la proposition AYA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28 / 49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S2.6 · Valide la proposition ODJ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Oui, valide.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Bannière orange </a:t>
            </a:r>
            <a:r>
              <a:rPr b="1" sz="1300">
                <a:solidFill>
                  <a:srgbClr val="E2E8F0"/>
                </a:solidFill>
                <a:latin typeface="Calibri"/>
              </a:rPr>
              <a:t>« Modification ODJ proposée · AYA »</a:t>
            </a:r>
            <a:r>
              <a:rPr sz="1300">
                <a:solidFill>
                  <a:srgbClr val="E2E8F0"/>
                </a:solidFill>
                <a:latin typeface="Calibri"/>
              </a:rPr>
              <a:t>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Valider modification</a:t>
            </a:r>
            <a:r>
              <a:rPr sz="1300">
                <a:solidFill>
                  <a:srgbClr val="E2E8F0"/>
                </a:solidFill>
                <a:latin typeface="Calibri"/>
              </a:rPr>
              <a:t> (sur la fiche event ou page meeting). Endpoint :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/api/v1/meetings/{event_id}/agenda-patch/confirm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Resolver brut matche </a:t>
            </a:r>
            <a:r>
              <a:rPr sz="1300">
                <a:solidFill>
                  <a:srgbClr val="E2E8F0"/>
                </a:solidFill>
                <a:latin typeface="Calibri"/>
              </a:rPr>
              <a:t>voice.confirm_yes</a:t>
            </a:r>
            <a:r>
              <a:rPr sz="1300">
                <a:solidFill>
                  <a:srgbClr val="E2E8F0"/>
                </a:solidFill>
                <a:latin typeface="Calibri"/>
              </a:rPr>
              <a:t> (conf 0.88) - Traduction via awaiting bucket : </a:t>
            </a:r>
            <a:r>
              <a:rPr sz="1300">
                <a:solidFill>
                  <a:srgbClr val="E2E8F0"/>
                </a:solidFill>
                <a:latin typeface="Calibri"/>
              </a:rPr>
              <a:t>voice.confirm_yes → aya.confirm_agenda_patch</a:t>
            </a:r>
            <a:r>
              <a:rPr sz="1300">
                <a:solidFill>
                  <a:srgbClr val="E2E8F0"/>
                </a:solidFill>
                <a:latin typeface="Calibri"/>
              </a:rPr>
              <a:t> - Patch appliqué · </a:t>
            </a:r>
            <a:r>
              <a:rPr sz="1300">
                <a:solidFill>
                  <a:srgbClr val="E2E8F0"/>
                </a:solidFill>
                <a:latin typeface="Calibri"/>
              </a:rPr>
              <a:t>evt-prefet-nawa.metadata.agenda_items</a:t>
            </a:r>
            <a:r>
              <a:rPr sz="1300">
                <a:solidFill>
                  <a:srgbClr val="E2E8F0"/>
                </a:solidFill>
                <a:latin typeface="Calibri"/>
              </a:rPr>
              <a:t> mis à jour - Badge </a:t>
            </a:r>
            <a:r>
              <a:rPr b="1" sz="1300">
                <a:solidFill>
                  <a:srgbClr val="E2E8F0"/>
                </a:solidFill>
                <a:latin typeface="Calibri"/>
              </a:rPr>
              <a:t>« Ajouté par AYA »</a:t>
            </a:r>
            <a:r>
              <a:rPr sz="1300">
                <a:solidFill>
                  <a:srgbClr val="E2E8F0"/>
                </a:solidFill>
                <a:latin typeface="Calibri"/>
              </a:rPr>
              <a:t> · historique versionné - </a:t>
            </a:r>
            <a:r>
              <a:rPr sz="1300">
                <a:solidFill>
                  <a:srgbClr val="E2E8F0"/>
                </a:solidFill>
                <a:latin typeface="Calibri"/>
              </a:rPr>
              <a:t>pending_agenda_patch = null</a:t>
            </a:r>
            <a:r>
              <a:rPr sz="1300">
                <a:solidFill>
                  <a:srgbClr val="E2E8F0"/>
                </a:solidFill>
                <a:latin typeface="Calibri"/>
              </a:rPr>
              <a:t> (cleared)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Actions : voice.confirm_yes → aya.confirm_agenda_patch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0.88 + awaiting bucket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— guard </a:t>
            </a:r>
            <a:r>
              <a:rPr sz="1300">
                <a:solidFill>
                  <a:srgbClr val="E2E8F0"/>
                </a:solidFill>
                <a:latin typeface="Calibri"/>
              </a:rPr>
              <a:t>_CONFIRM_MAX_TOKENS=4</a:t>
            </a:r>
            <a:r>
              <a:rPr sz="1300">
                <a:solidFill>
                  <a:srgbClr val="E2E8F0"/>
                </a:solidFill>
                <a:latin typeface="Calibri"/>
              </a:rPr>
              <a:t> actif (</a:t>
            </a:r>
            <a:r>
              <a:rPr sz="1300">
                <a:solidFill>
                  <a:srgbClr val="E2E8F0"/>
                </a:solidFill>
                <a:latin typeface="Calibri"/>
              </a:rPr>
              <a:t>6335d460</a:t>
            </a:r>
            <a:r>
              <a:rPr sz="1300">
                <a:solidFill>
                  <a:srgbClr val="E2E8F0"/>
                </a:solidFill>
                <a:latin typeface="Calibri"/>
              </a:rPr>
              <a:t>)</a:t>
            </a:r>
          </a:p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Garde-fou : ne jamais dire « OK » seul. Toujours « Oui, valide. » ou enchaîner sur un verbe.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29 / 49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S2.7 · Démarre la réunion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démarre la réunion.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(variante : </a:t>
            </a:r>
            <a:r>
              <a:rPr i="1" sz="1300">
                <a:solidFill>
                  <a:srgbClr val="E2E8F0"/>
                </a:solidFill>
                <a:latin typeface="Calibri"/>
              </a:rPr>
              <a:t>commence la réunion</a:t>
            </a:r>
            <a:r>
              <a:rPr i="1" sz="1300">
                <a:solidFill>
                  <a:srgbClr val="E2E8F0"/>
                </a:solidFill>
                <a:latin typeface="Calibri"/>
              </a:rPr>
              <a:t>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Agenda → event Préfet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« Démarrer la réunion »</a:t>
            </a:r>
            <a:r>
              <a:rPr sz="1300">
                <a:solidFill>
                  <a:srgbClr val="E2E8F0"/>
                </a:solidFill>
                <a:latin typeface="Calibri"/>
              </a:rPr>
              <a:t> sur la card. Endpoint :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/api/v1/meetings/{event_id}/start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Navigation </a:t>
            </a:r>
            <a:r>
              <a:rPr sz="1300">
                <a:solidFill>
                  <a:srgbClr val="E2E8F0"/>
                </a:solidFill>
                <a:latin typeface="Calibri"/>
              </a:rPr>
              <a:t>/hypervisor/mission-room/agenda/meeting/5f3ccd49…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actions.current_meeting = evt-prefet-nawa</a:t>
            </a:r>
            <a:r>
              <a:rPr sz="1300">
                <a:solidFill>
                  <a:srgbClr val="E2E8F0"/>
                </a:solidFill>
                <a:latin typeface="Calibri"/>
              </a:rPr>
              <a:t> persisté - UI bascule en </a:t>
            </a:r>
            <a:r>
              <a:rPr b="1" sz="1300">
                <a:solidFill>
                  <a:srgbClr val="E2E8F0"/>
                </a:solidFill>
                <a:latin typeface="Calibri"/>
              </a:rPr>
              <a:t>mode meeting live</a:t>
            </a:r>
            <a:r>
              <a:rPr sz="1300">
                <a:solidFill>
                  <a:srgbClr val="E2E8F0"/>
                </a:solidFill>
                <a:latin typeface="Calibri"/>
              </a:rPr>
              <a:t> · chronométrage · ODJ vertical - Bandeau </a:t>
            </a:r>
            <a:r>
              <a:rPr i="1" sz="1300">
                <a:solidFill>
                  <a:srgbClr val="E2E8F0"/>
                </a:solidFill>
                <a:latin typeface="Calibri"/>
              </a:rPr>
              <a:t>« Mode meeting live · chaque arbitrage sera loggé dans le registre des décisions »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aya.start_meeting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1.02 (probe post-deploy, variante</a:t>
            </a:r>
            <a:r>
              <a:rPr sz="1300">
                <a:solidFill>
                  <a:srgbClr val="E2E8F0"/>
                </a:solidFill>
                <a:latin typeface="Calibri"/>
              </a:rPr>
              <a:t>commence la réunion</a:t>
            </a:r>
            <a:r>
              <a:rPr sz="1300">
                <a:solidFill>
                  <a:srgbClr val="E2E8F0"/>
                </a:solidFill>
                <a:latin typeface="Calibri"/>
              </a:rPr>
              <a:t>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30 / 49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S2.8 · Acte décision option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décide option B.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(variantes : </a:t>
            </a:r>
            <a:r>
              <a:rPr i="1" sz="1300">
                <a:solidFill>
                  <a:srgbClr val="E2E8F0"/>
                </a:solidFill>
                <a:latin typeface="Calibri"/>
              </a:rPr>
              <a:t>valide l'option B</a:t>
            </a:r>
            <a:r>
              <a:rPr i="1" sz="1300">
                <a:solidFill>
                  <a:srgbClr val="E2E8F0"/>
                </a:solidFill>
                <a:latin typeface="Calibri"/>
              </a:rPr>
              <a:t>, </a:t>
            </a:r>
            <a:r>
              <a:rPr i="1" sz="1300">
                <a:solidFill>
                  <a:srgbClr val="E2E8F0"/>
                </a:solidFill>
                <a:latin typeface="Calibri"/>
              </a:rPr>
              <a:t>j'arbitre option B</a:t>
            </a:r>
            <a:r>
              <a:rPr i="1" sz="1300">
                <a:solidFill>
                  <a:srgbClr val="E2E8F0"/>
                </a:solidFill>
                <a:latin typeface="Calibri"/>
              </a:rPr>
              <a:t>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Meeting view → clic point ODJ </a:t>
            </a:r>
            <a:r>
              <a:rPr b="1" sz="1300">
                <a:solidFill>
                  <a:srgbClr val="E2E8F0"/>
                </a:solidFill>
                <a:latin typeface="Calibri"/>
              </a:rPr>
              <a:t>« Cacao »</a:t>
            </a:r>
            <a:r>
              <a:rPr sz="1300">
                <a:solidFill>
                  <a:srgbClr val="E2E8F0"/>
                </a:solidFill>
                <a:latin typeface="Calibri"/>
              </a:rPr>
              <a:t> → clic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Option B</a:t>
            </a:r>
            <a:r>
              <a:rPr sz="1300">
                <a:solidFill>
                  <a:srgbClr val="E2E8F0"/>
                </a:solidFill>
                <a:latin typeface="Calibri"/>
              </a:rPr>
              <a:t>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Décider</a:t>
            </a:r>
            <a:r>
              <a:rPr sz="1300">
                <a:solidFill>
                  <a:srgbClr val="E2E8F0"/>
                </a:solidFill>
                <a:latin typeface="Calibri"/>
              </a:rPr>
              <a:t> → modal rationale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Logger la décision</a:t>
            </a:r>
            <a:r>
              <a:rPr sz="1300">
                <a:solidFill>
                  <a:srgbClr val="E2E8F0"/>
                </a:solidFill>
                <a:latin typeface="Calibri"/>
              </a:rPr>
              <a:t>. Endpoint :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/api/v1/meetings/{event_id}/decisions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Modal rationale · choix </a:t>
            </a:r>
            <a:r>
              <a:rPr sz="1300">
                <a:solidFill>
                  <a:srgbClr val="E2E8F0"/>
                </a:solidFill>
                <a:latin typeface="Calibri"/>
              </a:rPr>
              <a:t>option B = Diversification anacarde</a:t>
            </a:r>
            <a:r>
              <a:rPr sz="1300">
                <a:solidFill>
                  <a:srgbClr val="E2E8F0"/>
                </a:solidFill>
                <a:latin typeface="Calibri"/>
              </a:rPr>
              <a:t> - Décision persistée · registre </a:t>
            </a:r>
            <a:r>
              <a:rPr sz="1300">
                <a:solidFill>
                  <a:srgbClr val="E2E8F0"/>
                </a:solidFill>
                <a:latin typeface="Calibri"/>
              </a:rPr>
              <a:t>meeting_decisions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source_refs = [sentinel-ci-anacarde-diversification-v1, report-prefet-nawa-2026-05-10]</a:t>
            </a:r>
            <a:r>
              <a:rPr sz="1300">
                <a:solidFill>
                  <a:srgbClr val="E2E8F0"/>
                </a:solidFill>
                <a:latin typeface="Calibri"/>
              </a:rPr>
              <a:t> - Frame SSE </a:t>
            </a:r>
            <a:r>
              <a:rPr sz="1300">
                <a:solidFill>
                  <a:srgbClr val="E2E8F0"/>
                </a:solidFill>
                <a:latin typeface="Calibri"/>
              </a:rPr>
              <a:t>assistant-navigate ?decision=&lt;id&gt;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aya.log_decision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0.89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31 / 49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S2.9 · Rappelle les décisions passées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qu'avons-nous décidé la dernière fois ?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Arbitrages</a:t>
            </a:r>
            <a:r>
              <a:rPr sz="1300">
                <a:solidFill>
                  <a:srgbClr val="E2E8F0"/>
                </a:solidFill>
                <a:latin typeface="Calibri"/>
              </a:rPr>
              <a:t> → bloc </a:t>
            </a:r>
            <a:r>
              <a:rPr b="1" sz="1300">
                <a:solidFill>
                  <a:srgbClr val="E2E8F0"/>
                </a:solidFill>
                <a:latin typeface="Calibri"/>
              </a:rPr>
              <a:t>« Arbitrages loggés en mode meeting »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(ou)</a:t>
            </a:r>
            <a:r>
              <a:rPr sz="1300">
                <a:solidFill>
                  <a:srgbClr val="E2E8F0"/>
                </a:solidFill>
                <a:latin typeface="Calibri"/>
              </a:rPr>
              <a:t> meeting view → décisions inline.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Liste antéchronologique top-5 décisions cacao - La décision du jour (S2.8) en tête - 2 historiques de runs précédents (</a:t>
            </a:r>
            <a:r>
              <a:rPr sz="1300">
                <a:solidFill>
                  <a:srgbClr val="E2E8F0"/>
                </a:solidFill>
                <a:latin typeface="Calibri"/>
              </a:rPr>
              <a:t>2026-05-24T10:53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09:35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06:50</a:t>
            </a:r>
            <a:r>
              <a:rPr sz="1300">
                <a:solidFill>
                  <a:srgbClr val="E2E8F0"/>
                </a:solidFill>
                <a:latin typeface="Calibri"/>
              </a:rPr>
              <a:t>) - Pas de side-effect navigation (réponse texte uniquement)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aya.recall_past_decisions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1.06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32 / 49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S2 · Préfet Nawa — verdict 9 / 9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0"/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Étape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Action AYA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Probe post-deploy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Plan B clic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Résume derniers échanges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aya.summarize_last_exchanges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0.92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Bouton Synthèse AYA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S2.2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Résume rapport Nawa (~70p)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aya.summarize_last_exchanges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0.91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[AYA only]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S2.3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Préconisations 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aya.recommend_cacao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[AYA only]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Rapport stratégique PDF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aya.draft_strategic_report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[AYA only]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Ajout point ODJ 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aya.update_meeting_agenda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0.92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Form « Proposer un point »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Validation ODJ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voice.confirm_yes → aya.confirm_agenda_patch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0.88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Bouton « Valider modification »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S2.7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Démarre la réunion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aya.start_meeting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Bouton « Démarrer la réunion »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S2.8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Décide option B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aya.log_decision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0.89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Modal Décider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Rappelle décisions passées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aya.recall_past_decisions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Arbitrages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33 / 49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 S2 : 9 / 9 PASS post-deploy · 6 / 9 plan B clic confirmé · 3 / 9 </a:t>
            </a:r>
            <a:r>
              <a:rPr b="1" sz="1300">
                <a:solidFill>
                  <a:srgbClr val="A78BFA"/>
                </a:solidFill>
                <a:latin typeface="Calibri"/>
              </a:rPr>
              <a:t>[AYA only]</a:t>
            </a:r>
            <a:r>
              <a:rPr b="1" sz="1300">
                <a:solidFill>
                  <a:srgbClr val="E2E8F0"/>
                </a:solidFill>
                <a:latin typeface="Calibri"/>
              </a:rPr>
              <a:t> (S2.2, S2.3, S2.4)</a:t>
            </a:r>
          </a:p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« De la lecture d’un rapport de 70 pages à la décision loggée en réunion — AYA a accompagné tout le cycle, avec traçabilité et validation à chaque étape d’écriture.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34 / 49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Bloc 5 — Récap global, plan B, bonus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35 / 49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global · 16 / 16 étapes PASS post-deploy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0"/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Bloc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Étapes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[AYA only]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Plan B clic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S1 — Drill Nord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T — Transition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S2 — Préfet Nawa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9 / 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3 (S2.2, S2.3, S2.4)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 / 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Total démo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16 / 16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13 / 16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36 / 49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Smoke probe pré-démo</a:t>
            </a:r>
            <a:r>
              <a:rPr sz="1300">
                <a:solidFill>
                  <a:srgbClr val="E2E8F0"/>
                </a:solidFill>
                <a:latin typeface="Calibri"/>
              </a:rPr>
              <a:t> : 20 / 20 PASS (6 vocal + 14 API non-régression). </a:t>
            </a:r>
            <a:r>
              <a:rPr b="1" sz="1300">
                <a:solidFill>
                  <a:srgbClr val="E2E8F0"/>
                </a:solidFill>
                <a:latin typeface="Calibri"/>
              </a:rPr>
              <a:t>Probes ciblés post-deploy</a:t>
            </a:r>
            <a:r>
              <a:rPr sz="1300">
                <a:solidFill>
                  <a:srgbClr val="E2E8F0"/>
                </a:solidFill>
                <a:latin typeface="Calibri"/>
              </a:rPr>
              <a:t> : 11 / 11 PASS (</a:t>
            </a:r>
            <a:r>
              <a:rPr sz="1300">
                <a:solidFill>
                  <a:srgbClr val="E2E8F0"/>
                </a:solidFill>
                <a:latin typeface="Calibri"/>
              </a:rPr>
              <a:t>show_maritime_traffic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show_vessel_evidence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update_meeting_agenda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show_customs_record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start_meeting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focus_zone_with_project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draft_customs_email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recommend_cacao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log_decision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recall_past_decisions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voice.confirm_yes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Verdict opérationnel : </a:t>
            </a:r>
            <a:r>
              <a:rPr sz="2000" i="1">
                <a:solidFill>
                  <a:srgbClr val="E2E8F0"/>
                </a:solidFill>
                <a:latin typeface="Calibri"/>
              </a:rPr>
              <a:t>Go</a:t>
            </a:r>
            <a:r>
              <a:rPr sz="2000" i="1">
                <a:solidFill>
                  <a:srgbClr val="E2E8F0"/>
                </a:solidFill>
                <a:latin typeface="Calibri"/>
              </a:rPr>
              <a:t> plein écran. Pas de P0. WARN unique documenté : volumétrie PDF stratégique (12 p. ~15 KB vs 70 p. annoncés au brief initial — aligner verbalement « synthèse cacao »).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37 / 49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Plan B URL · raccourcis directs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Si AYA ne répond pas ou si une route ne se charge pas, taper l’URL en direct (workspace </a:t>
            </a:r>
            <a:r>
              <a:rPr sz="1300">
                <a:solidFill>
                  <a:srgbClr val="E2E8F0"/>
                </a:solidFill>
                <a:latin typeface="Calibri"/>
              </a:rPr>
              <a:t>sentinel-ci</a:t>
            </a:r>
            <a:r>
              <a:rPr sz="1300">
                <a:solidFill>
                  <a:srgbClr val="E2E8F0"/>
                </a:solidFill>
                <a:latin typeface="Calibri"/>
              </a:rPr>
              <a:t>)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Sujet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URL directe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Cockpit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/hypervisor/mission-room/cockpit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Stratégie · carte plein écran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/hypervisor/mission-room/strategie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Stratégie · focus Nord + Napié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/hypervisor/mission-room/strategie?focus=zone-nord&amp;highlight=proj-drone-centre-napie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Stratégie · maritime live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/hypervisor/mission-room/strategie?mode=live&amp;panel=maritime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Stratégie · MV Atlantic Trader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/hypervisor/mission-room/strategie?mode=live&amp;panel=maritime&amp;vessel=627012345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Presse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/hypervisor/mission-room/presse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Meeting live Préfet Nawa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/hypervisor/mission-room/agenda/meeting/evt-prefet-nawa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Décisions · package 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/hypervisor/mission-room/decisions?focus=package-cacao-diversification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Monitor (FLUX TERRAIN)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/hypervisor/mission-room/monitor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38 / 49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Endpoints REST clic-équivalents</a:t>
            </a:r>
            <a:r>
              <a:rPr sz="1300">
                <a:solidFill>
                  <a:srgbClr val="E2E8F0"/>
                </a:solidFill>
                <a:latin typeface="Calibri"/>
              </a:rPr>
              <a:t> : -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/api/v1/meetings/{event_id}/start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/api/v1/meetings/{event_id}/agenda-patch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/api/v1/meetings/{event_id}/agenda-patch/confirm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39 / 49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Bonus · 8 KPIs Osiris démo-safe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Valeurs cohérentes pour la démo (figées dans le seed Osiris CI) — à citer si le VP regarde le bloc INDICATEURS MACRO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KPI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Tendance démo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4 095 000 FCFA / 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-0.4 %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Anacarde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825 FCFA / kg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-0.8 %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Brent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78.5 USD / bbl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stable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Spread souverain CI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+15 bps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légère tension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Réserves BCEAO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4.2 mois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confortable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Tension régionale CEDEAO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72 / 100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surveillance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Sentiment opinion CI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58 / 100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favorable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Port Abidjan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12 400 TEU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nominal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40 / 49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Anchor narratif : la baisse cacao -0.4 % et anacarde -0.8 % donne du sens à la conversation diversification du S2.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41 / 49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Annexe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42 / 49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A.1 · Smoke probe complet (sortie tabulaire)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Run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2026-05-25 07:08:20 +0200</a:t>
            </a:r>
            <a:r>
              <a:rPr sz="1300">
                <a:solidFill>
                  <a:srgbClr val="E2E8F0"/>
                </a:solidFill>
                <a:latin typeface="Calibri"/>
              </a:rPr>
              <a:t> · host </a:t>
            </a:r>
            <a:r>
              <a:rPr sz="1300">
                <a:solidFill>
                  <a:srgbClr val="E2E8F0"/>
                </a:solidFill>
                <a:latin typeface="Calibri"/>
              </a:rPr>
              <a:t>https://agentium.papai.ai</a:t>
            </a:r>
            <a:r>
              <a:rPr sz="1300">
                <a:solidFill>
                  <a:srgbClr val="E2E8F0"/>
                </a:solidFill>
                <a:latin typeface="Calibri"/>
              </a:rPr>
              <a:t> · workspace </a:t>
            </a:r>
            <a:r>
              <a:rPr sz="1300">
                <a:solidFill>
                  <a:srgbClr val="E2E8F0"/>
                </a:solidFill>
                <a:latin typeface="Calibri"/>
              </a:rPr>
              <a:t>sentinel-ci</a:t>
            </a:r>
            <a:r>
              <a:rPr sz="1300">
                <a:solidFill>
                  <a:srgbClr val="E2E8F0"/>
                </a:solidFill>
                <a:latin typeface="Calibri"/>
              </a:rPr>
              <a:t> · timeout 8s.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Smoke vocal — POST </a:t>
            </a:r>
            <a:r>
              <a:rPr b="1" sz="1300">
                <a:solidFill>
                  <a:srgbClr val="E2E8F0"/>
                </a:solidFill>
                <a:latin typeface="Calibri"/>
              </a:rPr>
              <a:t>/api/v1/actions/resolve</a:t>
            </a:r>
            <a:r>
              <a:rPr b="1" sz="1300">
                <a:solidFill>
                  <a:srgbClr val="E2E8F0"/>
                </a:solidFill>
                <a:latin typeface="Calibri"/>
              </a:rPr>
              <a:t> (6 / 6)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723900"/>
                <a:gridCol w="723900"/>
                <a:gridCol w="723900"/>
                <a:gridCol w="723900"/>
                <a:gridCol w="723900"/>
                <a:gridCol w="723900"/>
                <a:gridCol w="723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Attendu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Obtenu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Conf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aya.acknowledge_presence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aya.acknowledge_presence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AYA, donne-moi le brief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priority_summary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aya.priority_summary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pv douanes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aya.show_customs_record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aya.show_customs_record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285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resume Prefet Nawa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aya.summarize_last_exchanges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aya.summarize_last_exchanges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1.02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genere le rapport complet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aya.draft_strategic_report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aya.draft_strategic_report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ouvre la prochaine reunion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aya.open_next_meeting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aya.open_next_meeting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43 / 49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spcBef>
                <a:spcPts val="3000"/>
              </a:spcBef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API non-régression (14 / 14)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Obtenu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cockpit.date_label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Lundi 25 Mai 2026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vp_status_bar[0].key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zone-nord-tension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vp_status_bar[0].pulse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vp_status_bar[0].id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(Vague 3)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zone-nord-tension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(non-null)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press_preview[0]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CI-first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« Côte d’Ivoire — lancement … »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agenda_day.events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premiers 4 sur 25/05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 / 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maritime/vessels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count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MV Atlantic Trader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linked_cargo_id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cargo-abidjan-supply-001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MV Atlantic Trader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recommended_webcam_source_id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apm-apapa-gate-1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webcams/proxy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GET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apm-apapa-gate-1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200 image/jpeg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webcams/proxy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HEAD (Vague 3)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manifest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aya.acknowledge_presence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calendar/events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2026-05-25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calendar/events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2026-05-26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44 / 49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Total</a:t>
            </a:r>
            <a:r>
              <a:rPr sz="1300">
                <a:solidFill>
                  <a:srgbClr val="E2E8F0"/>
                </a:solidFill>
                <a:latin typeface="Calibri"/>
              </a:rPr>
              <a:t> : 20 / 20 PASS · 100 %.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Probes ciblés post-deploy (11 / 11)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Action obtenue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Conf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montre la situation au port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aya.show_maritime_traffic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explique le cargo Atlantic Trader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aya.show_vessel_evidence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1.05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ajoute le point cacao a l'ODJ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aya.update_meeting_agenda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ouvre le PV douanes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aya.show_customs_record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commence la reunion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aya.start_meeting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focus sur la zone Nord et le projet Napie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aya.focus_zone_with_project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redige le courrier de dedouanement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aya.draft_customs_email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preconisations sur le cacao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aya.recommend_cacao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decide option B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aya.log_decision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qu'avons-nous decide la derniere fois ?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aya.recall_past_decisions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Oui, valide.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voice.confirm_yes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45 / 49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A.2 · Sources de vérité · HEAD prod confirmé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Trame narrative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hlinkClick r:id="rId2"/>
                <a:solidFill>
                  <a:srgbClr val="E2E8F0"/>
                </a:solidFill>
                <a:latin typeface="Calibri"/>
              </a:rPr>
              <a:t>docs/demo-aya-storytelling-trame.md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Walkthrough opérationnel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hlinkClick r:id="rId3"/>
                <a:solidFill>
                  <a:srgbClr val="E2E8F0"/>
                </a:solidFill>
                <a:latin typeface="Calibri"/>
              </a:rPr>
              <a:t>docs/sentinel-ci-demo-walkthrough-2026-05-25.md</a:t>
            </a:r>
            <a:r>
              <a:rPr sz="1300">
                <a:solidFill>
                  <a:srgbClr val="E2E8F0"/>
                </a:solidFill>
                <a:latin typeface="Calibri"/>
              </a:rPr>
              <a:t> (avec colonne « Chemin clic alternatif »)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Cheatsheet présentateur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hlinkClick r:id="rId4"/>
                <a:solidFill>
                  <a:srgbClr val="E2E8F0"/>
                </a:solidFill>
                <a:latin typeface="Calibri"/>
              </a:rPr>
              <a:t>docs/sentinel-ci-presenter-cheatsheet.md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QA post-deploy S1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hlinkClick r:id="rId5"/>
                <a:solidFill>
                  <a:srgbClr val="E2E8F0"/>
                </a:solidFill>
                <a:latin typeface="Calibri"/>
              </a:rPr>
              <a:t>docs/sentinel-ci-qa-postdeploy-s1-2026-05-24.md</a:t>
            </a:r>
            <a:r>
              <a:rPr sz="1300">
                <a:solidFill>
                  <a:srgbClr val="E2E8F0"/>
                </a:solidFill>
                <a:latin typeface="Calibri"/>
              </a:rPr>
              <a:t> (6 PASS / 1 WARN)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QA post-deploy S2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hlinkClick r:id="rId6"/>
                <a:solidFill>
                  <a:srgbClr val="E2E8F0"/>
                </a:solidFill>
                <a:latin typeface="Calibri"/>
              </a:rPr>
              <a:t>docs/sentinel-ci-qa-postdeploy-s2-2026-05-24.md</a:t>
            </a:r>
            <a:r>
              <a:rPr sz="1300">
                <a:solidFill>
                  <a:srgbClr val="E2E8F0"/>
                </a:solidFill>
                <a:latin typeface="Calibri"/>
              </a:rPr>
              <a:t> (9 PASS / 1 WARN)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Pack résolveur backend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backend/app/services/actions/registry.py</a:t>
            </a:r>
            <a:r>
              <a:rPr sz="1300">
                <a:solidFill>
                  <a:srgbClr val="E2E8F0"/>
                </a:solidFill>
                <a:latin typeface="Calibri"/>
              </a:rPr>
              <a:t> (manifests </a:t>
            </a:r>
            <a:r>
              <a:rPr sz="1300">
                <a:solidFill>
                  <a:srgbClr val="E2E8F0"/>
                </a:solidFill>
                <a:latin typeface="Calibri"/>
              </a:rPr>
              <a:t>aya.*</a:t>
            </a:r>
            <a:r>
              <a:rPr sz="1300">
                <a:solidFill>
                  <a:srgbClr val="E2E8F0"/>
                </a:solidFill>
                <a:latin typeface="Calibri"/>
              </a:rPr>
              <a:t>, lignes 274-1041)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Pack handlers backend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backend/app/services/actions/executor.py</a:t>
            </a:r>
            <a:r>
              <a:rPr sz="1300">
                <a:solidFill>
                  <a:srgbClr val="E2E8F0"/>
                </a:solidFill>
                <a:latin typeface="Calibri"/>
              </a:rPr>
              <a:t> (handlers + awaiting bucket)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HEAD prod confirmé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9d0f8012</a:t>
            </a:r>
            <a:r>
              <a:rPr sz="1300">
                <a:solidFill>
                  <a:srgbClr val="E2E8F0"/>
                </a:solidFill>
                <a:latin typeface="Calibri"/>
              </a:rPr>
              <a:t> — </a:t>
            </a:r>
            <a:r>
              <a:rPr i="1" sz="1300">
                <a:solidFill>
                  <a:srgbClr val="E2E8F0"/>
                </a:solidFill>
                <a:latin typeface="Calibri"/>
              </a:rPr>
              <a:t>Update demo walkthrough with click-path alternatives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510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Commits déployés (top 10 sur </a:t>
                      </a: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demo/agentic</a:t>
                      </a: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9d0f8012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Update demo walkthrough with click-path alternatives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21f74531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Wire agenda actions and arbitrage drill-down to UI clicks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86355ad7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Add click-path endpoints for agenda patch + meeting start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fa8eae27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Add 8 sovereign KPIs to cockpit macro indicators block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57258579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Fix maritime overlay: auto-enable layer on async vessel arrival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e31dab21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Add practical demo walkthrough with UI clicks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3509e03d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Fix cockpit click targets + webcam port entry for demo S1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e6e20200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Add press drill-down: article drawer + full list + clickable brief items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c14fa2ed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Load maritime webcam snapshots with auth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7df0599c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Fix maritime port action browser effects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46 / 49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A.3 · Conseil présentateur · 3 ouvertures + 3 clôtures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spcBef>
                <a:spcPts val="3000"/>
              </a:spcBef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3 phrases d’ouverture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Monsieur le Vice-Président, voici SENTINEL-CI : un cockpit souverain de gouvernance, opéré en mode advisory — AYA propose, le Cabinet décide. »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En treize minutes, deux postures complémentaires : ce matin réactif sur le Nord, ce midi proactif sur la diversification cacao avec le Préfet de Nawa. »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Toutes les sources sont citées, toutes les écritures (agenda, décisions, emails) passent par une validation explicite — rien ne sort sans votre accord. »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3 phrases de clôture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Nord qualifié · Nawa arbitré · décision option B loggée et mémorisée — la prochaine échéance est le Conseil de 15h. »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SENTINEL-CI ne remplace pas l’exécutif. Il accélère la lecture du réel, relie les signaux aux preuves, et prépare les arbitrages sous contrôle Cabinet. »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Plateforme Agentium : action pack </a:t>
            </a:r>
            <a:r>
              <a:rPr i="1" sz="1300">
                <a:solidFill>
                  <a:srgbClr val="E2E8F0"/>
                </a:solidFill>
                <a:latin typeface="Calibri"/>
              </a:rPr>
              <a:t>sentinel_ci_aya_v1</a:t>
            </a:r>
            <a:r>
              <a:rPr i="1" sz="1300">
                <a:solidFill>
                  <a:srgbClr val="E2E8F0"/>
                </a:solidFill>
                <a:latin typeface="Calibri"/>
              </a:rPr>
              <a:t> isolé, déployable workspace par workspace, héritage transverse sans pollution des autres clients souverains.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47 / 49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A.4 · Garde-fous présentateur (rappel)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Toujours</a:t>
            </a:r>
            <a:r>
              <a:rPr sz="1300">
                <a:solidFill>
                  <a:srgbClr val="E2E8F0"/>
                </a:solidFill>
                <a:latin typeface="Calibri"/>
              </a:rPr>
              <a:t> démarrer par un verbe d’action ou « </a:t>
            </a:r>
            <a:r>
              <a:rPr b="1" sz="1300">
                <a:solidFill>
                  <a:srgbClr val="E2E8F0"/>
                </a:solidFill>
                <a:latin typeface="Calibri"/>
              </a:rPr>
              <a:t>AYA, …</a:t>
            </a:r>
            <a:r>
              <a:rPr sz="1300">
                <a:solidFill>
                  <a:srgbClr val="E2E8F0"/>
                </a:solidFill>
                <a:latin typeface="Calibri"/>
              </a:rPr>
              <a:t> ».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Jamais</a:t>
            </a:r>
            <a:r>
              <a:rPr sz="1300">
                <a:solidFill>
                  <a:srgbClr val="E2E8F0"/>
                </a:solidFill>
                <a:latin typeface="Calibri"/>
              </a:rPr>
              <a:t> dire « OK » seul / « D’accord » seul → match </a:t>
            </a:r>
            <a:r>
              <a:rPr sz="1300">
                <a:solidFill>
                  <a:srgbClr val="E2E8F0"/>
                </a:solidFill>
                <a:latin typeface="Calibri"/>
              </a:rPr>
              <a:t>voice.confirm_yes</a:t>
            </a:r>
            <a:r>
              <a:rPr sz="1300">
                <a:solidFill>
                  <a:srgbClr val="E2E8F0"/>
                </a:solidFill>
                <a:latin typeface="Calibri"/>
              </a:rPr>
              <a:t> accidentel (guard </a:t>
            </a:r>
            <a:r>
              <a:rPr sz="1300">
                <a:solidFill>
                  <a:srgbClr val="E2E8F0"/>
                </a:solidFill>
                <a:latin typeface="Calibri"/>
              </a:rPr>
              <a:t>_CONFIRM_MAX_TOKENS=4</a:t>
            </a:r>
            <a:r>
              <a:rPr sz="1300">
                <a:solidFill>
                  <a:srgbClr val="E2E8F0"/>
                </a:solidFill>
                <a:latin typeface="Calibri"/>
              </a:rPr>
              <a:t> actif, mais filler isolé reste piégeux).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Toujours</a:t>
            </a:r>
            <a:r>
              <a:rPr sz="1300">
                <a:solidFill>
                  <a:srgbClr val="E2E8F0"/>
                </a:solidFill>
                <a:latin typeface="Calibri"/>
              </a:rPr>
              <a:t> dire et écrire </a:t>
            </a:r>
            <a:r>
              <a:rPr b="1" sz="1300">
                <a:solidFill>
                  <a:srgbClr val="E2E8F0"/>
                </a:solidFill>
                <a:latin typeface="Calibri"/>
              </a:rPr>
              <a:t>« Monsieur le Vice-Président »</a:t>
            </a:r>
            <a:r>
              <a:rPr sz="1300">
                <a:solidFill>
                  <a:srgbClr val="E2E8F0"/>
                </a:solidFill>
                <a:latin typeface="Calibri"/>
              </a:rPr>
              <a:t> (jamais « M. le Vice-Président » — TTS prononce « M » comme la lettre).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Si AYA répond hors-sujet : recommencer avec la forme canonique du cheatsheet (verbe pivot : </a:t>
            </a:r>
            <a:r>
              <a:rPr sz="1300">
                <a:solidFill>
                  <a:srgbClr val="E2E8F0"/>
                </a:solidFill>
                <a:latin typeface="Calibri"/>
              </a:rPr>
              <a:t>pourquoi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montre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rédige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démarre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décide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résume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En cas de doute UI : URL directe (voir slide « Plan B URL »).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48 / 49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Fin · </a:t>
            </a:r>
            <a:r>
              <a:rPr b="1" sz="2200">
                <a:solidFill>
                  <a:srgbClr val="3EE68A"/>
                </a:solidFill>
                <a:latin typeface="Calibri"/>
              </a:rPr>
              <a:t>Go</a:t>
            </a:r>
            <a:r>
              <a:rPr b="1" sz="2200">
                <a:solidFill>
                  <a:srgbClr val="3EE68A"/>
                </a:solidFill>
                <a:latin typeface="Calibri"/>
              </a:rPr>
              <a:t> démo VP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HEAD prod 9d0f8012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Smoke 20/20 PASS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Probes ciblés 11/11 PASS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Audit 16/16 étapes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Datategy · Plateforme Agentium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49 / 49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SENTINEL-CI · Démo Vice-Président</dc:title>
  <dc:creator>Datategy · Plateforme Agentium</dc:creator>
  <cp:keywords/>
  <dcterms:created xsi:type="dcterms:W3CDTF">2026-05-25T05:57:42Z</dcterms:created>
  <dcterms:modified xsi:type="dcterms:W3CDTF">2026-05-25T05:57:42Z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Lundi 25 mai 2026 · 09h00 (Abidjan)</vt:lpwstr>
  </property>
  <property fmtid="{D5CDD505-2E9C-101B-9397-08002B2CF9AE}" pid="3" name="subtitle">
    <vt:lpwstr>Cockpit gouvernance Côte d’Ivoire · narrative Napié + Préfet Nawa</vt:lpwstr>
  </property>
</Properties>
</file>