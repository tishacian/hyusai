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4400">
                <a:solidFill>
                  <a:srgbClr val="3EE68A"/>
                </a:solidFill>
                <a:latin typeface="Calibri"/>
              </a:rPr>
              <a:t>SENTINEL-CI · Briefing démo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 algn="ctr">
              <a:buNone/>
            </a:pPr>
            <a:r>
              <a:rPr sz="2000" i="1" b="0">
                <a:solidFill>
                  <a:srgbClr val="E2E8F0"/>
                </a:solidFill>
                <a:latin typeface="Calibri"/>
              </a:rPr>
              <a:t>25 mai 2026 · Monsieur le Vice-Président</a:t>
            </a:r>
            <a:br/>
            <a:br/>
            <a:r>
              <a:rPr sz="2000" i="1" b="0">
                <a:solidFill>
                  <a:srgbClr val="E2E8F0"/>
                </a:solidFill>
                <a:latin typeface="Calibri"/>
              </a:rPr>
              <a:t>Datategy · Plateforme Agentium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 algn="ctr">
              <a:buNone/>
            </a:pPr>
            <a:r>
              <a:rPr sz="2000" i="1" b="0">
                <a:solidFill>
                  <a:srgbClr val="E2E8F0"/>
                </a:solidFill>
                <a:latin typeface="Calibri"/>
              </a:rPr>
              <a:t>Lundi 25 mai 2026 · 09h00 Abidjan · 11h00 Paris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723500"/>
            <a:ext cx="8784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ctr"/>
            <a:r>
              <a:rPr sz="1000" i="1" b="0">
                <a:solidFill>
                  <a:srgbClr val="64748B"/>
                </a:solidFill>
                <a:latin typeface="Calibri"/>
              </a:rPr>
              <a:t>Confidentiel · Démo interne · Datategy / Plateforme Agentium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Le fil de la matinée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13 min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b="1" sz="1300">
                <a:solidFill>
                  <a:srgbClr val="E2E8F0"/>
                </a:solidFill>
                <a:latin typeface="Calibri"/>
              </a:rPr>
              <a:t>2 scénarios</a:t>
            </a:r>
            <a:r>
              <a:rPr sz="1300">
                <a:solidFill>
                  <a:srgbClr val="E2E8F0"/>
                </a:solidFill>
                <a:latin typeface="Calibri"/>
              </a:rPr>
              <a:t> · Nord puis Nawa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AYA propose</a:t>
            </a:r>
            <a:r>
              <a:rPr sz="1300">
                <a:solidFill>
                  <a:srgbClr val="E2E8F0"/>
                </a:solidFill>
                <a:latin typeface="Calibri"/>
              </a:rPr>
              <a:t> · le Cabinet décide</a:t>
            </a:r>
          </a:p>
          <a:p>
            <a:pPr lvl="0"/>
            <a:r>
              <a:rPr sz="1300">
                <a:solidFill>
                  <a:srgbClr val="E2E8F0"/>
                </a:solidFill>
                <a:latin typeface="Calibri"/>
              </a:rPr>
              <a:t>Mode </a:t>
            </a:r>
            <a:r>
              <a:rPr b="1" sz="1300">
                <a:solidFill>
                  <a:srgbClr val="E2E8F0"/>
                </a:solidFill>
                <a:latin typeface="Calibri"/>
              </a:rPr>
              <a:t>advisory-only</a:t>
            </a:r>
            <a:r>
              <a:rPr sz="1300">
                <a:solidFill>
                  <a:srgbClr val="E2E8F0"/>
                </a:solidFill>
                <a:latin typeface="Calibri"/>
              </a:rPr>
              <a:t> : aucun envoi automatique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 / 24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3 règles d’or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-342900" marL="342900">
              <a:buAutoNum type="arabicPeriod"/>
            </a:pPr>
            <a:r>
              <a:rPr sz="1300">
                <a:solidFill>
                  <a:srgbClr val="E2E8F0"/>
                </a:solidFill>
                <a:latin typeface="Calibri"/>
              </a:rPr>
              <a:t>Commencer chaque demande par un </a:t>
            </a:r>
            <a:r>
              <a:rPr b="1" sz="1300">
                <a:solidFill>
                  <a:srgbClr val="E2E8F0"/>
                </a:solidFill>
                <a:latin typeface="Calibri"/>
              </a:rPr>
              <a:t>verbe</a:t>
            </a:r>
            <a:r>
              <a:rPr sz="1300">
                <a:solidFill>
                  <a:srgbClr val="E2E8F0"/>
                </a:solidFill>
                <a:latin typeface="Calibri"/>
              </a:rPr>
              <a:t> ou « </a:t>
            </a:r>
            <a:r>
              <a:rPr b="1" sz="1300">
                <a:solidFill>
                  <a:srgbClr val="E2E8F0"/>
                </a:solidFill>
                <a:latin typeface="Calibri"/>
              </a:rPr>
              <a:t>AYA,</a:t>
            </a:r>
            <a:r>
              <a:rPr sz="1300">
                <a:solidFill>
                  <a:srgbClr val="E2E8F0"/>
                </a:solidFill>
                <a:latin typeface="Calibri"/>
              </a:rPr>
              <a:t> »</a:t>
            </a:r>
          </a:p>
          <a:p>
            <a:pPr lvl="0" indent="-342900" marL="342900">
              <a:buAutoNum type="arabicPeriod"/>
            </a:pPr>
            <a:r>
              <a:rPr sz="1300">
                <a:solidFill>
                  <a:srgbClr val="E2E8F0"/>
                </a:solidFill>
                <a:latin typeface="Calibri"/>
              </a:rPr>
              <a:t>Ne jamais dire « </a:t>
            </a:r>
            <a:r>
              <a:rPr b="1" sz="1300">
                <a:solidFill>
                  <a:srgbClr val="E2E8F0"/>
                </a:solidFill>
                <a:latin typeface="Calibri"/>
              </a:rPr>
              <a:t>OK</a:t>
            </a:r>
            <a:r>
              <a:rPr sz="1300">
                <a:solidFill>
                  <a:srgbClr val="E2E8F0"/>
                </a:solidFill>
                <a:latin typeface="Calibri"/>
              </a:rPr>
              <a:t> » seul — enchaîner sur un verbe</a:t>
            </a:r>
          </a:p>
          <a:p>
            <a:pPr lvl="0" indent="-342900" marL="342900">
              <a:buAutoNum type="arabicPeriod"/>
            </a:pPr>
            <a:r>
              <a:rPr sz="1300">
                <a:solidFill>
                  <a:srgbClr val="E2E8F0"/>
                </a:solidFill>
                <a:latin typeface="Calibri"/>
              </a:rPr>
              <a:t>Si AYA hésite, reformuler avec la </a:t>
            </a:r>
            <a:r>
              <a:rPr b="1" sz="1300">
                <a:solidFill>
                  <a:srgbClr val="E2E8F0"/>
                </a:solidFill>
                <a:latin typeface="Calibri"/>
              </a:rPr>
              <a:t>phrase exacte</a:t>
            </a:r>
            <a:r>
              <a:rPr sz="1300">
                <a:solidFill>
                  <a:srgbClr val="E2E8F0"/>
                </a:solidFill>
                <a:latin typeface="Calibri"/>
              </a:rPr>
              <a:t> du slide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Attention</a:t>
            </a:r>
            <a:r>
              <a:rPr sz="1300">
                <a:solidFill>
                  <a:srgbClr val="E2E8F0"/>
                </a:solidFill>
                <a:latin typeface="Calibri"/>
              </a:rPr>
              <a:t> : toujours écrire « Monsieur le Vice-Président » (avec trait d’union et accent).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 / 24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S1.0 — Ouverture cockpit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montre</a:t>
            </a:r>
            <a:r>
              <a:rPr sz="1300">
                <a:solidFill>
                  <a:srgbClr val="E2E8F0"/>
                </a:solidFill>
                <a:latin typeface="Calibri"/>
              </a:rPr>
              <a:t> : Posture nationale, chip Zone Nord · Tendue, indicateurs macro, directive AYA du matin.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dit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c’est lundi matin. Qu’est-ce qui demande mon attention ?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Sidebar Cockpit — l’écran porte déjà le message.</a:t>
            </a:r>
          </a:p>
        </p:txBody>
      </p:sp>
      <p:pic>
        <p:nvPicPr>
          <p:cNvPr descr="status-screenshots/2026-05-25-demo-eve/01-cockpit-m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14800" y="420000"/>
            <a:ext cx="40005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114800" y="2830000"/>
            <a:ext cx="40005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Cockpit Mission Room · posture et indicateurs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0" y="3190000"/>
            <a:ext cx="40005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Cockpit au chargement — Zone Nord en tête, KPI macro visibles.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 / 24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S1.1 — Pourquoi le Nord est tendu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montre</a:t>
            </a:r>
            <a:r>
              <a:rPr sz="1300">
                <a:solidFill>
                  <a:srgbClr val="E2E8F0"/>
                </a:solidFill>
                <a:latin typeface="Calibri"/>
              </a:rPr>
              <a:t> : Drill causal niveau 1 — lien tension Nord, projet Napié, retard chantier.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dit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pourquoi la situation Nord est-elle tendue ?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Chip rouge </a:t>
            </a:r>
            <a:r>
              <a:rPr b="1" sz="1300">
                <a:solidFill>
                  <a:srgbClr val="E2E8F0"/>
                </a:solidFill>
                <a:latin typeface="Calibri"/>
              </a:rPr>
              <a:t>Zone Nord · Tendue</a:t>
            </a:r>
            <a:r>
              <a:rPr sz="1300">
                <a:solidFill>
                  <a:srgbClr val="E2E8F0"/>
                </a:solidFill>
                <a:latin typeface="Calibri"/>
              </a:rPr>
              <a:t> dans la barre statut.</a:t>
            </a:r>
          </a:p>
        </p:txBody>
      </p:sp>
      <p:pic>
        <p:nvPicPr>
          <p:cNvPr descr="status-screenshots/2026-05-25-demo-eve/04-cockpit-car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Carte cockpit · zone Nord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Focus territorial — lecture Nord en un coup d’œil.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5 / 24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S1.2 — PV douanes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montre</a:t>
            </a:r>
            <a:r>
              <a:rPr sz="1300">
                <a:solidFill>
                  <a:srgbClr val="E2E8F0"/>
                </a:solidFill>
                <a:latin typeface="Calibri"/>
              </a:rPr>
              <a:t> : Drawer document — PV douanes 18 mai, page 2 surlignée.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dit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ouvre le PV douanes.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Accepter « Voir le PV ? » ou chip </a:t>
            </a:r>
            <a:r>
              <a:rPr b="1" sz="1300">
                <a:solidFill>
                  <a:srgbClr val="E2E8F0"/>
                </a:solidFill>
                <a:latin typeface="Calibri"/>
              </a:rPr>
              <a:t>PV douanes 18 mai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demo-eve/15-drawer-pv-douan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Drawer PV douanes · page 2 OCR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Preuve documentaire — effet collatéral sur le cargo drones.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6 / 24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S1.3 — Focus carte Nord + Napié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montre</a:t>
            </a:r>
            <a:r>
              <a:rPr sz="1300">
                <a:solidFill>
                  <a:srgbClr val="E2E8F0"/>
                </a:solidFill>
                <a:latin typeface="Calibri"/>
              </a:rPr>
              <a:t> : Recadrage carte Korhogo / Poro, surbrillance Centre Drones Napié.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dit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focus sur la zone Nord et le projet Napié.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Brief opérationnel · Projet sensible Nord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postdeploy/19-aya-focus-nord-napi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Carte stratégie · focus Nord et Napié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Projet sensible — retard ~120 jours sur le chantier.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7 / 24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S1.4 — Cargo Atlantic Trader + webcam port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montre</a:t>
            </a:r>
            <a:r>
              <a:rPr sz="1300">
                <a:solidFill>
                  <a:srgbClr val="E2E8F0"/>
                </a:solidFill>
                <a:latin typeface="Calibri"/>
              </a:rPr>
              <a:t> : Vignette webcam port, fiche cargo MV Atlantic Trader, proposition PV.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dit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montre le cargo Atlantic Trader.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Pin </a:t>
            </a:r>
            <a:r>
              <a:rPr b="1" sz="1300">
                <a:solidFill>
                  <a:srgbClr val="E2E8F0"/>
                </a:solidFill>
                <a:latin typeface="Calibri"/>
              </a:rPr>
              <a:t>MV Atlantic Trader</a:t>
            </a:r>
            <a:r>
              <a:rPr sz="1300">
                <a:solidFill>
                  <a:srgbClr val="E2E8F0"/>
                </a:solidFill>
                <a:latin typeface="Calibri"/>
              </a:rPr>
              <a:t> ou </a:t>
            </a:r>
            <a:r>
              <a:rPr b="1" sz="1300">
                <a:solidFill>
                  <a:srgbClr val="E2E8F0"/>
                </a:solidFill>
                <a:latin typeface="Calibri"/>
              </a:rPr>
              <a:t>Port Vridi · webcam demo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postdeploy/17-aya-vessel-carg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Cargo Atlantic Trader · webcam APM Apapa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Composants Aerostar bloqués au port d’Abidjan.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8 / 24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S1.5 — Situation au port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montre</a:t>
            </a:r>
            <a:r>
              <a:rPr sz="1300">
                <a:solidFill>
                  <a:srgbClr val="E2E8F0"/>
                </a:solidFill>
                <a:latin typeface="Calibri"/>
              </a:rPr>
              <a:t> : Vue port Abidjan, panel maritime, trafic et webcams Vridi.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dit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montre la situation au port.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FLUX TERRAIN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APM Apapa Gate #1</a:t>
            </a:r>
            <a:r>
              <a:rPr sz="1300">
                <a:solidFill>
                  <a:srgbClr val="E2E8F0"/>
                </a:solidFill>
                <a:latin typeface="Calibri"/>
              </a:rPr>
              <a:t> en tête.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À faire</a:t>
            </a:r>
            <a:r>
              <a:rPr sz="1300">
                <a:solidFill>
                  <a:srgbClr val="E2E8F0"/>
                </a:solidFill>
                <a:latin typeface="Calibri"/>
              </a:rPr>
              <a:t> : étape optionnelle si le temps manque — passer à S1.6.</a:t>
            </a:r>
          </a:p>
        </p:txBody>
      </p:sp>
      <p:pic>
        <p:nvPicPr>
          <p:cNvPr descr="status-screenshots/2026-05-25-postdeploy/16-aya-port-webc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Vue port · webcam et trafic maritime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Lecture terrain live — port Vridi et activité maritime.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9 / 24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S1.6 — Mail dérogation douanes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montre</a:t>
            </a:r>
            <a:r>
              <a:rPr sz="1300">
                <a:solidFill>
                  <a:srgbClr val="E2E8F0"/>
                </a:solidFill>
                <a:latin typeface="Calibri"/>
              </a:rPr>
              <a:t> : Drawer email pré-rédigé — dérogation douanière, bandeau advisory-only.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dit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rédige le courrier de dédouanement pour Atlantic Trader.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Drawer PV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Préparer email dérogation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postdeploy/18-aya-mail-derog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Courrier dédouanement · proposition Cabinet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Proposition sourcée — aucun envoi automatique.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10 / 24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Récap S1 — Nord / Napié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6 étapes</a:t>
            </a:r>
            <a:r>
              <a:rPr sz="1300">
                <a:solidFill>
                  <a:srgbClr val="E2E8F0"/>
                </a:solidFill>
                <a:latin typeface="Calibri"/>
              </a:rPr>
              <a:t> · ~5 minutes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Message clé</a:t>
            </a:r>
            <a:r>
              <a:rPr sz="1300">
                <a:solidFill>
                  <a:srgbClr val="E2E8F0"/>
                </a:solidFill>
                <a:latin typeface="Calibri"/>
              </a:rPr>
              <a:t> : retard Napié → cargo bloqué → dérogation prête</a:t>
            </a:r>
          </a:p>
          <a:p>
            <a:pPr lvl="0" indent="0" marL="1270000">
              <a:buNone/>
            </a:pPr>
            <a:r>
              <a:rPr sz="2000">
                <a:solidFill>
                  <a:srgbClr val="E2E8F0"/>
                </a:solidFill>
                <a:latin typeface="Calibri"/>
              </a:rPr>
              <a:t>« En cinq minutes, AYA est passée du signal territorial à la preuve douanière, avec une proposition d’action sourcée — sans exécuter à ma place. 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11 / 24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Transition — Agenda Préfet Nawa 11h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montre</a:t>
            </a:r>
            <a:r>
              <a:rPr sz="1300">
                <a:solidFill>
                  <a:srgbClr val="E2E8F0"/>
                </a:solidFill>
                <a:latin typeface="Calibri"/>
              </a:rPr>
              <a:t> : Timeline du 25 mai, événement Préfet Nawa 11h00 Soubré.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dit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quel est mon prochain rendez-vous ?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Sidebar </a:t>
            </a:r>
            <a:r>
              <a:rPr b="1" sz="1300">
                <a:solidFill>
                  <a:srgbClr val="E2E8F0"/>
                </a:solidFill>
                <a:latin typeface="Calibri"/>
              </a:rPr>
              <a:t>Agenda</a:t>
            </a:r>
            <a:r>
              <a:rPr sz="1300">
                <a:solidFill>
                  <a:srgbClr val="E2E8F0"/>
                </a:solidFill>
                <a:latin typeface="Calibri"/>
              </a:rPr>
              <a:t> → carte </a:t>
            </a:r>
            <a:r>
              <a:rPr b="1" sz="1300">
                <a:solidFill>
                  <a:srgbClr val="E2E8F0"/>
                </a:solidFill>
                <a:latin typeface="Calibri"/>
              </a:rPr>
              <a:t>Préfet Nawa · 11h00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demo-eve/08-agend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Agenda institutionnel · rendez-vous Nawa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Du réactif (Nord) au proactif (réunion territoriale).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12 / 24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S2.1 — Contexte échanges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montre</a:t>
            </a:r>
            <a:r>
              <a:rPr sz="1300">
                <a:solidFill>
                  <a:srgbClr val="E2E8F0"/>
                </a:solidFill>
                <a:latin typeface="Calibri"/>
              </a:rPr>
              <a:t> : Synthèse inline des derniers échanges Préfet Nawa — filière cacao.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dit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donne-moi le résumé du rapport préfet.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Agenda → événement Nawa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Synthèse AYA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demo-eve/09-agenda-meeting-detai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Fiche événement Nawa · contexte réunion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Préparation réunion — enjeu diversification cacao.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13 / 24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S2.2 — Rapport Préfet Nawa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montre</a:t>
            </a:r>
            <a:r>
              <a:rPr sz="1300">
                <a:solidFill>
                  <a:srgbClr val="E2E8F0"/>
                </a:solidFill>
                <a:latin typeface="Calibri"/>
              </a:rPr>
              <a:t> : Lecture longue du rapport préfectoral — synthèse structurée en chat.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dit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résume le rapport Préfet Nawa.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E2E8F0"/>
                </a:solidFill>
                <a:latin typeface="Calibri"/>
              </a:rPr>
              <a:t>voix AYA uniquement</a:t>
            </a:r>
            <a:r>
              <a:rPr sz="1300">
                <a:solidFill>
                  <a:srgbClr val="E2E8F0"/>
                </a:solidFill>
                <a:latin typeface="Calibri"/>
              </a:rPr>
              <a:t> — reformuler si besoin : « résume Préfet Nawa ».</a:t>
            </a:r>
          </a:p>
        </p:txBody>
      </p:sp>
      <p:pic>
        <p:nvPicPr>
          <p:cNvPr descr="status-screenshots/2026-05-25-demo-eve/14-aya-chat-promp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Chat AYA · synthèse rapport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Corpus dense — AYA condense sans remplacer la lecture.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14 / 24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S2.3 — Recommandation cacao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montre</a:t>
            </a:r>
            <a:r>
              <a:rPr sz="1300">
                <a:solidFill>
                  <a:srgbClr val="E2E8F0"/>
                </a:solidFill>
                <a:latin typeface="Calibri"/>
              </a:rPr>
              <a:t> : Trois options chiffrées — transformation, coopérative, partenariat public-privé.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dit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donne-moi des préconisations sur le cacao.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E2E8F0"/>
                </a:solidFill>
                <a:latin typeface="Calibri"/>
              </a:rPr>
              <a:t>voix AYA uniquement</a:t>
            </a:r>
            <a:r>
              <a:rPr sz="1300">
                <a:solidFill>
                  <a:srgbClr val="E2E8F0"/>
                </a:solidFill>
                <a:latin typeface="Calibri"/>
              </a:rPr>
              <a:t> — reformuler : « recommandations cacao ».</a:t>
            </a:r>
          </a:p>
        </p:txBody>
      </p:sp>
      <p:pic>
        <p:nvPicPr>
          <p:cNvPr descr="status-screenshots/2026-05-25-demo-eve/14-aya-chat-promp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Chat AYA · préconisations diversification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Options sourcées — le Cabinet arbitre ensuite.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15 / 24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S2.4 — Rapport stratégique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montre</a:t>
            </a:r>
            <a:r>
              <a:rPr sz="1300">
                <a:solidFill>
                  <a:srgbClr val="E2E8F0"/>
                </a:solidFill>
                <a:latin typeface="Calibri"/>
              </a:rPr>
              <a:t> : Drawer PDF synthèse cacao — livrable téléchargeable.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dit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génère le rapport complet.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Attention</a:t>
            </a:r>
            <a:r>
              <a:rPr sz="1300">
                <a:solidFill>
                  <a:srgbClr val="E2E8F0"/>
                </a:solidFill>
                <a:latin typeface="Calibri"/>
              </a:rPr>
              <a:t> : dire « </a:t>
            </a:r>
            <a:r>
              <a:rPr b="1" sz="1300">
                <a:solidFill>
                  <a:srgbClr val="E2E8F0"/>
                </a:solidFill>
                <a:latin typeface="Calibri"/>
              </a:rPr>
              <a:t>synthèse cacao</a:t>
            </a:r>
            <a:r>
              <a:rPr sz="1300">
                <a:solidFill>
                  <a:srgbClr val="E2E8F0"/>
                </a:solidFill>
                <a:latin typeface="Calibri"/>
              </a:rPr>
              <a:t> » à l’oral, pas « 70 pages ».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E2E8F0"/>
                </a:solidFill>
                <a:latin typeface="Calibri"/>
              </a:rPr>
              <a:t>voix AYA uniquement</a:t>
            </a:r>
            <a:r>
              <a:rPr sz="1300">
                <a:solidFill>
                  <a:srgbClr val="E2E8F0"/>
                </a:solidFill>
                <a:latin typeface="Calibri"/>
              </a:rPr>
              <a:t> — reformuler : « génère le rapport stratégique ».</a:t>
            </a:r>
          </a:p>
        </p:txBody>
      </p:sp>
      <p:pic>
        <p:nvPicPr>
          <p:cNvPr descr="status-screenshots/2026-05-25-postdeploy/20-aya-rapport-strategiqu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Drawer rapport stratégique cacao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Livrable prêt pour la réunion — preuve traçable.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16 / 24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S2.5 — Modifier l’ordre du jour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montre</a:t>
            </a:r>
            <a:r>
              <a:rPr sz="1300">
                <a:solidFill>
                  <a:srgbClr val="E2E8F0"/>
                </a:solidFill>
                <a:latin typeface="Calibri"/>
              </a:rPr>
              <a:t> : Proposition d’ajout du point cacao à l’ODJ — en attente de validation.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dit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ajoute le point cacao à l’ordre du jour.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Fiche réunion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Proposer un point ODJ</a:t>
            </a:r>
            <a:r>
              <a:rPr sz="1300">
                <a:solidFill>
                  <a:srgbClr val="E2E8F0"/>
                </a:solidFill>
                <a:latin typeface="Calibri"/>
              </a:rPr>
              <a:t> ou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+ Point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postdeploy/21-aya-odj-caca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Ordre du jour · point cacao proposé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Modification staged — validation Cabinet requise.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17 / 24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S2.6 — Valider la modification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montre</a:t>
            </a:r>
            <a:r>
              <a:rPr sz="1300">
                <a:solidFill>
                  <a:srgbClr val="E2E8F0"/>
                </a:solidFill>
                <a:latin typeface="Calibri"/>
              </a:rPr>
              <a:t> : Patch ODJ appliqué — badge « Ajouté par AYA ».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dit</a:t>
            </a:r>
            <a:r>
              <a:rPr sz="1300">
                <a:solidFill>
                  <a:srgbClr val="E2E8F0"/>
                </a:solidFill>
                <a:latin typeface="Calibri"/>
              </a:rPr>
              <a:t> : « Oui, valide.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Bannière orange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Valider modification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Attention</a:t>
            </a:r>
            <a:r>
              <a:rPr sz="1300">
                <a:solidFill>
                  <a:srgbClr val="E2E8F0"/>
                </a:solidFill>
                <a:latin typeface="Calibri"/>
              </a:rPr>
              <a:t> : ne pas dire « OK » seul — dire « Oui, valide » en entier.</a:t>
            </a:r>
          </a:p>
        </p:txBody>
      </p:sp>
      <p:pic>
        <p:nvPicPr>
          <p:cNvPr descr="status-screenshots/2026-05-25-postdeploy/21-aya-odj-caca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Validation ODJ · badge AYA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Écriture agenda confirmée par le Cabinet.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18 / 24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S2.7 — Démarrer la réunion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montre</a:t>
            </a:r>
            <a:r>
              <a:rPr sz="1300">
                <a:solidFill>
                  <a:srgbClr val="E2E8F0"/>
                </a:solidFill>
                <a:latin typeface="Calibri"/>
              </a:rPr>
              <a:t> : Vue meeting live — chrono, ordre du jour vertical, options A/B/C.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dit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démarre la réunion.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Fiche Nawa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Démarrer la réunion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demo-eve/09-agenda-meeting-detai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Vue réunion · ODJ et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Mode meeting — arbitrage en direct devant Monsieur le Vice-Président.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19 / 24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S2.8 — Acter l’option 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montre</a:t>
            </a:r>
            <a:r>
              <a:rPr sz="1300">
                <a:solidFill>
                  <a:srgbClr val="E2E8F0"/>
                </a:solidFill>
                <a:latin typeface="Calibri"/>
              </a:rPr>
              <a:t> : Décision loggée — option B diversification anacarde, registre mis à jour.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dit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décide option B.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Point ODJ Cacao → carte </a:t>
            </a:r>
            <a:r>
              <a:rPr b="1" sz="1300">
                <a:solidFill>
                  <a:srgbClr val="E2E8F0"/>
                </a:solidFill>
                <a:latin typeface="Calibri"/>
              </a:rPr>
              <a:t>Option B</a:t>
            </a:r>
            <a:r>
              <a:rPr sz="1300">
                <a:solidFill>
                  <a:srgbClr val="E2E8F0"/>
                </a:solidFill>
                <a:latin typeface="Calibri"/>
              </a:rPr>
              <a:t>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Décider</a:t>
            </a:r>
            <a:r>
              <a:rPr sz="1300">
                <a:solidFill>
                  <a:srgbClr val="E2E8F0"/>
                </a:solidFill>
                <a:latin typeface="Calibri"/>
              </a:rPr>
              <a:t>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Logger la décision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demo-eve/09-agenda-meeting-detai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Arbitrage option B · décision enregistrée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Décision persistée — traçabilité institutionnelle.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20 / 24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S2.9 — Rappeler les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montre</a:t>
            </a:r>
            <a:r>
              <a:rPr sz="1300">
                <a:solidFill>
                  <a:srgbClr val="E2E8F0"/>
                </a:solidFill>
                <a:latin typeface="Calibri"/>
              </a:rPr>
              <a:t> : Panneau décisions — dernière arbitrage Nawa en tête de liste.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qu’on dit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qu’avons-nous décidé la dernière fois ?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Sidebar </a:t>
            </a:r>
            <a:r>
              <a:rPr b="1" sz="1300">
                <a:solidFill>
                  <a:srgbClr val="E2E8F0"/>
                </a:solidFill>
                <a:latin typeface="Calibri"/>
              </a:rPr>
              <a:t>Arbitrages</a:t>
            </a:r>
            <a:r>
              <a:rPr sz="1300">
                <a:solidFill>
                  <a:srgbClr val="E2E8F0"/>
                </a:solidFill>
                <a:latin typeface="Calibri"/>
              </a:rPr>
              <a:t> → bloc décisions loggées.</a:t>
            </a:r>
          </a:p>
        </p:txBody>
      </p:sp>
      <p:pic>
        <p:nvPicPr>
          <p:cNvPr descr="status-screenshots/2026-05-25-demo-eve/05-cockpit-arbitrag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Mémoire institutionnelle · décisions passées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Rappel immédiat — aucune décision perdue.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21 / 24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Récap S2 — Nawa / cacao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9 étapes</a:t>
            </a:r>
            <a:r>
              <a:rPr sz="1300">
                <a:solidFill>
                  <a:srgbClr val="E2E8F0"/>
                </a:solidFill>
                <a:latin typeface="Calibri"/>
              </a:rPr>
              <a:t> · ~7 minutes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Message clé</a:t>
            </a:r>
            <a:r>
              <a:rPr sz="1300">
                <a:solidFill>
                  <a:srgbClr val="E2E8F0"/>
                </a:solidFill>
                <a:latin typeface="Calibri"/>
              </a:rPr>
              <a:t> : diversification cacao arbitrée et loggée</a:t>
            </a:r>
          </a:p>
          <a:p>
            <a:pPr lvl="0" indent="0" marL="1270000">
              <a:buNone/>
            </a:pPr>
            <a:r>
              <a:rPr sz="2000">
                <a:solidFill>
                  <a:srgbClr val="E2E8F0"/>
                </a:solidFill>
                <a:latin typeface="Calibri"/>
              </a:rPr>
              <a:t>« De la lecture d’un rapport dense à la décision loggée en réunion — AYA a accompagné tout le cycle, avec traçabilité et validation à chaque étape d’écriture. 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22 / 24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Ce qu’on a prouvé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Cockpit souverain</a:t>
            </a:r>
            <a:r>
              <a:rPr sz="1300">
                <a:solidFill>
                  <a:srgbClr val="E2E8F0"/>
                </a:solidFill>
                <a:latin typeface="Calibri"/>
              </a:rPr>
              <a:t> — posture, terrain, presse en un écran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AYA actionnable</a:t>
            </a:r>
            <a:r>
              <a:rPr sz="1300">
                <a:solidFill>
                  <a:srgbClr val="E2E8F0"/>
                </a:solidFill>
                <a:latin typeface="Calibri"/>
              </a:rPr>
              <a:t> — propose, ne décide pas à la place du Cabinet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Preuves traçables</a:t>
            </a:r>
            <a:r>
              <a:rPr sz="1300">
                <a:solidFill>
                  <a:srgbClr val="E2E8F0"/>
                </a:solidFill>
                <a:latin typeface="Calibri"/>
              </a:rPr>
              <a:t> — PV douanes, rapport préfet, sources citées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Décisions mémorisées</a:t>
            </a:r>
            <a:r>
              <a:rPr sz="1300">
                <a:solidFill>
                  <a:srgbClr val="E2E8F0"/>
                </a:solidFill>
                <a:latin typeface="Calibri"/>
              </a:rPr>
              <a:t> — arbitrages loggés et rappelables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23 / 24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Plan B rapide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Si AYA ne répond pas — 5 raccourcis sans voix (workspace </a:t>
            </a:r>
            <a:r>
              <a:rPr sz="1300">
                <a:solidFill>
                  <a:srgbClr val="E2E8F0"/>
                </a:solidFill>
                <a:latin typeface="Calibri"/>
              </a:rPr>
              <a:t>sentinel-ci</a:t>
            </a:r>
            <a:r>
              <a:rPr sz="1300">
                <a:solidFill>
                  <a:srgbClr val="E2E8F0"/>
                </a:solidFill>
                <a:latin typeface="Calibri"/>
              </a:rPr>
              <a:t>) 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Sujet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Raccourci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Agenda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Sidebar Agenda → Préfet Nawa 11h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Carte Nord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Chip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Zone Nord · Tendue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ou Brief opérationnel Nord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Presse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Sidebar Presse → article Napié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Décisions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Sidebar Arbitrages → registre décisions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Réunion Nawa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Agenda →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Démarrer la réunion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24 / 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SENTINEL-CI · Briefing démo</dc:title>
  <dc:creator>Datategy · Plateforme Agentium</dc:creator>
  <cp:keywords/>
  <dcterms:created xsi:type="dcterms:W3CDTF">2026-05-25T07:06:21Z</dcterms:created>
  <dcterms:modified xsi:type="dcterms:W3CDTF">2026-05-25T07:06:21Z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Lundi 25 mai 2026 · 09h00 Abidjan · 11h00 Paris</vt:lpwstr>
  </property>
  <property fmtid="{D5CDD505-2E9C-101B-9397-08002B2CF9AE}" pid="3" name="subtitle">
    <vt:lpwstr>25 mai 2026 · Monsieur le Vice-Président</vt:lpwstr>
  </property>
</Properties>
</file>