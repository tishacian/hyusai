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4400">
                <a:solidFill>
                  <a:srgbClr val="3EE68A"/>
                </a:solidFill>
                <a:latin typeface="Calibri"/>
              </a:rPr>
              <a:t>SENTINEL-CI · Briefing démo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25 mai 2026 · Monsieur le Vice-Président</a:t>
            </a:r>
            <a:br/>
            <a:br/>
            <a:r>
              <a:rPr sz="2000" i="1" b="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Lundi 25 mai 2026 · 09h00 Abidjan · 11h00 Paris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Le fil de la matinée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13 min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b="1" sz="1300">
                <a:solidFill>
                  <a:srgbClr val="E2E8F0"/>
                </a:solidFill>
                <a:latin typeface="Calibri"/>
              </a:rPr>
              <a:t>2 scénarios</a:t>
            </a:r>
            <a:r>
              <a:rPr sz="1300">
                <a:solidFill>
                  <a:srgbClr val="E2E8F0"/>
                </a:solidFill>
                <a:latin typeface="Calibri"/>
              </a:rPr>
              <a:t> · Nord puis Nawa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propose</a:t>
            </a:r>
            <a:r>
              <a:rPr sz="1300">
                <a:solidFill>
                  <a:srgbClr val="E2E8F0"/>
                </a:solidFill>
                <a:latin typeface="Calibri"/>
              </a:rPr>
              <a:t> · le Cabinet décide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Mode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: aucun envoi automatique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3 règles d’or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Commencer chaque demande par un </a:t>
            </a:r>
            <a:r>
              <a:rPr b="1" sz="1300">
                <a:solidFill>
                  <a:srgbClr val="E2E8F0"/>
                </a:solidFill>
                <a:latin typeface="Calibri"/>
              </a:rPr>
              <a:t>verbe</a:t>
            </a:r>
            <a:r>
              <a:rPr sz="1300">
                <a:solidFill>
                  <a:srgbClr val="E2E8F0"/>
                </a:solidFill>
                <a:latin typeface="Calibri"/>
              </a:rPr>
              <a:t> ou « </a:t>
            </a:r>
            <a:r>
              <a:rPr b="1" sz="1300">
                <a:solidFill>
                  <a:srgbClr val="E2E8F0"/>
                </a:solidFill>
                <a:latin typeface="Calibri"/>
              </a:rPr>
              <a:t>AYA,</a:t>
            </a:r>
            <a:r>
              <a:rPr sz="1300">
                <a:solidFill>
                  <a:srgbClr val="E2E8F0"/>
                </a:solidFill>
                <a:latin typeface="Calibri"/>
              </a:rPr>
              <a:t> »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Ne jamais dire « </a:t>
            </a:r>
            <a:r>
              <a:rPr b="1" sz="1300">
                <a:solidFill>
                  <a:srgbClr val="E2E8F0"/>
                </a:solidFill>
                <a:latin typeface="Calibri"/>
              </a:rPr>
              <a:t>OK</a:t>
            </a:r>
            <a:r>
              <a:rPr sz="1300">
                <a:solidFill>
                  <a:srgbClr val="E2E8F0"/>
                </a:solidFill>
                <a:latin typeface="Calibri"/>
              </a:rPr>
              <a:t> » seul — enchaîner sur un verbe (« Oui, valide »)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Si AYA hésite, reformuler avec la </a:t>
            </a:r>
            <a:r>
              <a:rPr b="1" sz="1300">
                <a:solidFill>
                  <a:srgbClr val="E2E8F0"/>
                </a:solidFill>
                <a:latin typeface="Calibri"/>
              </a:rPr>
              <a:t>phrase exacte</a:t>
            </a:r>
            <a:r>
              <a:rPr sz="1300">
                <a:solidFill>
                  <a:srgbClr val="E2E8F0"/>
                </a:solidFill>
                <a:latin typeface="Calibri"/>
              </a:rPr>
              <a:t> du slide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Attention</a:t>
            </a:r>
            <a:r>
              <a:rPr sz="1300">
                <a:solidFill>
                  <a:srgbClr val="E2E8F0"/>
                </a:solidFill>
                <a:latin typeface="Calibri"/>
              </a:rPr>
              <a:t> : toujours écrire « Monsieur le Vice-Président » (avec trait d’union et accent).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S1.1 — Cockpit macro KPIs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c’est lundi matin. Qu’est-ce qui demande mon attention ? » </a:t>
            </a:r>
            <a:r>
              <a:rPr i="1" sz="1300">
                <a:solidFill>
                  <a:srgbClr val="E2E8F0"/>
                </a:solidFill>
                <a:latin typeface="Calibri"/>
              </a:rPr>
              <a:t>(optionnel — l’écran est déjà le brief)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posture nationale,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b="1" sz="1300">
                <a:solidFill>
                  <a:srgbClr val="E2E8F0"/>
                </a:solidFill>
                <a:latin typeface="Calibri"/>
              </a:rPr>
              <a:t>8 indicateurs</a:t>
            </a:r>
            <a:r>
              <a:rPr sz="1300">
                <a:solidFill>
                  <a:srgbClr val="E2E8F0"/>
                </a:solidFill>
                <a:latin typeface="Calibri"/>
              </a:rPr>
              <a:t> (PIB, inflation, chômage, cacao, anacarde, Brent, réserves BCEAO, tension CEDEAO), directive AYA du matin, carte et arbitrages.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Cockpit</a:t>
            </a:r>
            <a:r>
              <a:rPr sz="1300">
                <a:solidFill>
                  <a:srgbClr val="E2E8F0"/>
                </a:solidFill>
                <a:latin typeface="Calibri"/>
              </a:rPr>
              <a:t> — la vue porte déjà le message.</a:t>
            </a:r>
          </a:p>
        </p:txBody>
      </p:sp>
      <p:pic>
        <p:nvPicPr>
          <p:cNvPr descr="status-screenshots/2026-05-25-demo-eve/13-aya-chat-emp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8 KPIs macro + posture nationale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Panel AYA ouvert — grille souveraine des 8 indicateurs visible à gauche.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S1.2 — Carte zone Nord tendue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i="1" sz="1300">
                <a:solidFill>
                  <a:srgbClr val="E2E8F0"/>
                </a:solidFill>
                <a:latin typeface="Calibri"/>
              </a:rPr>
              <a:t>(silence — lecture visuelle)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mini-carte cockpit, région </a:t>
            </a:r>
            <a:r>
              <a:rPr b="1" sz="1300">
                <a:solidFill>
                  <a:srgbClr val="E2E8F0"/>
                </a:solidFill>
                <a:latin typeface="Calibri"/>
              </a:rPr>
              <a:t>Nord 72 % tendue</a:t>
            </a:r>
            <a:r>
              <a:rPr sz="1300">
                <a:solidFill>
                  <a:srgbClr val="E2E8F0"/>
                </a:solidFill>
                <a:latin typeface="Calibri"/>
              </a:rPr>
              <a:t>,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16 navires AIS · Abidjan / Vridi</a:t>
            </a:r>
            <a:r>
              <a:rPr sz="1300">
                <a:solidFill>
                  <a:srgbClr val="E2E8F0"/>
                </a:solidFill>
                <a:latin typeface="Calibri"/>
              </a:rPr>
              <a:t>, chip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pulsante.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Clic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→ recentrage carte Nord.</a:t>
            </a:r>
          </a:p>
        </p:txBody>
      </p:sp>
      <p:pic>
        <p:nvPicPr>
          <p:cNvPr descr="status-screenshots/2026-05-25-demo-eve/04-cockpit-car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fusionnée · zone Nord tendue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territoriale immédiate — Nord en tête avant toute question à AYA.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S1.3 — Pourquoi le Nord est tendu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pourquoi la situation Nord est-elle tendue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drill causal — réponse AYA citant </a:t>
            </a:r>
            <a:r>
              <a:rPr b="1" sz="1300">
                <a:solidFill>
                  <a:srgbClr val="E2E8F0"/>
                </a:solidFill>
                <a:latin typeface="Calibri"/>
              </a:rPr>
              <a:t>Centre Drones Napié</a:t>
            </a:r>
            <a:r>
              <a:rPr sz="1300">
                <a:solidFill>
                  <a:srgbClr val="E2E8F0"/>
                </a:solidFill>
                <a:latin typeface="Calibri"/>
              </a:rPr>
              <a:t>, retard </a:t>
            </a:r>
            <a:r>
              <a:rPr b="1" sz="1300">
                <a:solidFill>
                  <a:srgbClr val="E2E8F0"/>
                </a:solidFill>
                <a:latin typeface="Calibri"/>
              </a:rPr>
              <a:t>~120 jours</a:t>
            </a:r>
            <a:r>
              <a:rPr sz="1300">
                <a:solidFill>
                  <a:srgbClr val="E2E8F0"/>
                </a:solidFill>
                <a:latin typeface="Calibri"/>
              </a:rPr>
              <a:t>, composants </a:t>
            </a:r>
            <a:r>
              <a:rPr b="1" sz="1300">
                <a:solidFill>
                  <a:srgbClr val="E2E8F0"/>
                </a:solidFill>
                <a:latin typeface="Calibri"/>
              </a:rPr>
              <a:t>Aerostar</a:t>
            </a:r>
            <a:r>
              <a:rPr sz="1300">
                <a:solidFill>
                  <a:srgbClr val="E2E8F0"/>
                </a:solidFill>
                <a:latin typeface="Calibri"/>
              </a:rPr>
              <a:t> bloqués à </a:t>
            </a:r>
            <a:r>
              <a:rPr b="1" sz="1300">
                <a:solidFill>
                  <a:srgbClr val="E2E8F0"/>
                </a:solidFill>
                <a:latin typeface="Calibri"/>
              </a:rPr>
              <a:t>Vridi</a:t>
            </a:r>
            <a:r>
              <a:rPr sz="1300">
                <a:solidFill>
                  <a:srgbClr val="E2E8F0"/>
                </a:solidFill>
                <a:latin typeface="Calibri"/>
              </a:rPr>
              <a:t> ; carte recentrée Korhogo / Poro.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2-nord-tend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Drill Nord · réponse AYA + focus carte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Chaîne causale Napie → cargo — narrative souveraine, pas de fallback générique.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S1.4 — PV douanes (preuve documentaire)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ouvre le PV douanes.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— PDF page 2 visible (pas d’écran noir), passage OCR surligné sur l’effet collatéral cargo drones.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Accepter « Voir le PV ? » après S1.5, ou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sous la fiche cargo.</a:t>
            </a:r>
          </a:p>
        </p:txBody>
      </p:sp>
      <p:pic>
        <p:nvPicPr>
          <p:cNvPr descr="status-screenshots/2026-05-25-qa-trame/S1-03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Preuve traçable — document lisible dans le drawer Cabinet.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S1.5 — Cargo Atlantic Trader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 cargo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sur carte maritime, triangles AIS, vignette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</a:t>
            </a:r>
            <a:r>
              <a:rPr sz="1300">
                <a:solidFill>
                  <a:srgbClr val="E2E8F0"/>
                </a:solidFill>
                <a:latin typeface="Calibri"/>
              </a:rPr>
              <a:t>, proposition d’ouverture du PV.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Clic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sur la carte,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 (légende carte).</a:t>
            </a:r>
          </a:p>
        </p:txBody>
      </p:sp>
      <p:pic>
        <p:nvPicPr>
          <p:cNvPr descr="status-screenshots/2026-05-25-qa-trame/S1-04-atlantic-t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Cargo Atlantic Trader · AIS + webcam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Lien maritime visible — composants Aerostar au port d’Abidjan.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S1.6 — Situation au 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la situation au port.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port Abidjan, panneau maritime, trafic AIS, grille </a:t>
            </a:r>
            <a:r>
              <a:rPr b="1" sz="1300">
                <a:solidFill>
                  <a:srgbClr val="E2E8F0"/>
                </a:solidFill>
                <a:latin typeface="Calibri"/>
              </a:rPr>
              <a:t>Flux terrain</a:t>
            </a:r>
            <a:r>
              <a:rPr sz="1300">
                <a:solidFill>
                  <a:srgbClr val="E2E8F0"/>
                </a:solidFill>
                <a:latin typeface="Calibri"/>
              </a:rPr>
              <a:t> avec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en tête.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(Plan B si voix sans effet — rebuild frontend requis¹)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Flux terrain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,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5-situation-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Situation port · webcam Flux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terrain live — port Vridi et activité maritime.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S1.7 — Courrier dédouanement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rédige le courrier de dédouanement pour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email pré-rédigé — dérogation douanière, destinataire DGD Abidjan, bandeau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(aucun envoi automatique).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PV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Préparer email dérogation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6-courrier-dedouane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Courrier dédouanement · proposition Cabinet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Proposition sourcée — le Cabinet valide avant tout envoi.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S1.8 — Plan B clics (S1)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i="1" sz="1300">
                <a:solidFill>
                  <a:srgbClr val="E2E8F0"/>
                </a:solidFill>
                <a:latin typeface="Calibri"/>
              </a:rPr>
              <a:t>(secours sans voix)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même parcours Nord entièrement rejouable à la souris — chip zone, pin cargo, drawer PV, email.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(clic équivalent sur 6/6 étapes S1)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Nord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Napié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Brief opérationnel · Projet sensible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Flux terrain → APM Apapa Gate #1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PV douanes 18 mai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Préparer email dérogation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(drawer PV)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tus-screenshots/2026-05-25-qa-trame/planB-zone-no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420000"/>
            <a:ext cx="51308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2006600" y="2830000"/>
            <a:ext cx="51308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Plan B · clic chip Zone Nord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6600" y="3190000"/>
            <a:ext cx="51308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Secours présentateur — zéro blocage si AYA hésite.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S1 — Nord / Napié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7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~5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retard Napié → cargo bloqué → dérogation prête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En cinq minutes, AYA est passée du signal territorial à la preuve douanière, avec une proposition d’action sourcée — sans exécuter à ma place.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T.1 — Transition cockpit → agenda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quel est mon prochain rendez-vous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bascule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— timeline du 25 mai, événement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11h00 Soubré</a:t>
            </a:r>
            <a:r>
              <a:rPr sz="1300">
                <a:solidFill>
                  <a:srgbClr val="E2E8F0"/>
                </a:solidFill>
                <a:latin typeface="Calibri"/>
              </a:rPr>
              <a:t> surligné ; fil presse disponible en sidebar.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· 11h00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09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· prochain RDV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Du réactif (Nord) au proactif (réunion territoriale).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S2.1 — Résumé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le résumé du rapport préfet.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synthèse structurée inline (~70 pages condensées), enjeux cacao / Nawa / Soubré, proposition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Préconisations cacao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événement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AYA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0-resume-naw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Chat AYA · résumé Préfet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Corpus dense lu par AYA — le Cabinet garde la 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S2.2 — Préconisations cacao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des préconisations sur le cacao.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3 options chiffrées</a:t>
            </a:r>
            <a:r>
              <a:rPr sz="1300">
                <a:solidFill>
                  <a:srgbClr val="E2E8F0"/>
                </a:solidFill>
                <a:latin typeface="Calibri"/>
              </a:rPr>
              <a:t> — transformation (~4,2 Mds FCFA), coopérative régionale, partenariat public-privé ; sources citées.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(AYA only — pas de bouton clic équivalent)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Reformuler : « recommandations cacao » ou « diversification cacao ».</a:t>
            </a:r>
          </a:p>
        </p:txBody>
      </p:sp>
      <p:pic>
        <p:nvPicPr>
          <p:cNvPr descr="status-screenshots/2026-05-25-qa-trame/S2-11-preconisa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Préconisations cacao · 3 leviers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Options sourcées — le Cabinet arbitre ensuite.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S2.3 — Rapport stratégique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génère le rapport complet.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PDF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cacao</a:t>
            </a:r>
            <a:r>
              <a:rPr sz="1300">
                <a:solidFill>
                  <a:srgbClr val="E2E8F0"/>
                </a:solidFill>
                <a:latin typeface="Calibri"/>
              </a:rPr>
              <a:t> (~12 p.) — livrable téléchargeable, URL signée, bandeau advisory.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(dire « synthèse cacao » à l’oral, pas « 70 pages »)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Reformuler : « génère le rapport stratégique » </a:t>
            </a:r>
            <a:r>
              <a:rPr i="1" sz="1300">
                <a:solidFill>
                  <a:srgbClr val="E2E8F0"/>
                </a:solidFill>
                <a:latin typeface="Calibri"/>
              </a:rPr>
              <a:t>(AYA only)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2-rapport-strategiq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rapport stratégique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Livrable prêt pour la réunion — preuve traçable.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S2.4 — Patch ordre du jour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ajoute le point cacao à l’ordre du jour.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proposition d’ajout </a:t>
            </a:r>
            <a:r>
              <a:rPr b="1" sz="1300">
                <a:solidFill>
                  <a:srgbClr val="E2E8F0"/>
                </a:solidFill>
                <a:latin typeface="Calibri"/>
              </a:rPr>
              <a:t>Point cacao ·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— bannière orange « Modification ODJ proposée · AYA », en attente de validation.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réunion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Proposer un point ODJ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+ Point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3-odj-pat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ODJ · point cacao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Écriture staged — validation Cabinet requise.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S2.5 — Valider l’ODJ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Oui, valide.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patch ODJ appliqué —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Ajouté par AYA</a:t>
            </a:r>
            <a:r>
              <a:rPr sz="1300">
                <a:solidFill>
                  <a:srgbClr val="E2E8F0"/>
                </a:solidFill>
                <a:latin typeface="Calibri"/>
              </a:rPr>
              <a:t> sur le point cacao.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Bannière orange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Valider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4-odj-valid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Validation ODJ · badge AYA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Confirmation explicite — AYA ne décide pas seule.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S2.6 — Réunion live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démarre la réunion.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meeting live</a:t>
            </a:r>
            <a:r>
              <a:rPr sz="1300">
                <a:solidFill>
                  <a:srgbClr val="E2E8F0"/>
                </a:solidFill>
                <a:latin typeface="Calibri"/>
              </a:rPr>
              <a:t> — chrono, ordre du jour vertical avec point cacao, options </a:t>
            </a:r>
            <a:r>
              <a:rPr b="1" sz="1300">
                <a:solidFill>
                  <a:srgbClr val="E2E8F0"/>
                </a:solidFill>
                <a:latin typeface="Calibri"/>
              </a:rPr>
              <a:t>A / B / C</a:t>
            </a:r>
            <a:r>
              <a:rPr sz="1300">
                <a:solidFill>
                  <a:srgbClr val="E2E8F0"/>
                </a:solidFill>
                <a:latin typeface="Calibri"/>
              </a:rPr>
              <a:t> visibles.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Démarrer la réunion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5-meeting-li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Vue réunion · ODJ et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Mode meeting — arbitrage en direct devant Monsieur le Vice-Président.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S2.7 — Décision option 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décide option B.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décision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loggée — modal rationale, registre mis à jour.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Point ODJ Cacao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Décider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Logger la décision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6-decision-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Arbitrage option B · décision enregistrée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Décision persistée — traçabilité institutionnelle.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S2 — Nawa /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7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~7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diversification cacao arbitrée et loggée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De la lecture d’un rapport dense à la décision loggée en réunion — AYA a accompagné tout le cycle, avec traçabilité et validation à chaque étape d’écriture.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T.2 — Transition agenda → posture sécuritaire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Pivot</a:t>
            </a:r>
            <a:r>
              <a:rPr sz="1300">
                <a:solidFill>
                  <a:srgbClr val="E2E8F0"/>
                </a:solidFill>
                <a:latin typeface="Calibri"/>
              </a:rPr>
              <a:t> : la décision Option B est loggée, le </a:t>
            </a:r>
            <a:r>
              <a:rPr b="1" sz="1300">
                <a:solidFill>
                  <a:srgbClr val="E2E8F0"/>
                </a:solidFill>
                <a:latin typeface="Calibri"/>
              </a:rPr>
              <a:t>Conseil Défense restreint</a:t>
            </a:r>
            <a:r>
              <a:rPr sz="1300">
                <a:solidFill>
                  <a:srgbClr val="E2E8F0"/>
                </a:solidFill>
                <a:latin typeface="Calibri"/>
              </a:rPr>
              <a:t> est calé à </a:t>
            </a:r>
            <a:r>
              <a:rPr b="1" sz="1300">
                <a:solidFill>
                  <a:srgbClr val="E2E8F0"/>
                </a:solidFill>
                <a:latin typeface="Calibri"/>
              </a:rPr>
              <a:t>15h00</a:t>
            </a:r>
            <a:r>
              <a:rPr sz="1300">
                <a:solidFill>
                  <a:srgbClr val="E2E8F0"/>
                </a:solidFill>
                <a:latin typeface="Calibri"/>
              </a:rPr>
              <a:t>. Avant d’y entrer, le VP veut une lecture </a:t>
            </a:r>
            <a:r>
              <a:rPr b="1" sz="1300">
                <a:solidFill>
                  <a:srgbClr val="E2E8F0"/>
                </a:solidFill>
                <a:latin typeface="Calibri"/>
              </a:rPr>
              <a:t>dual-axis</a:t>
            </a:r>
            <a:r>
              <a:rPr sz="1300">
                <a:solidFill>
                  <a:srgbClr val="E2E8F0"/>
                </a:solidFill>
                <a:latin typeface="Calibri"/>
              </a:rPr>
              <a:t> : intérieur Nord / extérieur Sahel.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Cible S3</a:t>
            </a:r>
            <a:r>
              <a:rPr sz="1300">
                <a:solidFill>
                  <a:srgbClr val="E2E8F0"/>
                </a:solidFill>
                <a:latin typeface="Calibri"/>
              </a:rPr>
              <a:t> : six prompts, ~5-6 minutes, tout en advisory only, snapshots demo-safe (ADS-B, comptes citoyens pseudonymisés, dossier rumeur).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Ouverture S3</a:t>
            </a:r>
            <a:r>
              <a:rPr sz="1300">
                <a:solidFill>
                  <a:srgbClr val="E2E8F0"/>
                </a:solidFill>
                <a:latin typeface="Calibri"/>
              </a:rPr>
              <a:t> : cockpit en focus, AYA propose le bloc « Posture sécuritaire ».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S3.1 — Posture sécuritaire dual-axis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montre-moi la posture sécuritaire du jour.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cockpit, bloc </a:t>
            </a:r>
            <a:r>
              <a:rPr b="1" sz="1300">
                <a:solidFill>
                  <a:srgbClr val="E2E8F0"/>
                </a:solidFill>
                <a:latin typeface="Calibri"/>
              </a:rPr>
              <a:t>Posture sécuritaire</a:t>
            </a:r>
            <a:r>
              <a:rPr sz="1300">
                <a:solidFill>
                  <a:srgbClr val="E2E8F0"/>
                </a:solidFill>
                <a:latin typeface="Calibri"/>
              </a:rPr>
              <a:t> mis en avant, deux cartes — </a:t>
            </a:r>
            <a:r>
              <a:rPr b="1" sz="1300">
                <a:solidFill>
                  <a:srgbClr val="E2E8F0"/>
                </a:solidFill>
                <a:latin typeface="Calibri"/>
              </a:rPr>
              <a:t>Intérieur</a:t>
            </a:r>
            <a:r>
              <a:rPr sz="1300">
                <a:solidFill>
                  <a:srgbClr val="E2E8F0"/>
                </a:solidFill>
                <a:latin typeface="Calibri"/>
              </a:rPr>
              <a:t> vigilance (rumeur Nord démentie) / </a:t>
            </a:r>
            <a:r>
              <a:rPr b="1" sz="1300">
                <a:solidFill>
                  <a:srgbClr val="E2E8F0"/>
                </a:solidFill>
                <a:latin typeface="Calibri"/>
              </a:rPr>
              <a:t>Extérieur</a:t>
            </a:r>
            <a:r>
              <a:rPr sz="1300">
                <a:solidFill>
                  <a:srgbClr val="E2E8F0"/>
                </a:solidFill>
                <a:latin typeface="Calibri"/>
              </a:rPr>
              <a:t> Sahel élevée (ADS-B activité soutenue) — pastille </a:t>
            </a:r>
            <a:r>
              <a:rPr b="1" sz="1300">
                <a:solidFill>
                  <a:srgbClr val="E2E8F0"/>
                </a:solidFill>
                <a:latin typeface="Calibri"/>
              </a:rPr>
              <a:t>15h00 · Conseil Défense restreint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VP →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Posture sécuritaire</a:t>
            </a:r>
            <a:r>
              <a:rPr sz="1300">
                <a:solidFill>
                  <a:srgbClr val="E2E8F0"/>
                </a:solidFill>
                <a:latin typeface="Calibri"/>
              </a:rPr>
              <a:t> dans la barre de statut (ouvre directement le bloc).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Lecture dual-axis souveraine avant le Conseil 15h — aucune lecture renseignement classifié.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S3.2 — Pulsation sociale Abidjan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la pulsation sociale à Abidjan.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Stratégie</a:t>
            </a:r>
            <a:r>
              <a:rPr sz="1300">
                <a:solidFill>
                  <a:srgbClr val="E2E8F0"/>
                </a:solidFill>
                <a:latin typeface="Calibri"/>
              </a:rPr>
              <a:t>, couche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social-geo</a:t>
            </a:r>
            <a:r>
              <a:rPr sz="1300">
                <a:solidFill>
                  <a:srgbClr val="E2E8F0"/>
                </a:solidFill>
                <a:latin typeface="Calibri"/>
              </a:rPr>
              <a:t> activée (points colorés par sentiment),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Pulsation sociale</a:t>
            </a:r>
            <a:r>
              <a:rPr sz="1300">
                <a:solidFill>
                  <a:srgbClr val="E2E8F0"/>
                </a:solidFill>
                <a:latin typeface="Calibri"/>
              </a:rPr>
              <a:t> listant 18 tweets : </a:t>
            </a:r>
            <a:r>
              <a:rPr b="1" sz="1300">
                <a:solidFill>
                  <a:srgbClr val="E2E8F0"/>
                </a:solidFill>
                <a:latin typeface="Calibri"/>
              </a:rPr>
              <a:t>5 officiels</a:t>
            </a:r>
            <a:r>
              <a:rPr sz="1300">
                <a:solidFill>
                  <a:srgbClr val="E2E8F0"/>
                </a:solidFill>
                <a:latin typeface="Calibri"/>
              </a:rPr>
              <a:t> (Présidence CI, FANCI, RFI Sahel, Jeune Afrique, Préfecture Nord), </a:t>
            </a:r>
            <a:r>
              <a:rPr b="1" sz="1300">
                <a:solidFill>
                  <a:srgbClr val="E2E8F0"/>
                </a:solidFill>
                <a:latin typeface="Calibri"/>
              </a:rPr>
              <a:t>8 citoyens pseudonymisés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@citoyen_***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b="1" sz="1300">
                <a:solidFill>
                  <a:srgbClr val="E2E8F0"/>
                </a:solidFill>
                <a:latin typeface="Calibri"/>
              </a:rPr>
              <a:t>5 signaux rumeur frontière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@rumeur_***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Carte Stratégie → bouton couche </a:t>
            </a:r>
            <a:r>
              <a:rPr b="1" sz="1300">
                <a:solidFill>
                  <a:srgbClr val="E2E8F0"/>
                </a:solidFill>
                <a:latin typeface="Calibri"/>
              </a:rPr>
              <a:t>Pulsation sociale</a:t>
            </a:r>
            <a:r>
              <a:rPr sz="1300">
                <a:solidFill>
                  <a:srgbClr val="E2E8F0"/>
                </a:solidFill>
                <a:latin typeface="Calibri"/>
              </a:rPr>
              <a:t> → drawer presse rouvert sur le snapshot.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Demo-safe : pseudonymisation systématique des citoyens, comptes officiels = comptes institutionnels publics.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S3.3 — Trace de la rumeur frontière Nord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d’où vient la rumeur frontière Nord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carte zoomée Nord, couche </a:t>
            </a:r>
            <a:r>
              <a:rPr b="1" sz="1300">
                <a:solidFill>
                  <a:srgbClr val="E2E8F0"/>
                </a:solidFill>
                <a:latin typeface="Calibri"/>
              </a:rPr>
              <a:t>border-tension</a:t>
            </a:r>
            <a:r>
              <a:rPr sz="1300">
                <a:solidFill>
                  <a:srgbClr val="E2E8F0"/>
                </a:solidFill>
                <a:latin typeface="Calibri"/>
              </a:rPr>
              <a:t> orange sur Bouna / Kong / Korhogo,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Trace OSINT</a:t>
            </a:r>
            <a:r>
              <a:rPr sz="1300">
                <a:solidFill>
                  <a:srgbClr val="E2E8F0"/>
                </a:solidFill>
                <a:latin typeface="Calibri"/>
              </a:rPr>
              <a:t> affichant la chaîne : tweet citoyen </a:t>
            </a:r>
            <a:r>
              <a:rPr b="1" sz="1300">
                <a:solidFill>
                  <a:srgbClr val="E2E8F0"/>
                </a:solidFill>
                <a:latin typeface="Calibri"/>
              </a:rPr>
              <a:t>11h42</a:t>
            </a:r>
            <a:r>
              <a:rPr sz="1300">
                <a:solidFill>
                  <a:srgbClr val="E2E8F0"/>
                </a:solidFill>
                <a:latin typeface="Calibri"/>
              </a:rPr>
              <a:t> → relai Telegram </a:t>
            </a:r>
            <a:r>
              <a:rPr b="1" sz="1300">
                <a:solidFill>
                  <a:srgbClr val="E2E8F0"/>
                </a:solidFill>
                <a:latin typeface="Calibri"/>
              </a:rPr>
              <a:t>12h08</a:t>
            </a:r>
            <a:r>
              <a:rPr sz="1300">
                <a:solidFill>
                  <a:srgbClr val="E2E8F0"/>
                </a:solidFill>
                <a:latin typeface="Calibri"/>
              </a:rPr>
              <a:t> → blog régional </a:t>
            </a:r>
            <a:r>
              <a:rPr b="1" sz="1300">
                <a:solidFill>
                  <a:srgbClr val="E2E8F0"/>
                </a:solidFill>
                <a:latin typeface="Calibri"/>
              </a:rPr>
              <a:t>12h48</a:t>
            </a:r>
            <a:r>
              <a:rPr sz="1300">
                <a:solidFill>
                  <a:srgbClr val="E2E8F0"/>
                </a:solidFill>
                <a:latin typeface="Calibri"/>
              </a:rPr>
              <a:t> → démentis FANCI </a:t>
            </a:r>
            <a:r>
              <a:rPr b="1" sz="1300">
                <a:solidFill>
                  <a:srgbClr val="E2E8F0"/>
                </a:solidFill>
                <a:latin typeface="Calibri"/>
              </a:rPr>
              <a:t>13h45</a:t>
            </a:r>
            <a:r>
              <a:rPr sz="1300">
                <a:solidFill>
                  <a:srgbClr val="E2E8F0"/>
                </a:solidFill>
                <a:latin typeface="Calibri"/>
              </a:rPr>
              <a:t> + Préfecture Nord </a:t>
            </a:r>
            <a:r>
              <a:rPr b="1" sz="1300">
                <a:solidFill>
                  <a:srgbClr val="E2E8F0"/>
                </a:solidFill>
                <a:latin typeface="Calibri"/>
              </a:rPr>
              <a:t>13h52</a:t>
            </a:r>
            <a:r>
              <a:rPr sz="1300">
                <a:solidFill>
                  <a:srgbClr val="E2E8F0"/>
                </a:solidFill>
                <a:latin typeface="Calibri"/>
              </a:rPr>
              <a:t>. Proposition AYA « Rédiger un communiqué ».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Brouillons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Dossier rumeur frontière Nord</a:t>
            </a:r>
            <a:r>
              <a:rPr sz="1300">
                <a:solidFill>
                  <a:srgbClr val="E2E8F0"/>
                </a:solidFill>
                <a:latin typeface="Calibri"/>
              </a:rPr>
              <a:t> (la trace OSINT s’ouvre identique).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Chaîne OSINT auditée — la rumeur est tracée bout-en-bout jusqu’au démenti officiel.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S3.4 — Mouvements de troupes Sahel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les mouvements de troupes au Sahel.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carte avec couches </a:t>
            </a:r>
            <a:r>
              <a:rPr b="1" sz="1300">
                <a:solidFill>
                  <a:srgbClr val="E2E8F0"/>
                </a:solidFill>
                <a:latin typeface="Calibri"/>
              </a:rPr>
              <a:t>military-air</a:t>
            </a:r>
            <a:r>
              <a:rPr sz="1300">
                <a:solidFill>
                  <a:srgbClr val="E2E8F0"/>
                </a:solidFill>
                <a:latin typeface="Calibri"/>
              </a:rPr>
              <a:t> (triangles ADS-B) + </a:t>
            </a:r>
            <a:r>
              <a:rPr b="1" sz="1300">
                <a:solidFill>
                  <a:srgbClr val="E2E8F0"/>
                </a:solidFill>
                <a:latin typeface="Calibri"/>
              </a:rPr>
              <a:t>border-tension</a:t>
            </a:r>
            <a:r>
              <a:rPr sz="1300">
                <a:solidFill>
                  <a:srgbClr val="E2E8F0"/>
                </a:solidFill>
                <a:latin typeface="Calibri"/>
              </a:rPr>
              <a:t> actives,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Snapshot ADS-B advisory</a:t>
            </a:r>
            <a:r>
              <a:rPr sz="1300">
                <a:solidFill>
                  <a:srgbClr val="E2E8F0"/>
                </a:solidFill>
                <a:latin typeface="Calibri"/>
              </a:rPr>
              <a:t> listant </a:t>
            </a:r>
            <a:r>
              <a:rPr b="1" sz="1300">
                <a:solidFill>
                  <a:srgbClr val="E2E8F0"/>
                </a:solidFill>
                <a:latin typeface="Calibri"/>
              </a:rPr>
              <a:t>10 traces</a:t>
            </a:r>
            <a:r>
              <a:rPr sz="1300">
                <a:solidFill>
                  <a:srgbClr val="E2E8F0"/>
                </a:solidFill>
                <a:latin typeface="Calibri"/>
              </a:rPr>
              <a:t> (axe Bamako / Ouagadougou / Niamey, C-130, CN-235, vols logistiques), </a:t>
            </a:r>
            <a:r>
              <a:rPr b="1" sz="1300">
                <a:solidFill>
                  <a:srgbClr val="E2E8F0"/>
                </a:solidFill>
                <a:latin typeface="Calibri"/>
              </a:rPr>
              <a:t>3 zones de surveillance</a:t>
            </a:r>
            <a:r>
              <a:rPr sz="1300">
                <a:solidFill>
                  <a:srgbClr val="E2E8F0"/>
                </a:solidFill>
                <a:latin typeface="Calibri"/>
              </a:rPr>
              <a:t> (Liptako-Gourma, frontière Mali / Burkina, région de Tillabéri), </a:t>
            </a:r>
            <a:r>
              <a:rPr b="1" sz="1300">
                <a:solidFill>
                  <a:srgbClr val="E2E8F0"/>
                </a:solidFill>
                <a:latin typeface="Calibri"/>
              </a:rPr>
              <a:t>2 bases CEDEAO</a:t>
            </a:r>
            <a:r>
              <a:rPr sz="1300">
                <a:solidFill>
                  <a:srgbClr val="E2E8F0"/>
                </a:solidFill>
                <a:latin typeface="Calibri"/>
              </a:rPr>
              <a:t> en alerte standard.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Carte Stratégie → bouton couche </a:t>
            </a:r>
            <a:r>
              <a:rPr b="1" sz="1300">
                <a:solidFill>
                  <a:srgbClr val="E2E8F0"/>
                </a:solidFill>
                <a:latin typeface="Calibri"/>
              </a:rPr>
              <a:t>Trafic militaire</a:t>
            </a:r>
            <a:r>
              <a:rPr sz="1300">
                <a:solidFill>
                  <a:srgbClr val="E2E8F0"/>
                </a:solidFill>
                <a:latin typeface="Calibri"/>
              </a:rPr>
              <a:t> → drawer presse rouvert sur le snapshot ADS-B.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Disclaimer porté par la légende : « ADS-B advisory only ». Aucune donnée opérationnelle classifiée.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S3.5 — Drill réputation 2 positifs / 1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 drill de réputation 2 positifs et 1 critique.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Réputation</a:t>
            </a:r>
            <a:r>
              <a:rPr sz="1300">
                <a:solidFill>
                  <a:srgbClr val="E2E8F0"/>
                </a:solidFill>
                <a:latin typeface="Calibri"/>
              </a:rPr>
              <a:t>, score </a:t>
            </a:r>
            <a:r>
              <a:rPr b="1" sz="1300">
                <a:solidFill>
                  <a:srgbClr val="E2E8F0"/>
                </a:solidFill>
                <a:latin typeface="Calibri"/>
              </a:rPr>
              <a:t>72 / 100</a:t>
            </a:r>
            <a:r>
              <a:rPr sz="1300">
                <a:solidFill>
                  <a:srgbClr val="E2E8F0"/>
                </a:solidFill>
                <a:latin typeface="Calibri"/>
              </a:rPr>
              <a:t> (</a:t>
            </a:r>
            <a:r>
              <a:rPr b="1" sz="1300">
                <a:solidFill>
                  <a:srgbClr val="E2E8F0"/>
                </a:solidFill>
                <a:latin typeface="Calibri"/>
              </a:rPr>
              <a:t>+4 pts</a:t>
            </a:r>
            <a:r>
              <a:rPr sz="1300">
                <a:solidFill>
                  <a:srgbClr val="E2E8F0"/>
                </a:solidFill>
                <a:latin typeface="Calibri"/>
              </a:rPr>
              <a:t>), trois cartes drill : </a:t>
            </a:r>
            <a:r>
              <a:rPr b="1" sz="1300">
                <a:solidFill>
                  <a:srgbClr val="E2E8F0"/>
                </a:solidFill>
                <a:latin typeface="Calibri"/>
              </a:rPr>
              <a:t>Jeune Afrique</a:t>
            </a:r>
            <a:r>
              <a:rPr sz="1300">
                <a:solidFill>
                  <a:srgbClr val="E2E8F0"/>
                </a:solidFill>
                <a:latin typeface="Calibri"/>
              </a:rPr>
              <a:t> « Gestion Nord saluée » (positif) — </a:t>
            </a:r>
            <a:r>
              <a:rPr b="1" sz="1300">
                <a:solidFill>
                  <a:srgbClr val="E2E8F0"/>
                </a:solidFill>
                <a:latin typeface="Calibri"/>
              </a:rPr>
              <a:t>Fraternité Matin</a:t>
            </a:r>
            <a:r>
              <a:rPr sz="1300">
                <a:solidFill>
                  <a:srgbClr val="E2E8F0"/>
                </a:solidFill>
                <a:latin typeface="Calibri"/>
              </a:rPr>
              <a:t> « Réponse rapide au Préfet Nawa » (positif) — </a:t>
            </a:r>
            <a:r>
              <a:rPr b="1" sz="1300">
                <a:solidFill>
                  <a:srgbClr val="E2E8F0"/>
                </a:solidFill>
                <a:latin typeface="Calibri"/>
              </a:rPr>
              <a:t>L’Inter</a:t>
            </a:r>
            <a:r>
              <a:rPr sz="1300">
                <a:solidFill>
                  <a:srgbClr val="E2E8F0"/>
                </a:solidFill>
                <a:latin typeface="Calibri"/>
              </a:rPr>
              <a:t> « Critique budget défense » (orange). CTA AYA : préparer un encart concis pour le Conseil 15h.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→ onglet </a:t>
            </a:r>
            <a:r>
              <a:rPr b="1" sz="1300">
                <a:solidFill>
                  <a:srgbClr val="E2E8F0"/>
                </a:solidFill>
                <a:latin typeface="Calibri"/>
              </a:rPr>
              <a:t>Réputation</a:t>
            </a:r>
            <a:r>
              <a:rPr sz="1300">
                <a:solidFill>
                  <a:srgbClr val="E2E8F0"/>
                </a:solidFill>
                <a:latin typeface="Calibri"/>
              </a:rPr>
              <a:t> → ancre </a:t>
            </a:r>
            <a:r>
              <a:rPr b="1" sz="1300">
                <a:solidFill>
                  <a:srgbClr val="E2E8F0"/>
                </a:solidFill>
                <a:latin typeface="Calibri"/>
              </a:rPr>
              <a:t>Drill 2+/1-</a:t>
            </a:r>
            <a:r>
              <a:rPr sz="1300">
                <a:solidFill>
                  <a:srgbClr val="E2E8F0"/>
                </a:solidFill>
                <a:latin typeface="Calibri"/>
              </a:rPr>
              <a:t> en bas de page.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Critique = vraie critique publique (article L’Inter déjà seedé en S1), pas inventée.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S3.6 — Communiqué sécurité (brouillon)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prépare un communiqué de sécurité sur la rumeur frontière Nord.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Brouillon communiqué souverain</a:t>
            </a:r>
            <a:r>
              <a:rPr sz="1300">
                <a:solidFill>
                  <a:srgbClr val="E2E8F0"/>
                </a:solidFill>
                <a:latin typeface="Calibri"/>
              </a:rPr>
              <a:t> — sujet « Communiqué — frontière Nord, démenti officiel », corps citant le démenti FANCI </a:t>
            </a:r>
            <a:r>
              <a:rPr b="1" sz="1300">
                <a:solidFill>
                  <a:srgbClr val="E2E8F0"/>
                </a:solidFill>
                <a:latin typeface="Calibri"/>
              </a:rPr>
              <a:t>13h46</a:t>
            </a:r>
            <a:r>
              <a:rPr sz="1300">
                <a:solidFill>
                  <a:srgbClr val="E2E8F0"/>
                </a:solidFill>
                <a:latin typeface="Calibri"/>
              </a:rPr>
              <a:t> et la mise au point Préfecture Nord </a:t>
            </a:r>
            <a:r>
              <a:rPr b="1" sz="1300">
                <a:solidFill>
                  <a:srgbClr val="E2E8F0"/>
                </a:solidFill>
                <a:latin typeface="Calibri"/>
              </a:rPr>
              <a:t>13h52</a:t>
            </a:r>
            <a:r>
              <a:rPr sz="1300">
                <a:solidFill>
                  <a:srgbClr val="E2E8F0"/>
                </a:solidFill>
                <a:latin typeface="Calibri"/>
              </a:rPr>
              <a:t>, mention </a:t>
            </a:r>
            <a:r>
              <a:rPr b="1" sz="1300">
                <a:solidFill>
                  <a:srgbClr val="E2E8F0"/>
                </a:solidFill>
                <a:latin typeface="Calibri"/>
              </a:rPr>
              <a:t>« Validation advisory requise avant diffusion »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Brouillons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Nouveau communiqué</a:t>
            </a:r>
            <a:r>
              <a:rPr sz="1300">
                <a:solidFill>
                  <a:srgbClr val="E2E8F0"/>
                </a:solidFill>
                <a:latin typeface="Calibri"/>
              </a:rPr>
              <a:t> → template </a:t>
            </a:r>
            <a:r>
              <a:rPr b="1" sz="1300">
                <a:solidFill>
                  <a:srgbClr val="E2E8F0"/>
                </a:solidFill>
                <a:latin typeface="Calibri"/>
              </a:rPr>
              <a:t>Démenti rumeur Nord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Le Cabinet décide — le brouillon n’est jamais envoyé sans validation explicite.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S3 — Posture sécuritaire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6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~5-6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posture dual-axis lue, rumeur démentie, communiqué prêt — avant le Conseil 15h.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En six prompts, AYA a porté la lecture intérieure et extérieure, tracé la rumeur jusqu’au démenti, et préparé un brouillon souverain — sans jamais quitter le mode advisory.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Ce qu’on a prouvé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Cockpit souverain</a:t>
            </a:r>
            <a:r>
              <a:rPr sz="1300">
                <a:solidFill>
                  <a:srgbClr val="E2E8F0"/>
                </a:solidFill>
                <a:latin typeface="Calibri"/>
              </a:rPr>
              <a:t> — 8 KPIs, posture, terrain, presse en un écran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actionnable</a:t>
            </a:r>
            <a:r>
              <a:rPr sz="1300">
                <a:solidFill>
                  <a:srgbClr val="E2E8F0"/>
                </a:solidFill>
                <a:latin typeface="Calibri"/>
              </a:rPr>
              <a:t> — propose, ne décide pas à la place du Cabinet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Preuves traçables</a:t>
            </a:r>
            <a:r>
              <a:rPr sz="1300">
                <a:solidFill>
                  <a:srgbClr val="E2E8F0"/>
                </a:solidFill>
                <a:latin typeface="Calibri"/>
              </a:rPr>
              <a:t> — PV douanes, rapport préfet, sources citées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Décisions mémorisées</a:t>
            </a:r>
            <a:r>
              <a:rPr sz="1300">
                <a:solidFill>
                  <a:srgbClr val="E2E8F0"/>
                </a:solidFill>
                <a:latin typeface="Calibri"/>
              </a:rPr>
              <a:t> — arbitrages loggés et rappelables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Plan B rapide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 AYA ne répond pas — 10 raccourcis sans voix (workspace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Carte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Brief opérationnel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Cargo / 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Flux terrain → APM Apapa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Agenda → Préfet Nawa 11h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Réunion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 →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Démarrer la réunion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Arbitrages → registre décisions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Posture sécuritaire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VP → 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Posture sécuritaire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dans la barre de statut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Pulsation sociale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Carte Stratégie → couche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social-geo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→ drawer pulsation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Rumeur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Drawer Brouillons →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Dossier rumeur frontière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Mouvements Sahel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Carte Stratégie → couches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military-air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+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border-tension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Drill réputation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→ onglet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Réputation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→ ancre Drill 2+/1-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¹ </a:t>
            </a:r>
            <a:r>
              <a:rPr i="1" sz="1300">
                <a:solidFill>
                  <a:srgbClr val="E2E8F0"/>
                </a:solidFill>
                <a:latin typeface="Calibri"/>
              </a:rPr>
              <a:t>Footnote</a:t>
            </a:r>
            <a:r>
              <a:rPr sz="1300">
                <a:solidFill>
                  <a:srgbClr val="E2E8F0"/>
                </a:solidFill>
                <a:latin typeface="Calibri"/>
              </a:rPr>
              <a:t> : si la phrase « situation au port » ne déclenche pas le panneau maritime à la voix, utiliser le clic Plan B — rebuild frontend requis pour le fix caméra S1.3. Pour S3, tout est demo-safe (ADS-B advisory only, comptes citoyens pseudonymisés </a:t>
            </a:r>
            <a:r>
              <a:rPr sz="1300">
                <a:solidFill>
                  <a:srgbClr val="E2E8F0"/>
                </a:solidFill>
                <a:latin typeface="Calibri"/>
              </a:rPr>
              <a:t>@citoyen_***</a:t>
            </a:r>
            <a:r>
              <a:rPr sz="1300">
                <a:solidFill>
                  <a:srgbClr val="E2E8F0"/>
                </a:solidFill>
                <a:latin typeface="Calibri"/>
              </a:rPr>
              <a:t>, critique réputation = article L’Inter déjà seedé S1).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Briefing démo</dc:title>
  <dc:creator>Datategy · Plateforme Agentium</dc:creator>
  <cp:keywords/>
  <dcterms:created xsi:type="dcterms:W3CDTF">2026-05-25T14:46:59Z</dcterms:created>
  <dcterms:modified xsi:type="dcterms:W3CDTF">2026-05-25T14:46:59Z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Abidjan · 11h00 Paris</vt:lpwstr>
  </property>
  <property fmtid="{D5CDD505-2E9C-101B-9397-08002B2CF9AE}" pid="3" name="subtitle">
    <vt:lpwstr>25 mai 2026 · Monsieur le Vice-Président</vt:lpwstr>
  </property>
</Properties>
</file>