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4400">
                <a:solidFill>
                  <a:srgbClr val="3EE68A"/>
                </a:solidFill>
                <a:latin typeface="Calibri"/>
              </a:rPr>
              <a:t>SENTINEL-CI · Briefing démo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 algn="ctr">
              <a:buNone/>
            </a:pPr>
            <a:r>
              <a:rPr sz="2000" i="1" b="0">
                <a:solidFill>
                  <a:srgbClr val="E2E8F0"/>
                </a:solidFill>
                <a:latin typeface="Calibri"/>
              </a:rPr>
              <a:t>25 mai 2026 · Monsieur le Vice-Président</a:t>
            </a:r>
            <a:br/>
            <a:br/>
            <a:r>
              <a:rPr sz="2000" i="1" b="0">
                <a:solidFill>
                  <a:srgbClr val="E2E8F0"/>
                </a:solidFill>
                <a:latin typeface="Calibri"/>
              </a:rPr>
              <a:t>Datategy · Plateforme Agentium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 algn="ctr">
              <a:buNone/>
            </a:pPr>
            <a:r>
              <a:rPr sz="2000" i="1" b="0">
                <a:solidFill>
                  <a:srgbClr val="E2E8F0"/>
                </a:solidFill>
                <a:latin typeface="Calibri"/>
              </a:rPr>
              <a:t>Lundi 25 mai 2026 · 09h00 Abidjan · 11h00 Paris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723500"/>
            <a:ext cx="8784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ctr"/>
            <a:r>
              <a:rPr sz="1000" i="1" b="0">
                <a:solidFill>
                  <a:srgbClr val="64748B"/>
                </a:solidFill>
                <a:latin typeface="Calibri"/>
              </a:rPr>
              <a:t>Confidentiel · Démo interne · Datategy / Plateforme Agentium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Le fil de la matinée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13 min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b="1" sz="1300">
                <a:solidFill>
                  <a:srgbClr val="E2E8F0"/>
                </a:solidFill>
                <a:latin typeface="Calibri"/>
              </a:rPr>
              <a:t>2 scénarios</a:t>
            </a:r>
            <a:r>
              <a:rPr sz="1300">
                <a:solidFill>
                  <a:srgbClr val="E2E8F0"/>
                </a:solidFill>
                <a:latin typeface="Calibri"/>
              </a:rPr>
              <a:t> · Nord puis Nawa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AYA propose</a:t>
            </a:r>
            <a:r>
              <a:rPr sz="1300">
                <a:solidFill>
                  <a:srgbClr val="E2E8F0"/>
                </a:solidFill>
                <a:latin typeface="Calibri"/>
              </a:rPr>
              <a:t> · le Cabinet décide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Mode </a:t>
            </a:r>
            <a:r>
              <a:rPr b="1" sz="1300">
                <a:solidFill>
                  <a:srgbClr val="E2E8F0"/>
                </a:solidFill>
                <a:latin typeface="Calibri"/>
              </a:rPr>
              <a:t>advisory-only</a:t>
            </a:r>
            <a:r>
              <a:rPr sz="1300">
                <a:solidFill>
                  <a:srgbClr val="E2E8F0"/>
                </a:solidFill>
                <a:latin typeface="Calibri"/>
              </a:rPr>
              <a:t> : aucun envoi automatique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 / 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3 règles d’or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-342900" marL="342900">
              <a:buAutoNum type="arabicPeriod"/>
            </a:pPr>
            <a:r>
              <a:rPr sz="1300">
                <a:solidFill>
                  <a:srgbClr val="E2E8F0"/>
                </a:solidFill>
                <a:latin typeface="Calibri"/>
              </a:rPr>
              <a:t>Commencer chaque demande par un </a:t>
            </a:r>
            <a:r>
              <a:rPr b="1" sz="1300">
                <a:solidFill>
                  <a:srgbClr val="E2E8F0"/>
                </a:solidFill>
                <a:latin typeface="Calibri"/>
              </a:rPr>
              <a:t>verbe</a:t>
            </a:r>
            <a:r>
              <a:rPr sz="1300">
                <a:solidFill>
                  <a:srgbClr val="E2E8F0"/>
                </a:solidFill>
                <a:latin typeface="Calibri"/>
              </a:rPr>
              <a:t> ou « </a:t>
            </a:r>
            <a:r>
              <a:rPr b="1" sz="1300">
                <a:solidFill>
                  <a:srgbClr val="E2E8F0"/>
                </a:solidFill>
                <a:latin typeface="Calibri"/>
              </a:rPr>
              <a:t>AYA,</a:t>
            </a:r>
            <a:r>
              <a:rPr sz="1300">
                <a:solidFill>
                  <a:srgbClr val="E2E8F0"/>
                </a:solidFill>
                <a:latin typeface="Calibri"/>
              </a:rPr>
              <a:t> »</a:t>
            </a:r>
          </a:p>
          <a:p>
            <a:pPr lvl="0" indent="-342900" marL="342900">
              <a:buAutoNum type="arabicPeriod"/>
            </a:pPr>
            <a:r>
              <a:rPr sz="1300">
                <a:solidFill>
                  <a:srgbClr val="E2E8F0"/>
                </a:solidFill>
                <a:latin typeface="Calibri"/>
              </a:rPr>
              <a:t>Ne jamais dire « </a:t>
            </a:r>
            <a:r>
              <a:rPr b="1" sz="1300">
                <a:solidFill>
                  <a:srgbClr val="E2E8F0"/>
                </a:solidFill>
                <a:latin typeface="Calibri"/>
              </a:rPr>
              <a:t>OK</a:t>
            </a:r>
            <a:r>
              <a:rPr sz="1300">
                <a:solidFill>
                  <a:srgbClr val="E2E8F0"/>
                </a:solidFill>
                <a:latin typeface="Calibri"/>
              </a:rPr>
              <a:t> » seul — enchaîner sur un verbe (« Oui, valide »)</a:t>
            </a:r>
          </a:p>
          <a:p>
            <a:pPr lvl="0" indent="-342900" marL="342900">
              <a:buAutoNum type="arabicPeriod"/>
            </a:pPr>
            <a:r>
              <a:rPr sz="1300">
                <a:solidFill>
                  <a:srgbClr val="E2E8F0"/>
                </a:solidFill>
                <a:latin typeface="Calibri"/>
              </a:rPr>
              <a:t>Si AYA hésite, reformuler avec la </a:t>
            </a:r>
            <a:r>
              <a:rPr b="1" sz="1300">
                <a:solidFill>
                  <a:srgbClr val="E2E8F0"/>
                </a:solidFill>
                <a:latin typeface="Calibri"/>
              </a:rPr>
              <a:t>phrase exacte</a:t>
            </a:r>
            <a:r>
              <a:rPr sz="1300">
                <a:solidFill>
                  <a:srgbClr val="E2E8F0"/>
                </a:solidFill>
                <a:latin typeface="Calibri"/>
              </a:rPr>
              <a:t> du slide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Attention</a:t>
            </a:r>
            <a:r>
              <a:rPr sz="1300">
                <a:solidFill>
                  <a:srgbClr val="E2E8F0"/>
                </a:solidFill>
                <a:latin typeface="Calibri"/>
              </a:rPr>
              <a:t> : toujours écrire « Monsieur le Vice-Président » (avec trait d’union et accent).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 / 25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S1.1 — Cockpit macro KPIs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c’est lundi matin. Qu’est-ce qui demande mon attention ? » </a:t>
            </a:r>
            <a:r>
              <a:rPr i="1" sz="1300">
                <a:solidFill>
                  <a:srgbClr val="E2E8F0"/>
                </a:solidFill>
                <a:latin typeface="Calibri"/>
              </a:rPr>
              <a:t>(optionnel — l’écran est déjà le brief)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posture nationale,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b="1" sz="1300">
                <a:solidFill>
                  <a:srgbClr val="E2E8F0"/>
                </a:solidFill>
                <a:latin typeface="Calibri"/>
              </a:rPr>
              <a:t>8 indicateurs</a:t>
            </a:r>
            <a:r>
              <a:rPr sz="1300">
                <a:solidFill>
                  <a:srgbClr val="E2E8F0"/>
                </a:solidFill>
                <a:latin typeface="Calibri"/>
              </a:rPr>
              <a:t> (PIB, inflation, chômage, cacao, anacarde, Brent, réserves BCEAO, tension CEDEAO), directive AYA du matin, carte et arbitrages.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</a:t>
            </a:r>
            <a:r>
              <a:rPr b="1" sz="1300">
                <a:solidFill>
                  <a:srgbClr val="E2E8F0"/>
                </a:solidFill>
                <a:latin typeface="Calibri"/>
              </a:rPr>
              <a:t>Cockpit</a:t>
            </a:r>
            <a:r>
              <a:rPr sz="1300">
                <a:solidFill>
                  <a:srgbClr val="E2E8F0"/>
                </a:solidFill>
                <a:latin typeface="Calibri"/>
              </a:rPr>
              <a:t> — la vue porte déjà le message.</a:t>
            </a:r>
          </a:p>
        </p:txBody>
      </p:sp>
      <p:pic>
        <p:nvPicPr>
          <p:cNvPr descr="status-screenshots/2026-05-25-demo-eve/13-aya-chat-emp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8 KPIs macro + posture nationale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Panel AYA ouvert — grille souveraine des 8 indicateurs visible à gauche.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 /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S1.2 — Carte zone Nord tendue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i="1" sz="1300">
                <a:solidFill>
                  <a:srgbClr val="E2E8F0"/>
                </a:solidFill>
                <a:latin typeface="Calibri"/>
              </a:rPr>
              <a:t>(silence — lecture visuelle)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mini-carte cockpit, région </a:t>
            </a:r>
            <a:r>
              <a:rPr b="1" sz="1300">
                <a:solidFill>
                  <a:srgbClr val="E2E8F0"/>
                </a:solidFill>
                <a:latin typeface="Calibri"/>
              </a:rPr>
              <a:t>Nord 72 % tendue</a:t>
            </a:r>
            <a:r>
              <a:rPr sz="1300">
                <a:solidFill>
                  <a:srgbClr val="E2E8F0"/>
                </a:solidFill>
                <a:latin typeface="Calibri"/>
              </a:rPr>
              <a:t>, badge </a:t>
            </a:r>
            <a:r>
              <a:rPr b="1" sz="1300">
                <a:solidFill>
                  <a:srgbClr val="E2E8F0"/>
                </a:solidFill>
                <a:latin typeface="Calibri"/>
              </a:rPr>
              <a:t>16 navires AIS · Abidjan / Vridi</a:t>
            </a:r>
            <a:r>
              <a:rPr sz="1300">
                <a:solidFill>
                  <a:srgbClr val="E2E8F0"/>
                </a:solidFill>
                <a:latin typeface="Calibri"/>
              </a:rPr>
              <a:t>, chip rouge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 pulsante.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Clic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 → recentrage carte Nord.</a:t>
            </a:r>
          </a:p>
        </p:txBody>
      </p:sp>
      <p:pic>
        <p:nvPicPr>
          <p:cNvPr descr="status-screenshots/2026-05-25-demo-eve/04-cockpit-car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Carte fusionnée · zone Nord tendue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Lecture territoriale immédiate — Nord en tête avant toute question à AYA.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5 / 25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S1.3 — Pourquoi le Nord est tendu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pourquoi la situation Nord est-elle tendue ?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drill causal — réponse AYA citant </a:t>
            </a:r>
            <a:r>
              <a:rPr b="1" sz="1300">
                <a:solidFill>
                  <a:srgbClr val="E2E8F0"/>
                </a:solidFill>
                <a:latin typeface="Calibri"/>
              </a:rPr>
              <a:t>Centre Drones Napié</a:t>
            </a:r>
            <a:r>
              <a:rPr sz="1300">
                <a:solidFill>
                  <a:srgbClr val="E2E8F0"/>
                </a:solidFill>
                <a:latin typeface="Calibri"/>
              </a:rPr>
              <a:t>, retard </a:t>
            </a:r>
            <a:r>
              <a:rPr b="1" sz="1300">
                <a:solidFill>
                  <a:srgbClr val="E2E8F0"/>
                </a:solidFill>
                <a:latin typeface="Calibri"/>
              </a:rPr>
              <a:t>~120 jours</a:t>
            </a:r>
            <a:r>
              <a:rPr sz="1300">
                <a:solidFill>
                  <a:srgbClr val="E2E8F0"/>
                </a:solidFill>
                <a:latin typeface="Calibri"/>
              </a:rPr>
              <a:t>, composants </a:t>
            </a:r>
            <a:r>
              <a:rPr b="1" sz="1300">
                <a:solidFill>
                  <a:srgbClr val="E2E8F0"/>
                </a:solidFill>
                <a:latin typeface="Calibri"/>
              </a:rPr>
              <a:t>Aerostar</a:t>
            </a:r>
            <a:r>
              <a:rPr sz="1300">
                <a:solidFill>
                  <a:srgbClr val="E2E8F0"/>
                </a:solidFill>
                <a:latin typeface="Calibri"/>
              </a:rPr>
              <a:t> bloqués à </a:t>
            </a:r>
            <a:r>
              <a:rPr b="1" sz="1300">
                <a:solidFill>
                  <a:srgbClr val="E2E8F0"/>
                </a:solidFill>
                <a:latin typeface="Calibri"/>
              </a:rPr>
              <a:t>Vridi</a:t>
            </a:r>
            <a:r>
              <a:rPr sz="1300">
                <a:solidFill>
                  <a:srgbClr val="E2E8F0"/>
                </a:solidFill>
                <a:latin typeface="Calibri"/>
              </a:rPr>
              <a:t> ; carte recentrée Korhogo / Poro.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 ou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Ouvrir le dossier Zone Nord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1-02-nord-tendu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Drill Nord · réponse AYA + focus carte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Chaîne causale Napie → cargo — narrative souveraine, pas de fallback générique.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6 / 25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S1.4 — PV douanes (preuve documentaire)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ouvre le PV douanes.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drawer </a:t>
            </a:r>
            <a:r>
              <a:rPr b="1" sz="1300">
                <a:solidFill>
                  <a:srgbClr val="E2E8F0"/>
                </a:solidFill>
                <a:latin typeface="Calibri"/>
              </a:rPr>
              <a:t>PV douanes 18 mai</a:t>
            </a:r>
            <a:r>
              <a:rPr sz="1300">
                <a:solidFill>
                  <a:srgbClr val="E2E8F0"/>
                </a:solidFill>
                <a:latin typeface="Calibri"/>
              </a:rPr>
              <a:t> — PDF page 2 visible (pas d’écran noir), passage OCR surligné sur l’effet collatéral cargo drones.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Accepter « Voir le PV ? » après S1.5, ou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PV douanes 18 mai</a:t>
            </a:r>
            <a:r>
              <a:rPr sz="1300">
                <a:solidFill>
                  <a:srgbClr val="E2E8F0"/>
                </a:solidFill>
                <a:latin typeface="Calibri"/>
              </a:rPr>
              <a:t> sous la fiche cargo.</a:t>
            </a:r>
          </a:p>
        </p:txBody>
      </p:sp>
      <p:pic>
        <p:nvPicPr>
          <p:cNvPr descr="status-screenshots/2026-05-25-qa-trame/S1-03-pv-douan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Drawer PV douanes · page 2 OCR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Preuve traçable — document lisible dans le drawer Cabinet.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7 / 25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S1.5 — Cargo Atlantic Trader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 le cargo Atlantic Trader.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pin </a:t>
            </a:r>
            <a:r>
              <a:rPr b="1" sz="1300">
                <a:solidFill>
                  <a:srgbClr val="E2E8F0"/>
                </a:solidFill>
                <a:latin typeface="Calibri"/>
              </a:rPr>
              <a:t>MV Atlantic Trader</a:t>
            </a:r>
            <a:r>
              <a:rPr sz="1300">
                <a:solidFill>
                  <a:srgbClr val="E2E8F0"/>
                </a:solidFill>
                <a:latin typeface="Calibri"/>
              </a:rPr>
              <a:t> sur carte maritime, triangles AIS, vignette webcam </a:t>
            </a:r>
            <a:r>
              <a:rPr b="1" sz="1300">
                <a:solidFill>
                  <a:srgbClr val="E2E8F0"/>
                </a:solidFill>
                <a:latin typeface="Calibri"/>
              </a:rPr>
              <a:t>APM Apapa</a:t>
            </a:r>
            <a:r>
              <a:rPr sz="1300">
                <a:solidFill>
                  <a:srgbClr val="E2E8F0"/>
                </a:solidFill>
                <a:latin typeface="Calibri"/>
              </a:rPr>
              <a:t>, proposition d’ouverture du PV.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Clic pin </a:t>
            </a:r>
            <a:r>
              <a:rPr b="1" sz="1300">
                <a:solidFill>
                  <a:srgbClr val="E2E8F0"/>
                </a:solidFill>
                <a:latin typeface="Calibri"/>
              </a:rPr>
              <a:t>MV Atlantic Trader</a:t>
            </a:r>
            <a:r>
              <a:rPr sz="1300">
                <a:solidFill>
                  <a:srgbClr val="E2E8F0"/>
                </a:solidFill>
                <a:latin typeface="Calibri"/>
              </a:rPr>
              <a:t> sur la carte, ou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Port Vridi · webcam demo</a:t>
            </a:r>
            <a:r>
              <a:rPr sz="1300">
                <a:solidFill>
                  <a:srgbClr val="E2E8F0"/>
                </a:solidFill>
                <a:latin typeface="Calibri"/>
              </a:rPr>
              <a:t> (légende carte).</a:t>
            </a:r>
          </a:p>
        </p:txBody>
      </p:sp>
      <p:pic>
        <p:nvPicPr>
          <p:cNvPr descr="status-screenshots/2026-05-25-qa-trame/S1-04-atlantic-t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Cargo Atlantic Trader · AIS + webcam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Lien maritime visible — composants Aerostar au port d’Abidjan.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8 / 25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S1.6 — Situation au port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 la situation au port.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vue port Abidjan, panneau maritime, trafic AIS, grille </a:t>
            </a:r>
            <a:r>
              <a:rPr b="1" sz="1300">
                <a:solidFill>
                  <a:srgbClr val="E2E8F0"/>
                </a:solidFill>
                <a:latin typeface="Calibri"/>
              </a:rPr>
              <a:t>Flux terrain</a:t>
            </a:r>
            <a:r>
              <a:rPr sz="1300">
                <a:solidFill>
                  <a:srgbClr val="E2E8F0"/>
                </a:solidFill>
                <a:latin typeface="Calibri"/>
              </a:rPr>
              <a:t> avec webcam </a:t>
            </a:r>
            <a:r>
              <a:rPr b="1" sz="1300">
                <a:solidFill>
                  <a:srgbClr val="E2E8F0"/>
                </a:solidFill>
                <a:latin typeface="Calibri"/>
              </a:rPr>
              <a:t>APM Apapa Gate #1</a:t>
            </a:r>
            <a:r>
              <a:rPr sz="1300">
                <a:solidFill>
                  <a:srgbClr val="E2E8F0"/>
                </a:solidFill>
                <a:latin typeface="Calibri"/>
              </a:rPr>
              <a:t> en tête.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(Plan B si voix sans effet — rebuild frontend requis¹)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E2E8F0"/>
                </a:solidFill>
                <a:latin typeface="Calibri"/>
              </a:rPr>
              <a:t>Flux terrain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APM Apapa Gate #1</a:t>
            </a:r>
            <a:r>
              <a:rPr sz="1300">
                <a:solidFill>
                  <a:srgbClr val="E2E8F0"/>
                </a:solidFill>
                <a:latin typeface="Calibri"/>
              </a:rPr>
              <a:t>, ou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Port Vridi · webcam demo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1-05-situation-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Situation port · webcam Flux terrain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Lecture terrain live — port Vridi et activité maritime.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9 / 25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S1.7 — Courrier dédouanement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rédige le courrier de dédouanement pour Atlantic Trader.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drawer email pré-rédigé — dérogation douanière, destinataire DGD Abidjan, bandeau </a:t>
            </a:r>
            <a:r>
              <a:rPr b="1" sz="1300">
                <a:solidFill>
                  <a:srgbClr val="E2E8F0"/>
                </a:solidFill>
                <a:latin typeface="Calibri"/>
              </a:rPr>
              <a:t>advisory-only</a:t>
            </a:r>
            <a:r>
              <a:rPr sz="1300">
                <a:solidFill>
                  <a:srgbClr val="E2E8F0"/>
                </a:solidFill>
                <a:latin typeface="Calibri"/>
              </a:rPr>
              <a:t> (aucun envoi automatique).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Drawer PV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Préparer email dérogation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1-06-courrier-dedouane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Courrier dédouanement · proposition Cabinet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Proposition sourcée — le Cabinet valide avant tout envoi.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10 / 25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S1.8 — Plan B clics (S1)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i="1" sz="1300">
                <a:solidFill>
                  <a:srgbClr val="E2E8F0"/>
                </a:solidFill>
                <a:latin typeface="Calibri"/>
              </a:rPr>
              <a:t>(secours sans voix)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même parcours Nord entièrement rejouable à la souris — chip zone, pin cargo, drawer PV, email.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(clic équivalent sur 6/6 étapes S1)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Étape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Raccourci clic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Nord tendue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Chip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Zone Nord · Tendue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Focus Napié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Brief opérationnel · Projet sensible Nord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Cargo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Pin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MV Atlantic Trader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Port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Flux terrain → APM Apapa Gate #1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PV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Chip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PV douanes 18 mai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Préparer email dérogation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(drawer PV)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11 / 25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tus-screenshots/2026-05-25-qa-trame/planB-zone-no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420000"/>
            <a:ext cx="51308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2006600" y="2830000"/>
            <a:ext cx="51308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Plan B · clic chip Zone Nord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06600" y="3190000"/>
            <a:ext cx="51308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Secours présentateur — zéro blocage si AYA hésite.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12 / 25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S1 — Nord / Napié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7 étapes</a:t>
            </a:r>
            <a:r>
              <a:rPr sz="1300">
                <a:solidFill>
                  <a:srgbClr val="E2E8F0"/>
                </a:solidFill>
                <a:latin typeface="Calibri"/>
              </a:rPr>
              <a:t> · ~5 minutes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Message clé</a:t>
            </a:r>
            <a:r>
              <a:rPr sz="1300">
                <a:solidFill>
                  <a:srgbClr val="E2E8F0"/>
                </a:solidFill>
                <a:latin typeface="Calibri"/>
              </a:rPr>
              <a:t> : retard Napié → cargo bloqué → dérogation prête</a:t>
            </a:r>
          </a:p>
          <a:p>
            <a:pPr lvl="0" indent="0" marL="1270000">
              <a:buNone/>
            </a:pPr>
            <a:r>
              <a:rPr sz="2000">
                <a:solidFill>
                  <a:srgbClr val="E2E8F0"/>
                </a:solidFill>
                <a:latin typeface="Calibri"/>
              </a:rPr>
              <a:t>« En cinq minutes, AYA est passée du signal territorial à la preuve douanière, avec une proposition d’action sourcée — sans exécuter à ma place.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13 / 25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T.1 — Transition cockpit → agenda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quel est mon prochain rendez-vous ?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bascule </a:t>
            </a:r>
            <a:r>
              <a:rPr b="1" sz="1300">
                <a:solidFill>
                  <a:srgbClr val="E2E8F0"/>
                </a:solidFill>
                <a:latin typeface="Calibri"/>
              </a:rPr>
              <a:t>Agenda</a:t>
            </a:r>
            <a:r>
              <a:rPr sz="1300">
                <a:solidFill>
                  <a:srgbClr val="E2E8F0"/>
                </a:solidFill>
                <a:latin typeface="Calibri"/>
              </a:rPr>
              <a:t> — timeline du 25 mai, événement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Préfet Nawa 11h00 Soubré</a:t>
            </a:r>
            <a:r>
              <a:rPr sz="1300">
                <a:solidFill>
                  <a:srgbClr val="E2E8F0"/>
                </a:solidFill>
                <a:latin typeface="Calibri"/>
              </a:rPr>
              <a:t> surligné ; fil presse disponible en sidebar.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</a:t>
            </a:r>
            <a:r>
              <a:rPr b="1" sz="1300">
                <a:solidFill>
                  <a:srgbClr val="E2E8F0"/>
                </a:solidFill>
                <a:latin typeface="Calibri"/>
              </a:rPr>
              <a:t>Agenda</a:t>
            </a:r>
            <a:r>
              <a:rPr sz="1300">
                <a:solidFill>
                  <a:srgbClr val="E2E8F0"/>
                </a:solidFill>
                <a:latin typeface="Calibri"/>
              </a:rPr>
              <a:t> → carte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Préfet Nawa · 11h00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09-agend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Agenda · prochain RDV Nawa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Du réactif (Nord) au proactif (réunion territoriale).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14 / 25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S2.1 — Résumé rapport Préfet Nawa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donne-moi le résumé du rapport préfet.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synthèse structurée inline (~70 pages condensées), enjeux cacao / Nawa / Soubré, proposition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Préconisations cacao ?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Agenda → événement Nawa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Synthèse AYA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0-resume-naw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Chat AYA · résumé Préfet Nawa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Corpus dense lu par AYA — le Cabinet garde la main.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15 / 25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S2.2 — Préconisations cacao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donne-moi des préconisations sur le cacao.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E2E8F0"/>
                </a:solidFill>
                <a:latin typeface="Calibri"/>
              </a:rPr>
              <a:t>3 options chiffrées</a:t>
            </a:r>
            <a:r>
              <a:rPr sz="1300">
                <a:solidFill>
                  <a:srgbClr val="E2E8F0"/>
                </a:solidFill>
                <a:latin typeface="Calibri"/>
              </a:rPr>
              <a:t> — transformation (~4,2 Mds FCFA), coopérative régionale, partenariat public-privé ; sources citées.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(AYA only — pas de bouton clic équivalent)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Reformuler : « recommandations cacao » ou « diversification cacao ».</a:t>
            </a:r>
          </a:p>
        </p:txBody>
      </p:sp>
      <p:pic>
        <p:nvPicPr>
          <p:cNvPr descr="status-screenshots/2026-05-25-qa-trame/S2-11-preconisat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Préconisations cacao · 3 leviers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Options sourcées — le Cabinet arbitre ensuite.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16 / 25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S2.3 — Rapport stratégique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génère le rapport complet.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drawer PDF </a:t>
            </a:r>
            <a:r>
              <a:rPr b="1" sz="1300">
                <a:solidFill>
                  <a:srgbClr val="E2E8F0"/>
                </a:solidFill>
                <a:latin typeface="Calibri"/>
              </a:rPr>
              <a:t>synthèse cacao</a:t>
            </a:r>
            <a:r>
              <a:rPr sz="1300">
                <a:solidFill>
                  <a:srgbClr val="E2E8F0"/>
                </a:solidFill>
                <a:latin typeface="Calibri"/>
              </a:rPr>
              <a:t> (~12 p.) — livrable téléchargeable, URL signée, bandeau advisory.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(dire « synthèse cacao » à l’oral, pas « 70 pages »)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Reformuler : « génère le rapport stratégique » </a:t>
            </a:r>
            <a:r>
              <a:rPr i="1" sz="1300">
                <a:solidFill>
                  <a:srgbClr val="E2E8F0"/>
                </a:solidFill>
                <a:latin typeface="Calibri"/>
              </a:rPr>
              <a:t>(AYA only)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2-rapport-strategiqu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Drawer rapport stratégique cacao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Livrable prêt pour la réunion — preuve traçable.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17 / 25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S2.4 — Patch ordre du jour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ajoute le point cacao à l’ordre du jour.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proposition d’ajout </a:t>
            </a:r>
            <a:r>
              <a:rPr b="1" sz="1300">
                <a:solidFill>
                  <a:srgbClr val="E2E8F0"/>
                </a:solidFill>
                <a:latin typeface="Calibri"/>
              </a:rPr>
              <a:t>Point cacao · diversification anacarde</a:t>
            </a:r>
            <a:r>
              <a:rPr sz="1300">
                <a:solidFill>
                  <a:srgbClr val="E2E8F0"/>
                </a:solidFill>
                <a:latin typeface="Calibri"/>
              </a:rPr>
              <a:t> — bannière orange « Modification ODJ proposée · AYA », en attente de validation.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Fiche réunion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Proposer un point ODJ</a:t>
            </a:r>
            <a:r>
              <a:rPr sz="1300">
                <a:solidFill>
                  <a:srgbClr val="E2E8F0"/>
                </a:solidFill>
                <a:latin typeface="Calibri"/>
              </a:rPr>
              <a:t> ou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+ Point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3-odj-pat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ODJ · point cacao proposé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Écriture staged — validation Cabinet requise.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18 / 25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S2.5 — Valider l’ODJ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Oui, valide.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patch ODJ appliqué — badge </a:t>
            </a:r>
            <a:r>
              <a:rPr b="1" sz="1300">
                <a:solidFill>
                  <a:srgbClr val="E2E8F0"/>
                </a:solidFill>
                <a:latin typeface="Calibri"/>
              </a:rPr>
              <a:t>Ajouté par AYA</a:t>
            </a:r>
            <a:r>
              <a:rPr sz="1300">
                <a:solidFill>
                  <a:srgbClr val="E2E8F0"/>
                </a:solidFill>
                <a:latin typeface="Calibri"/>
              </a:rPr>
              <a:t> sur le point cacao.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Bannière orange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Valider modification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4-odj-valida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Validation ODJ · badge AYA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Confirmation explicite — AYA ne décide pas seule.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19 / 25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S2.6 — Réunion live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démarre la réunion.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vue </a:t>
            </a:r>
            <a:r>
              <a:rPr b="1" sz="1300">
                <a:solidFill>
                  <a:srgbClr val="E2E8F0"/>
                </a:solidFill>
                <a:latin typeface="Calibri"/>
              </a:rPr>
              <a:t>meeting live</a:t>
            </a:r>
            <a:r>
              <a:rPr sz="1300">
                <a:solidFill>
                  <a:srgbClr val="E2E8F0"/>
                </a:solidFill>
                <a:latin typeface="Calibri"/>
              </a:rPr>
              <a:t> — chrono, ordre du jour vertical avec point cacao, options </a:t>
            </a:r>
            <a:r>
              <a:rPr b="1" sz="1300">
                <a:solidFill>
                  <a:srgbClr val="E2E8F0"/>
                </a:solidFill>
                <a:latin typeface="Calibri"/>
              </a:rPr>
              <a:t>A / B / C</a:t>
            </a:r>
            <a:r>
              <a:rPr sz="1300">
                <a:solidFill>
                  <a:srgbClr val="E2E8F0"/>
                </a:solidFill>
                <a:latin typeface="Calibri"/>
              </a:rPr>
              <a:t> visibles.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Fiche Nawa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Démarrer la réunion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5-meeting-li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Vue réunion · ODJ et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Mode meeting — arbitrage en direct devant Monsieur le Vice-Président.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20 / 25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S2.7 — Décision option 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décide option B.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décision </a:t>
            </a:r>
            <a:r>
              <a:rPr b="1" sz="1300">
                <a:solidFill>
                  <a:srgbClr val="E2E8F0"/>
                </a:solidFill>
                <a:latin typeface="Calibri"/>
              </a:rPr>
              <a:t>option B diversification anacarde</a:t>
            </a:r>
            <a:r>
              <a:rPr sz="1300">
                <a:solidFill>
                  <a:srgbClr val="E2E8F0"/>
                </a:solidFill>
                <a:latin typeface="Calibri"/>
              </a:rPr>
              <a:t> loggée — modal rationale, registre mis à jour.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Point ODJ Cacao → carte </a:t>
            </a:r>
            <a:r>
              <a:rPr b="1" sz="1300">
                <a:solidFill>
                  <a:srgbClr val="E2E8F0"/>
                </a:solidFill>
                <a:latin typeface="Calibri"/>
              </a:rPr>
              <a:t>Option B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Décider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Logger la décision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6-decision-b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Arbitrage option B · décision enregistrée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Décision persistée — traçabilité institutionnelle.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21 / 25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S2 — Nawa / cacao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7 étapes</a:t>
            </a:r>
            <a:r>
              <a:rPr sz="1300">
                <a:solidFill>
                  <a:srgbClr val="E2E8F0"/>
                </a:solidFill>
                <a:latin typeface="Calibri"/>
              </a:rPr>
              <a:t> · ~7 minutes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Message clé</a:t>
            </a:r>
            <a:r>
              <a:rPr sz="1300">
                <a:solidFill>
                  <a:srgbClr val="E2E8F0"/>
                </a:solidFill>
                <a:latin typeface="Calibri"/>
              </a:rPr>
              <a:t> : diversification cacao arbitrée et loggée</a:t>
            </a:r>
          </a:p>
          <a:p>
            <a:pPr lvl="0" indent="0" marL="1270000">
              <a:buNone/>
            </a:pPr>
            <a:r>
              <a:rPr sz="2000">
                <a:solidFill>
                  <a:srgbClr val="E2E8F0"/>
                </a:solidFill>
                <a:latin typeface="Calibri"/>
              </a:rPr>
              <a:t>« De la lecture d’un rapport dense à la décision loggée en réunion — AYA a accompagné tout le cycle, avec traçabilité et validation à chaque étape d’écriture.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22 / 25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Ce qu’on a prouvé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Cockpit souverain</a:t>
            </a:r>
            <a:r>
              <a:rPr sz="1300">
                <a:solidFill>
                  <a:srgbClr val="E2E8F0"/>
                </a:solidFill>
                <a:latin typeface="Calibri"/>
              </a:rPr>
              <a:t> — 8 KPIs, posture, terrain, presse en un écran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AYA actionnable</a:t>
            </a:r>
            <a:r>
              <a:rPr sz="1300">
                <a:solidFill>
                  <a:srgbClr val="E2E8F0"/>
                </a:solidFill>
                <a:latin typeface="Calibri"/>
              </a:rPr>
              <a:t> — propose, ne décide pas à la place du Cabinet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Preuves traçables</a:t>
            </a:r>
            <a:r>
              <a:rPr sz="1300">
                <a:solidFill>
                  <a:srgbClr val="E2E8F0"/>
                </a:solidFill>
                <a:latin typeface="Calibri"/>
              </a:rPr>
              <a:t> — PV douanes, rapport préfet, sources citées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Décisions mémorisées</a:t>
            </a:r>
            <a:r>
              <a:rPr sz="1300">
                <a:solidFill>
                  <a:srgbClr val="E2E8F0"/>
                </a:solidFill>
                <a:latin typeface="Calibri"/>
              </a:rPr>
              <a:t> — arbitrages loggés et rappelables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23 / 25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Plan B rapide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Si AYA ne répond pas — 5 raccourcis sans voix (workspace </a:t>
            </a:r>
            <a:r>
              <a:rPr sz="1300">
                <a:solidFill>
                  <a:srgbClr val="E2E8F0"/>
                </a:solidFill>
                <a:latin typeface="Calibri"/>
              </a:rPr>
              <a:t>sentinel-ci</a:t>
            </a:r>
            <a:r>
              <a:rPr sz="1300">
                <a:solidFill>
                  <a:srgbClr val="E2E8F0"/>
                </a:solidFill>
                <a:latin typeface="Calibri"/>
              </a:rPr>
              <a:t>) 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Sujet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Raccourci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Carte Nord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Chip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Zone Nord · Tendue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ou Brief opérationnel Nord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Cargo / port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Pin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MV Atlantic Trader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ou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Flux terrain → APM Apapa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Agenda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Sidebar Agenda → Préfet Nawa 11h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Réunion Nawa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Agenda →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Démarrer la réunion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Décisions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Sidebar Arbitrages → registre décisions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24 / 25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¹ </a:t>
            </a:r>
            <a:r>
              <a:rPr i="1" sz="1300">
                <a:solidFill>
                  <a:srgbClr val="E2E8F0"/>
                </a:solidFill>
                <a:latin typeface="Calibri"/>
              </a:rPr>
              <a:t>Footnote</a:t>
            </a:r>
            <a:r>
              <a:rPr sz="1300">
                <a:solidFill>
                  <a:srgbClr val="E2E8F0"/>
                </a:solidFill>
                <a:latin typeface="Calibri"/>
              </a:rPr>
              <a:t> : si la phrase « situation au port » ne déclenche pas le panneau maritime à la voix, utiliser le clic Plan B — rebuild frontend requis pour le fix caméra S1.3.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25 / 25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SENTINEL-CI · Briefing démo</dc:title>
  <dc:creator>Datategy · Plateforme Agentium</dc:creator>
  <cp:keywords/>
  <dcterms:created xsi:type="dcterms:W3CDTF">2026-05-25T09:50:35Z</dcterms:created>
  <dcterms:modified xsi:type="dcterms:W3CDTF">2026-05-25T09:50:35Z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Lundi 25 mai 2026 · 09h00 Abidjan · 11h00 Paris</vt:lpwstr>
  </property>
  <property fmtid="{D5CDD505-2E9C-101B-9397-08002B2CF9AE}" pid="3" name="subtitle">
    <vt:lpwstr>25 mai 2026 · Monsieur le Vice-Président</vt:lpwstr>
  </property>
</Properties>
</file>