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9"/>
    <p:sldId id="290" r:id="rId40"/>
    <p:sldId id="291" r:id="rId41"/>
    <p:sldId id="292" r:id="rId4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 wrap="square" anchor="ctr"/>
          <a:lstStyle/>
          <a:p>
            <a:pPr lvl="0" indent="0" marL="0" algn="ctr">
              <a:buNone/>
            </a:pPr>
            <a:r>
              <a:rPr b="1" sz="4400">
                <a:solidFill>
                  <a:srgbClr val="3EE68A"/>
                </a:solidFill>
                <a:latin typeface="Calibri"/>
              </a:rPr>
              <a:t>SENTINEL-CI · Briefing démo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 algn="ctr">
              <a:buNone/>
            </a:pPr>
            <a:r>
              <a:rPr sz="2000" i="1" b="0">
                <a:solidFill>
                  <a:srgbClr val="E2E8F0"/>
                </a:solidFill>
                <a:latin typeface="Calibri"/>
              </a:rPr>
              <a:t>25 mai 2026 · Monsieur le Vice Premier Ministre</a:t>
            </a:r>
            <a:br/>
            <a:br/>
            <a:r>
              <a:rPr sz="2000" i="1" b="0">
                <a:solidFill>
                  <a:srgbClr val="E2E8F0"/>
                </a:solidFill>
                <a:latin typeface="Calibri"/>
              </a:rPr>
              <a:t>Datategy · Plateforme Agentium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 algn="ctr">
              <a:buNone/>
            </a:pPr>
            <a:r>
              <a:rPr sz="2000" i="1" b="0">
                <a:solidFill>
                  <a:srgbClr val="E2E8F0"/>
                </a:solidFill>
                <a:latin typeface="Calibri"/>
              </a:rPr>
              <a:t>Lundi 25 mai 2026 · 09h00 Abidjan · 11h00 Paris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723500"/>
            <a:ext cx="87840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ctr"/>
            <a:r>
              <a:rPr sz="1000" i="1" b="0">
                <a:solidFill>
                  <a:srgbClr val="64748B"/>
                </a:solidFill>
                <a:latin typeface="Calibri"/>
              </a:rPr>
              <a:t>Confidentiel · Démo interne · Datategy / Plateforme Agentium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723500"/>
            <a:ext cx="87840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ctr"/>
            <a:r>
              <a:rPr sz="1000" i="1" b="0">
                <a:solidFill>
                  <a:srgbClr val="64748B"/>
                </a:solidFill>
                <a:latin typeface="Calibri"/>
              </a:rPr>
              <a:t>Confidentiel · Démo interne · Datategy / Plateforme Agentium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Le fil de la matinée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b="1" sz="1300">
                <a:solidFill>
                  <a:srgbClr val="E2E8F0"/>
                </a:solidFill>
                <a:latin typeface="Calibri"/>
              </a:rPr>
              <a:t>13 min</a:t>
            </a:r>
            <a:r>
              <a:rPr sz="1300">
                <a:solidFill>
                  <a:srgbClr val="E2E8F0"/>
                </a:solidFill>
                <a:latin typeface="Calibri"/>
              </a:rPr>
              <a:t> · </a:t>
            </a:r>
            <a:r>
              <a:rPr b="1" sz="1300">
                <a:solidFill>
                  <a:srgbClr val="E2E8F0"/>
                </a:solidFill>
                <a:latin typeface="Calibri"/>
              </a:rPr>
              <a:t>2 scénarios</a:t>
            </a:r>
            <a:r>
              <a:rPr sz="1300">
                <a:solidFill>
                  <a:srgbClr val="E2E8F0"/>
                </a:solidFill>
                <a:latin typeface="Calibri"/>
              </a:rPr>
              <a:t> · Nord puis Nawa</a:t>
            </a:r>
          </a:p>
          <a:p>
            <a:pPr lvl="0"/>
            <a:r>
              <a:rPr b="1" sz="1300">
                <a:solidFill>
                  <a:srgbClr val="E2E8F0"/>
                </a:solidFill>
                <a:latin typeface="Calibri"/>
              </a:rPr>
              <a:t>AYA propose</a:t>
            </a:r>
            <a:r>
              <a:rPr sz="1300">
                <a:solidFill>
                  <a:srgbClr val="E2E8F0"/>
                </a:solidFill>
                <a:latin typeface="Calibri"/>
              </a:rPr>
              <a:t> · le Cabinet décide</a:t>
            </a:r>
          </a:p>
          <a:p>
            <a:pPr lvl="0"/>
            <a:r>
              <a:rPr sz="1300">
                <a:solidFill>
                  <a:srgbClr val="E2E8F0"/>
                </a:solidFill>
                <a:latin typeface="Calibri"/>
              </a:rPr>
              <a:t>Mode </a:t>
            </a:r>
            <a:r>
              <a:rPr b="1" sz="1300">
                <a:solidFill>
                  <a:srgbClr val="E2E8F0"/>
                </a:solidFill>
                <a:latin typeface="Calibri"/>
              </a:rPr>
              <a:t>advisory-only</a:t>
            </a:r>
            <a:r>
              <a:rPr sz="1300">
                <a:solidFill>
                  <a:srgbClr val="E2E8F0"/>
                </a:solidFill>
                <a:latin typeface="Calibri"/>
              </a:rPr>
              <a:t> : aucun envoi automatique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 / 37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3 règles d’or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-342900" marL="342900">
              <a:buAutoNum type="arabicPeriod"/>
            </a:pPr>
            <a:r>
              <a:rPr sz="1300">
                <a:solidFill>
                  <a:srgbClr val="E2E8F0"/>
                </a:solidFill>
                <a:latin typeface="Calibri"/>
              </a:rPr>
              <a:t>Commencer chaque demande par un </a:t>
            </a:r>
            <a:r>
              <a:rPr b="1" sz="1300">
                <a:solidFill>
                  <a:srgbClr val="E2E8F0"/>
                </a:solidFill>
                <a:latin typeface="Calibri"/>
              </a:rPr>
              <a:t>verbe</a:t>
            </a:r>
            <a:r>
              <a:rPr sz="1300">
                <a:solidFill>
                  <a:srgbClr val="E2E8F0"/>
                </a:solidFill>
                <a:latin typeface="Calibri"/>
              </a:rPr>
              <a:t> ou « </a:t>
            </a:r>
            <a:r>
              <a:rPr b="1" sz="1300">
                <a:solidFill>
                  <a:srgbClr val="E2E8F0"/>
                </a:solidFill>
                <a:latin typeface="Calibri"/>
              </a:rPr>
              <a:t>AYA,</a:t>
            </a:r>
            <a:r>
              <a:rPr sz="1300">
                <a:solidFill>
                  <a:srgbClr val="E2E8F0"/>
                </a:solidFill>
                <a:latin typeface="Calibri"/>
              </a:rPr>
              <a:t> »</a:t>
            </a:r>
          </a:p>
          <a:p>
            <a:pPr lvl="0" indent="-342900" marL="342900">
              <a:buAutoNum type="arabicPeriod"/>
            </a:pPr>
            <a:r>
              <a:rPr sz="1300">
                <a:solidFill>
                  <a:srgbClr val="E2E8F0"/>
                </a:solidFill>
                <a:latin typeface="Calibri"/>
              </a:rPr>
              <a:t>Ne jamais dire « </a:t>
            </a:r>
            <a:r>
              <a:rPr b="1" sz="1300">
                <a:solidFill>
                  <a:srgbClr val="E2E8F0"/>
                </a:solidFill>
                <a:latin typeface="Calibri"/>
              </a:rPr>
              <a:t>OK</a:t>
            </a:r>
            <a:r>
              <a:rPr sz="1300">
                <a:solidFill>
                  <a:srgbClr val="E2E8F0"/>
                </a:solidFill>
                <a:latin typeface="Calibri"/>
              </a:rPr>
              <a:t> » seul — enchaîner sur un verbe (« Oui, valide »)</a:t>
            </a:r>
          </a:p>
          <a:p>
            <a:pPr lvl="0" indent="-342900" marL="342900">
              <a:buAutoNum type="arabicPeriod"/>
            </a:pPr>
            <a:r>
              <a:rPr sz="1300">
                <a:solidFill>
                  <a:srgbClr val="E2E8F0"/>
                </a:solidFill>
                <a:latin typeface="Calibri"/>
              </a:rPr>
              <a:t>Si AYA hésite, reformuler avec la </a:t>
            </a:r>
            <a:r>
              <a:rPr b="1" sz="1300">
                <a:solidFill>
                  <a:srgbClr val="E2E8F0"/>
                </a:solidFill>
                <a:latin typeface="Calibri"/>
              </a:rPr>
              <a:t>phrase exacte</a:t>
            </a:r>
            <a:r>
              <a:rPr sz="1300">
                <a:solidFill>
                  <a:srgbClr val="E2E8F0"/>
                </a:solidFill>
                <a:latin typeface="Calibri"/>
              </a:rPr>
              <a:t> du slide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Attention</a:t>
            </a:r>
            <a:r>
              <a:rPr sz="1300">
                <a:solidFill>
                  <a:srgbClr val="E2E8F0"/>
                </a:solidFill>
                <a:latin typeface="Calibri"/>
              </a:rPr>
              <a:t> : toujours écrire « Monsieur le Vice Premier Ministre ».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 / 37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S1.1 — Cockpit macro KPIs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c’est lundi matin. Qu’est-ce qui demande mon attention ? » </a:t>
            </a:r>
            <a:r>
              <a:rPr i="1" sz="1300">
                <a:solidFill>
                  <a:srgbClr val="E2E8F0"/>
                </a:solidFill>
                <a:latin typeface="Calibri"/>
              </a:rPr>
              <a:t>(optionnel — l’écran est déjà le brief)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posture nationale, chip </a:t>
            </a:r>
            <a:r>
              <a:rPr b="1" sz="1300">
                <a:solidFill>
                  <a:srgbClr val="E2E8F0"/>
                </a:solidFill>
                <a:latin typeface="Calibri"/>
              </a:rPr>
              <a:t>Zone Nord · Tendue</a:t>
            </a:r>
            <a:r>
              <a:rPr sz="1300">
                <a:solidFill>
                  <a:srgbClr val="E2E8F0"/>
                </a:solidFill>
                <a:latin typeface="Calibri"/>
              </a:rPr>
              <a:t>, </a:t>
            </a:r>
            <a:r>
              <a:rPr b="1" sz="1300">
                <a:solidFill>
                  <a:srgbClr val="E2E8F0"/>
                </a:solidFill>
                <a:latin typeface="Calibri"/>
              </a:rPr>
              <a:t>8 indicateurs</a:t>
            </a:r>
            <a:r>
              <a:rPr sz="1300">
                <a:solidFill>
                  <a:srgbClr val="E2E8F0"/>
                </a:solidFill>
                <a:latin typeface="Calibri"/>
              </a:rPr>
              <a:t> (PIB, inflation, chômage, cacao, anacarde, Brent, réserves BCEAO, tension CEDEAO), directive AYA du matin, carte et arbitrages.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Sidebar </a:t>
            </a:r>
            <a:r>
              <a:rPr b="1" sz="1300">
                <a:solidFill>
                  <a:srgbClr val="E2E8F0"/>
                </a:solidFill>
                <a:latin typeface="Calibri"/>
              </a:rPr>
              <a:t>Cockpit</a:t>
            </a:r>
            <a:r>
              <a:rPr sz="1300">
                <a:solidFill>
                  <a:srgbClr val="E2E8F0"/>
                </a:solidFill>
                <a:latin typeface="Calibri"/>
              </a:rPr>
              <a:t> — la vue porte déjà le message.</a:t>
            </a:r>
          </a:p>
        </p:txBody>
      </p:sp>
      <p:pic>
        <p:nvPicPr>
          <p:cNvPr descr="status-screenshots/2026-05-25-demo-eve/13-aya-chat-emp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8 KPIs macro + posture nationale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Panel AYA ouvert — grille souveraine des 8 indicateurs visible à gauche.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4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4 / 37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S1.2 — Carte zone Nord tendue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i="1" sz="1300">
                <a:solidFill>
                  <a:srgbClr val="E2E8F0"/>
                </a:solidFill>
                <a:latin typeface="Calibri"/>
              </a:rPr>
              <a:t>(silence — lecture visuelle)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mini-carte cockpit, région </a:t>
            </a:r>
            <a:r>
              <a:rPr b="1" sz="1300">
                <a:solidFill>
                  <a:srgbClr val="E2E8F0"/>
                </a:solidFill>
                <a:latin typeface="Calibri"/>
              </a:rPr>
              <a:t>Nord 72 % tendue</a:t>
            </a:r>
            <a:r>
              <a:rPr sz="1300">
                <a:solidFill>
                  <a:srgbClr val="E2E8F0"/>
                </a:solidFill>
                <a:latin typeface="Calibri"/>
              </a:rPr>
              <a:t>, badge </a:t>
            </a:r>
            <a:r>
              <a:rPr b="1" sz="1300">
                <a:solidFill>
                  <a:srgbClr val="E2E8F0"/>
                </a:solidFill>
                <a:latin typeface="Calibri"/>
              </a:rPr>
              <a:t>16 navires AIS · Abidjan / Vridi</a:t>
            </a:r>
            <a:r>
              <a:rPr sz="1300">
                <a:solidFill>
                  <a:srgbClr val="E2E8F0"/>
                </a:solidFill>
                <a:latin typeface="Calibri"/>
              </a:rPr>
              <a:t>, chip rouge </a:t>
            </a:r>
            <a:r>
              <a:rPr b="1" sz="1300">
                <a:solidFill>
                  <a:srgbClr val="E2E8F0"/>
                </a:solidFill>
                <a:latin typeface="Calibri"/>
              </a:rPr>
              <a:t>Zone Nord · Tendue</a:t>
            </a:r>
            <a:r>
              <a:rPr sz="1300">
                <a:solidFill>
                  <a:srgbClr val="E2E8F0"/>
                </a:solidFill>
                <a:latin typeface="Calibri"/>
              </a:rPr>
              <a:t> pulsante.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Clic chip </a:t>
            </a:r>
            <a:r>
              <a:rPr b="1" sz="1300">
                <a:solidFill>
                  <a:srgbClr val="E2E8F0"/>
                </a:solidFill>
                <a:latin typeface="Calibri"/>
              </a:rPr>
              <a:t>Zone Nord · Tendue</a:t>
            </a:r>
            <a:r>
              <a:rPr sz="1300">
                <a:solidFill>
                  <a:srgbClr val="E2E8F0"/>
                </a:solidFill>
                <a:latin typeface="Calibri"/>
              </a:rPr>
              <a:t> → recentrage carte Nord.</a:t>
            </a:r>
          </a:p>
        </p:txBody>
      </p:sp>
      <p:pic>
        <p:nvPicPr>
          <p:cNvPr descr="status-screenshots/2026-05-25-demo-eve/04-cockpit-car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Carte fusionnée · zone Nord tendue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Lecture territoriale immédiate — Nord en tête avant toute question à AYA.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5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5 / 37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S1.3 — Pourquoi le Nord est tendu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pourquoi la situation Nord est-elle tendue ?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drill causal — réponse AYA citant </a:t>
            </a:r>
            <a:r>
              <a:rPr b="1" sz="1300">
                <a:solidFill>
                  <a:srgbClr val="E2E8F0"/>
                </a:solidFill>
                <a:latin typeface="Calibri"/>
              </a:rPr>
              <a:t>Centre Drones Napié</a:t>
            </a:r>
            <a:r>
              <a:rPr sz="1300">
                <a:solidFill>
                  <a:srgbClr val="E2E8F0"/>
                </a:solidFill>
                <a:latin typeface="Calibri"/>
              </a:rPr>
              <a:t>, retard </a:t>
            </a:r>
            <a:r>
              <a:rPr b="1" sz="1300">
                <a:solidFill>
                  <a:srgbClr val="E2E8F0"/>
                </a:solidFill>
                <a:latin typeface="Calibri"/>
              </a:rPr>
              <a:t>~120 jours</a:t>
            </a:r>
            <a:r>
              <a:rPr sz="1300">
                <a:solidFill>
                  <a:srgbClr val="E2E8F0"/>
                </a:solidFill>
                <a:latin typeface="Calibri"/>
              </a:rPr>
              <a:t>, composants </a:t>
            </a:r>
            <a:r>
              <a:rPr b="1" sz="1300">
                <a:solidFill>
                  <a:srgbClr val="E2E8F0"/>
                </a:solidFill>
                <a:latin typeface="Calibri"/>
              </a:rPr>
              <a:t>Aerostar</a:t>
            </a:r>
            <a:r>
              <a:rPr sz="1300">
                <a:solidFill>
                  <a:srgbClr val="E2E8F0"/>
                </a:solidFill>
                <a:latin typeface="Calibri"/>
              </a:rPr>
              <a:t> bloqués à </a:t>
            </a:r>
            <a:r>
              <a:rPr b="1" sz="1300">
                <a:solidFill>
                  <a:srgbClr val="E2E8F0"/>
                </a:solidFill>
                <a:latin typeface="Calibri"/>
              </a:rPr>
              <a:t>Vridi</a:t>
            </a:r>
            <a:r>
              <a:rPr sz="1300">
                <a:solidFill>
                  <a:srgbClr val="E2E8F0"/>
                </a:solidFill>
                <a:latin typeface="Calibri"/>
              </a:rPr>
              <a:t> ; carte recentrée Korhogo / Poro.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Chip </a:t>
            </a:r>
            <a:r>
              <a:rPr b="1" sz="1300">
                <a:solidFill>
                  <a:srgbClr val="E2E8F0"/>
                </a:solidFill>
                <a:latin typeface="Calibri"/>
              </a:rPr>
              <a:t>Zone Nord · Tendue</a:t>
            </a:r>
            <a:r>
              <a:rPr sz="1300">
                <a:solidFill>
                  <a:srgbClr val="E2E8F0"/>
                </a:solidFill>
                <a:latin typeface="Calibri"/>
              </a:rPr>
              <a:t> ou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Ouvrir le dossier Zone Nord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1-02-nord-tend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Drill Nord · réponse AYA + focus carte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Chaîne causale Napie → cargo — narrative souveraine, pas de fallback générique.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6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6 / 37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S1.4 — PV douanes (preuve documentaire)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ouvre le PV douanes.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drawer </a:t>
            </a:r>
            <a:r>
              <a:rPr b="1" sz="1300">
                <a:solidFill>
                  <a:srgbClr val="E2E8F0"/>
                </a:solidFill>
                <a:latin typeface="Calibri"/>
              </a:rPr>
              <a:t>PV douanes 18 mai</a:t>
            </a:r>
            <a:r>
              <a:rPr sz="1300">
                <a:solidFill>
                  <a:srgbClr val="E2E8F0"/>
                </a:solidFill>
                <a:latin typeface="Calibri"/>
              </a:rPr>
              <a:t> — PDF page 2 visible (pas d’écran noir), passage OCR surligné sur l’effet collatéral cargo drones.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Accepter « Voir le PV ? » après S1.5, ou chip </a:t>
            </a:r>
            <a:r>
              <a:rPr b="1" sz="1300">
                <a:solidFill>
                  <a:srgbClr val="E2E8F0"/>
                </a:solidFill>
                <a:latin typeface="Calibri"/>
              </a:rPr>
              <a:t>PV douanes 18 mai</a:t>
            </a:r>
            <a:r>
              <a:rPr sz="1300">
                <a:solidFill>
                  <a:srgbClr val="E2E8F0"/>
                </a:solidFill>
                <a:latin typeface="Calibri"/>
              </a:rPr>
              <a:t> sous la fiche cargo.</a:t>
            </a:r>
          </a:p>
        </p:txBody>
      </p:sp>
      <p:pic>
        <p:nvPicPr>
          <p:cNvPr descr="status-screenshots/2026-05-25-qa-trame/S1-03-pv-doua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Drawer PV douanes · page 2 OCR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Preuve traçable — document lisible dans le drawer Cabinet.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7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7 / 37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S1.5 — Cargo Atlantic Trader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montre le cargo Atlantic Trader.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pin </a:t>
            </a:r>
            <a:r>
              <a:rPr b="1" sz="1300">
                <a:solidFill>
                  <a:srgbClr val="E2E8F0"/>
                </a:solidFill>
                <a:latin typeface="Calibri"/>
              </a:rPr>
              <a:t>MV Atlantic Trader</a:t>
            </a:r>
            <a:r>
              <a:rPr sz="1300">
                <a:solidFill>
                  <a:srgbClr val="E2E8F0"/>
                </a:solidFill>
                <a:latin typeface="Calibri"/>
              </a:rPr>
              <a:t> sur carte maritime, triangles AIS, vignette webcam </a:t>
            </a:r>
            <a:r>
              <a:rPr b="1" sz="1300">
                <a:solidFill>
                  <a:srgbClr val="E2E8F0"/>
                </a:solidFill>
                <a:latin typeface="Calibri"/>
              </a:rPr>
              <a:t>APM Apapa</a:t>
            </a:r>
            <a:r>
              <a:rPr sz="1300">
                <a:solidFill>
                  <a:srgbClr val="E2E8F0"/>
                </a:solidFill>
                <a:latin typeface="Calibri"/>
              </a:rPr>
              <a:t>, proposition d’ouverture du PV.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Clic pin </a:t>
            </a:r>
            <a:r>
              <a:rPr b="1" sz="1300">
                <a:solidFill>
                  <a:srgbClr val="E2E8F0"/>
                </a:solidFill>
                <a:latin typeface="Calibri"/>
              </a:rPr>
              <a:t>MV Atlantic Trader</a:t>
            </a:r>
            <a:r>
              <a:rPr sz="1300">
                <a:solidFill>
                  <a:srgbClr val="E2E8F0"/>
                </a:solidFill>
                <a:latin typeface="Calibri"/>
              </a:rPr>
              <a:t> sur la carte, ou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Port Vridi · webcam demo</a:t>
            </a:r>
            <a:r>
              <a:rPr sz="1300">
                <a:solidFill>
                  <a:srgbClr val="E2E8F0"/>
                </a:solidFill>
                <a:latin typeface="Calibri"/>
              </a:rPr>
              <a:t> (légende carte).</a:t>
            </a:r>
          </a:p>
        </p:txBody>
      </p:sp>
      <p:pic>
        <p:nvPicPr>
          <p:cNvPr descr="status-screenshots/2026-05-25-qa-trame/S1-04-atlantic-tr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Cargo Atlantic Trader · AIS + webcam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Lien maritime visible — composants Aerostar au port d’Abidjan.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8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8 / 37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S1.6 — Situation au 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montre la situation au port.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vue port Abidjan, panneau maritime, trafic AIS, grille </a:t>
            </a:r>
            <a:r>
              <a:rPr b="1" sz="1300">
                <a:solidFill>
                  <a:srgbClr val="E2E8F0"/>
                </a:solidFill>
                <a:latin typeface="Calibri"/>
              </a:rPr>
              <a:t>Flux terrain</a:t>
            </a:r>
            <a:r>
              <a:rPr sz="1300">
                <a:solidFill>
                  <a:srgbClr val="E2E8F0"/>
                </a:solidFill>
                <a:latin typeface="Calibri"/>
              </a:rPr>
              <a:t> avec webcam </a:t>
            </a:r>
            <a:r>
              <a:rPr b="1" sz="1300">
                <a:solidFill>
                  <a:srgbClr val="E2E8F0"/>
                </a:solidFill>
                <a:latin typeface="Calibri"/>
              </a:rPr>
              <a:t>APM Apapa Gate #1</a:t>
            </a:r>
            <a:r>
              <a:rPr sz="1300">
                <a:solidFill>
                  <a:srgbClr val="E2E8F0"/>
                </a:solidFill>
                <a:latin typeface="Calibri"/>
              </a:rPr>
              <a:t> en tête.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  <a:r>
              <a:rPr sz="1300">
                <a:solidFill>
                  <a:srgbClr val="E2E8F0"/>
                </a:solidFill>
                <a:latin typeface="Calibri"/>
              </a:rPr>
              <a:t> </a:t>
            </a:r>
            <a:r>
              <a:rPr i="1" sz="1300">
                <a:solidFill>
                  <a:srgbClr val="E2E8F0"/>
                </a:solidFill>
                <a:latin typeface="Calibri"/>
              </a:rPr>
              <a:t>(Plan B si voix sans effet — rebuild frontend requis¹)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E2E8F0"/>
                </a:solidFill>
                <a:latin typeface="Calibri"/>
              </a:rPr>
              <a:t>Flux terrain</a:t>
            </a:r>
            <a:r>
              <a:rPr sz="1300">
                <a:solidFill>
                  <a:srgbClr val="E2E8F0"/>
                </a:solidFill>
                <a:latin typeface="Calibri"/>
              </a:rPr>
              <a:t> → </a:t>
            </a:r>
            <a:r>
              <a:rPr b="1" sz="1300">
                <a:solidFill>
                  <a:srgbClr val="E2E8F0"/>
                </a:solidFill>
                <a:latin typeface="Calibri"/>
              </a:rPr>
              <a:t>APM Apapa Gate #1</a:t>
            </a:r>
            <a:r>
              <a:rPr sz="1300">
                <a:solidFill>
                  <a:srgbClr val="E2E8F0"/>
                </a:solidFill>
                <a:latin typeface="Calibri"/>
              </a:rPr>
              <a:t>, ou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Port Vridi · webcam demo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1-05-situation-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Situation port · webcam Flux terrain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Lecture terrain live — port Vridi et activité maritime.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9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9 / 37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S1.7 — Courrier dédouanement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rédige le courrier de dédouanement pour Atlantic Trader.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drawer email pré-rédigé — dérogation douanière, destinataire DGD Abidjan, bandeau </a:t>
            </a:r>
            <a:r>
              <a:rPr b="1" sz="1300">
                <a:solidFill>
                  <a:srgbClr val="E2E8F0"/>
                </a:solidFill>
                <a:latin typeface="Calibri"/>
              </a:rPr>
              <a:t>advisory-only</a:t>
            </a:r>
            <a:r>
              <a:rPr sz="1300">
                <a:solidFill>
                  <a:srgbClr val="E2E8F0"/>
                </a:solidFill>
                <a:latin typeface="Calibri"/>
              </a:rPr>
              <a:t> (aucun envoi automatique).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Drawer PV →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Préparer email dérogation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1-06-courrier-dedouane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Courrier dédouanement · proposition Cabinet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Proposition sourcée — le Cabinet valide avant tout envoi.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10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10 / 37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S1.8 — Plan B clics (S1)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i="1" sz="1300">
                <a:solidFill>
                  <a:srgbClr val="E2E8F0"/>
                </a:solidFill>
                <a:latin typeface="Calibri"/>
              </a:rPr>
              <a:t>(secours sans voix)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même parcours Nord entièrement rejouable à la souris — chip zone, pin cargo, drawer PV, email.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  <a:r>
              <a:rPr sz="1300">
                <a:solidFill>
                  <a:srgbClr val="E2E8F0"/>
                </a:solidFill>
                <a:latin typeface="Calibri"/>
              </a:rPr>
              <a:t> </a:t>
            </a:r>
            <a:r>
              <a:rPr i="1" sz="1300">
                <a:solidFill>
                  <a:srgbClr val="E2E8F0"/>
                </a:solidFill>
                <a:latin typeface="Calibri"/>
              </a:rPr>
              <a:t>(clic équivalent sur 6/6 étapes S1)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0"/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 b="1">
                          <a:solidFill>
                            <a:srgbClr val="3EE68A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60000" marR="60000" marT="30000" marB="30000">
                    <a:solidFill>
                      <a:srgbClr val="122A1F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 b="1">
                          <a:solidFill>
                            <a:srgbClr val="3EE68A"/>
                          </a:solidFill>
                          <a:latin typeface="Calibri"/>
                        </a:rPr>
                        <a:t>Raccourci clic</a:t>
                      </a:r>
                    </a:p>
                  </a:txBody>
                  <a:tcPr marL="60000" marR="60000" marT="30000" marB="30000">
                    <a:solidFill>
                      <a:srgbClr val="122A1F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Nord tendue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Chip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Zone Nord · Tendue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Focus Napié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Brief opérationnel · Projet sensible Nord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Cargo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Pin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MV Atlantic Trader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Flux terrain → APM Apapa Gate #1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PV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Chip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PV douanes 18 mai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Préparer email dérogation</a:t>
                      </a: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 (drawer PV)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11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11 / 37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tus-screenshots/2026-05-25-qa-trame/planB-zone-no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420000"/>
            <a:ext cx="51308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2006600" y="2830000"/>
            <a:ext cx="51308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Plan B · clic chip Zone Nord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6600" y="3190000"/>
            <a:ext cx="51308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Secours présentateur — zéro blocage si AYA hésite.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12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12 / 37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Récap S1 — Nord / Napié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7 étapes</a:t>
            </a:r>
            <a:r>
              <a:rPr sz="1300">
                <a:solidFill>
                  <a:srgbClr val="E2E8F0"/>
                </a:solidFill>
                <a:latin typeface="Calibri"/>
              </a:rPr>
              <a:t> · ~5 minutes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Message clé</a:t>
            </a:r>
            <a:r>
              <a:rPr sz="1300">
                <a:solidFill>
                  <a:srgbClr val="E2E8F0"/>
                </a:solidFill>
                <a:latin typeface="Calibri"/>
              </a:rPr>
              <a:t> : retard Napié → cargo bloqué → dérogation prête</a:t>
            </a:r>
          </a:p>
          <a:p>
            <a:pPr lvl="0" indent="0" marL="1270000">
              <a:buNone/>
            </a:pPr>
            <a:r>
              <a:rPr sz="2000">
                <a:solidFill>
                  <a:srgbClr val="E2E8F0"/>
                </a:solidFill>
                <a:latin typeface="Calibri"/>
              </a:rPr>
              <a:t>« En cinq minutes, AYA est passée du signal territorial à la preuve douanière, avec une proposition d’action sourcée — sans exécuter à ma place.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13 / 37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T.1 — Transition cockpit → agenda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quel est mon prochain rendez-vous ?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bascule </a:t>
            </a:r>
            <a:r>
              <a:rPr b="1" sz="1300">
                <a:solidFill>
                  <a:srgbClr val="E2E8F0"/>
                </a:solidFill>
                <a:latin typeface="Calibri"/>
              </a:rPr>
              <a:t>Agenda</a:t>
            </a:r>
            <a:r>
              <a:rPr sz="1300">
                <a:solidFill>
                  <a:srgbClr val="E2E8F0"/>
                </a:solidFill>
                <a:latin typeface="Calibri"/>
              </a:rPr>
              <a:t> — timeline du 25 mai, événement </a:t>
            </a:r>
            <a:r>
              <a:rPr b="1" sz="1300">
                <a:solidFill>
                  <a:srgbClr val="E2E8F0"/>
                </a:solidFill>
                <a:latin typeface="Calibri"/>
              </a:rPr>
              <a:t>Préfet Nawa 11h00 Soubré</a:t>
            </a:r>
            <a:r>
              <a:rPr sz="1300">
                <a:solidFill>
                  <a:srgbClr val="E2E8F0"/>
                </a:solidFill>
                <a:latin typeface="Calibri"/>
              </a:rPr>
              <a:t> surligné ; fil presse disponible en sidebar.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Sidebar </a:t>
            </a:r>
            <a:r>
              <a:rPr b="1" sz="1300">
                <a:solidFill>
                  <a:srgbClr val="E2E8F0"/>
                </a:solidFill>
                <a:latin typeface="Calibri"/>
              </a:rPr>
              <a:t>Agenda</a:t>
            </a:r>
            <a:r>
              <a:rPr sz="1300">
                <a:solidFill>
                  <a:srgbClr val="E2E8F0"/>
                </a:solidFill>
                <a:latin typeface="Calibri"/>
              </a:rPr>
              <a:t> → carte </a:t>
            </a:r>
            <a:r>
              <a:rPr b="1" sz="1300">
                <a:solidFill>
                  <a:srgbClr val="E2E8F0"/>
                </a:solidFill>
                <a:latin typeface="Calibri"/>
              </a:rPr>
              <a:t>Préfet Nawa · 11h00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2-09-agend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Agenda · prochain RDV Nawa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Du réactif (Nord) au proactif (réunion territoriale).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14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14 / 37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S2.1 — Résumé rapport Préfet Nawa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donne-moi le résumé du rapport préfet.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synthèse structurée inline (~70 pages condensées), enjeux cacao / Nawa / Soubré, proposition </a:t>
            </a:r>
            <a:r>
              <a:rPr b="1" sz="1300">
                <a:solidFill>
                  <a:srgbClr val="E2E8F0"/>
                </a:solidFill>
                <a:latin typeface="Calibri"/>
              </a:rPr>
              <a:t>Préconisations cacao ?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Agenda → événement Nawa →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Synthèse AYA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2-10-resume-naw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Chat AYA · résumé Préfet Nawa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Corpus dense lu par AYA — le Cabinet garde la main.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15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15 / 37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S2.2 — Préconisations cacao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donne-moi des préconisations sur le cacao.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E2E8F0"/>
                </a:solidFill>
                <a:latin typeface="Calibri"/>
              </a:rPr>
              <a:t>3 options chiffrées</a:t>
            </a:r>
            <a:r>
              <a:rPr sz="1300">
                <a:solidFill>
                  <a:srgbClr val="E2E8F0"/>
                </a:solidFill>
                <a:latin typeface="Calibri"/>
              </a:rPr>
              <a:t> — transformation (~4,2 Mds FCFA), coopérative régionale, partenariat public-privé ; sources citées.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  <a:r>
              <a:rPr sz="1300">
                <a:solidFill>
                  <a:srgbClr val="E2E8F0"/>
                </a:solidFill>
                <a:latin typeface="Calibri"/>
              </a:rPr>
              <a:t> </a:t>
            </a:r>
            <a:r>
              <a:rPr i="1" sz="1300">
                <a:solidFill>
                  <a:srgbClr val="E2E8F0"/>
                </a:solidFill>
                <a:latin typeface="Calibri"/>
              </a:rPr>
              <a:t>(AYA only — pas de bouton clic équivalent)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Reformuler : « recommandations cacao » ou « diversification cacao ».</a:t>
            </a:r>
          </a:p>
        </p:txBody>
      </p:sp>
      <p:pic>
        <p:nvPicPr>
          <p:cNvPr descr="status-screenshots/2026-05-25-qa-trame/S2-11-preconisa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Préconisations cacao · 3 leviers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Options sourcées — le Cabinet arbitre ensuite.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16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16 / 37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S2.3 — Rapport stratégique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génère le rapport complet.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drawer PDF </a:t>
            </a:r>
            <a:r>
              <a:rPr b="1" sz="1300">
                <a:solidFill>
                  <a:srgbClr val="E2E8F0"/>
                </a:solidFill>
                <a:latin typeface="Calibri"/>
              </a:rPr>
              <a:t>synthèse cacao</a:t>
            </a:r>
            <a:r>
              <a:rPr sz="1300">
                <a:solidFill>
                  <a:srgbClr val="E2E8F0"/>
                </a:solidFill>
                <a:latin typeface="Calibri"/>
              </a:rPr>
              <a:t> (~12 p.) — livrable téléchargeable, URL signée, bandeau advisory.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  <a:r>
              <a:rPr sz="1300">
                <a:solidFill>
                  <a:srgbClr val="E2E8F0"/>
                </a:solidFill>
                <a:latin typeface="Calibri"/>
              </a:rPr>
              <a:t> </a:t>
            </a:r>
            <a:r>
              <a:rPr i="1" sz="1300">
                <a:solidFill>
                  <a:srgbClr val="E2E8F0"/>
                </a:solidFill>
                <a:latin typeface="Calibri"/>
              </a:rPr>
              <a:t>(dire « synthèse cacao » à l’oral, pas « 70 pages »)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Reformuler : « génère le rapport stratégique » </a:t>
            </a:r>
            <a:r>
              <a:rPr i="1" sz="1300">
                <a:solidFill>
                  <a:srgbClr val="E2E8F0"/>
                </a:solidFill>
                <a:latin typeface="Calibri"/>
              </a:rPr>
              <a:t>(AYA only)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2-12-rapport-strategiq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Drawer rapport stratégique cacao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Livrable prêt pour la réunion — preuve traçable.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17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17 / 37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S2.4 — Patch ordre du jour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ajoute le point cacao à l’ordre du jour.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proposition d’ajout </a:t>
            </a:r>
            <a:r>
              <a:rPr b="1" sz="1300">
                <a:solidFill>
                  <a:srgbClr val="E2E8F0"/>
                </a:solidFill>
                <a:latin typeface="Calibri"/>
              </a:rPr>
              <a:t>Point cacao · diversification anacarde</a:t>
            </a:r>
            <a:r>
              <a:rPr sz="1300">
                <a:solidFill>
                  <a:srgbClr val="E2E8F0"/>
                </a:solidFill>
                <a:latin typeface="Calibri"/>
              </a:rPr>
              <a:t> — bannière orange « Modification ODJ proposée · AYA », en attente de validation.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Fiche réunion → </a:t>
            </a:r>
            <a:r>
              <a:rPr b="1" sz="1300">
                <a:solidFill>
                  <a:srgbClr val="E2E8F0"/>
                </a:solidFill>
                <a:latin typeface="Calibri"/>
              </a:rPr>
              <a:t>Proposer un point ODJ</a:t>
            </a:r>
            <a:r>
              <a:rPr sz="1300">
                <a:solidFill>
                  <a:srgbClr val="E2E8F0"/>
                </a:solidFill>
                <a:latin typeface="Calibri"/>
              </a:rPr>
              <a:t> ou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+ Point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2-13-odj-pat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ODJ · point cacao proposé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Écriture staged — validation Cabinet requise.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18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18 / 37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S2.5 — Valider l’ODJ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Oui, valide.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patch ODJ appliqué — badge </a:t>
            </a:r>
            <a:r>
              <a:rPr b="1" sz="1300">
                <a:solidFill>
                  <a:srgbClr val="E2E8F0"/>
                </a:solidFill>
                <a:latin typeface="Calibri"/>
              </a:rPr>
              <a:t>Ajouté par AYA</a:t>
            </a:r>
            <a:r>
              <a:rPr sz="1300">
                <a:solidFill>
                  <a:srgbClr val="E2E8F0"/>
                </a:solidFill>
                <a:latin typeface="Calibri"/>
              </a:rPr>
              <a:t> sur le point cacao.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Bannière orange →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Valider modification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2-14-odj-valid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Validation ODJ · badge 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Confirmation explicite — AYA ne décide pas seule.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19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19 / 37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S2.6 — Réunion live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démarre la réunion.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vue </a:t>
            </a:r>
            <a:r>
              <a:rPr b="1" sz="1300">
                <a:solidFill>
                  <a:srgbClr val="E2E8F0"/>
                </a:solidFill>
                <a:latin typeface="Calibri"/>
              </a:rPr>
              <a:t>meeting live</a:t>
            </a:r>
            <a:r>
              <a:rPr sz="1300">
                <a:solidFill>
                  <a:srgbClr val="E2E8F0"/>
                </a:solidFill>
                <a:latin typeface="Calibri"/>
              </a:rPr>
              <a:t> — chrono, ordre du jour vertical avec point cacao, options </a:t>
            </a:r>
            <a:r>
              <a:rPr b="1" sz="1300">
                <a:solidFill>
                  <a:srgbClr val="E2E8F0"/>
                </a:solidFill>
                <a:latin typeface="Calibri"/>
              </a:rPr>
              <a:t>A / B / C</a:t>
            </a:r>
            <a:r>
              <a:rPr sz="1300">
                <a:solidFill>
                  <a:srgbClr val="E2E8F0"/>
                </a:solidFill>
                <a:latin typeface="Calibri"/>
              </a:rPr>
              <a:t> visibles.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Fiche Nawa → bouton </a:t>
            </a:r>
            <a:r>
              <a:rPr b="1" sz="1300">
                <a:solidFill>
                  <a:srgbClr val="E2E8F0"/>
                </a:solidFill>
                <a:latin typeface="Calibri"/>
              </a:rPr>
              <a:t>Démarrer la réunion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2-15-meeting-liv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Vue réunion · ODJ et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Mode meeting — arbitrage en direct devant Monsieur le Vice Premier Ministre.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20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20 / 37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S2.7 — Décision option 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décide option B.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décision </a:t>
            </a:r>
            <a:r>
              <a:rPr b="1" sz="1300">
                <a:solidFill>
                  <a:srgbClr val="E2E8F0"/>
                </a:solidFill>
                <a:latin typeface="Calibri"/>
              </a:rPr>
              <a:t>option B diversification anacarde</a:t>
            </a:r>
            <a:r>
              <a:rPr sz="1300">
                <a:solidFill>
                  <a:srgbClr val="E2E8F0"/>
                </a:solidFill>
                <a:latin typeface="Calibri"/>
              </a:rPr>
              <a:t> loggée — modal rationale, registre mis à jour.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Point ODJ Cacao → carte </a:t>
            </a:r>
            <a:r>
              <a:rPr b="1" sz="1300">
                <a:solidFill>
                  <a:srgbClr val="E2E8F0"/>
                </a:solidFill>
                <a:latin typeface="Calibri"/>
              </a:rPr>
              <a:t>Option B</a:t>
            </a:r>
            <a:r>
              <a:rPr sz="1300">
                <a:solidFill>
                  <a:srgbClr val="E2E8F0"/>
                </a:solidFill>
                <a:latin typeface="Calibri"/>
              </a:rPr>
              <a:t> → </a:t>
            </a:r>
            <a:r>
              <a:rPr b="1" sz="1300">
                <a:solidFill>
                  <a:srgbClr val="E2E8F0"/>
                </a:solidFill>
                <a:latin typeface="Calibri"/>
              </a:rPr>
              <a:t>Décider</a:t>
            </a:r>
            <a:r>
              <a:rPr sz="1300">
                <a:solidFill>
                  <a:srgbClr val="E2E8F0"/>
                </a:solidFill>
                <a:latin typeface="Calibri"/>
              </a:rPr>
              <a:t> → </a:t>
            </a:r>
            <a:r>
              <a:rPr b="1" sz="1300">
                <a:solidFill>
                  <a:srgbClr val="E2E8F0"/>
                </a:solidFill>
                <a:latin typeface="Calibri"/>
              </a:rPr>
              <a:t>Logger la décision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pic>
        <p:nvPicPr>
          <p:cNvPr descr="status-screenshots/2026-05-25-qa-trame/S2-16-decision-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20000"/>
            <a:ext cx="5105400" cy="235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2830000"/>
            <a:ext cx="5105400" cy="280000"/>
          </a:xfrm>
          <a:prstGeom prst="rect">
            <a:avLst/>
          </a:prstGeom>
          <a:noFill/>
        </p:spPr>
        <p:txBody>
          <a:bodyPr wrap="square"/>
          <a:lstStyle/>
          <a:p>
            <a:pPr lvl="0" indent="0" marL="0" algn="ctr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Arbitrage option B · décision enregistrée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0" y="3190000"/>
            <a:ext cx="5105400" cy="1473500"/>
          </a:xfrm>
        </p:spPr>
        <p:txBody>
          <a:bodyPr wrap="square"/>
          <a:lstStyle/>
          <a:p>
            <a:pPr lvl="0" indent="0" marL="0">
              <a:buNone/>
            </a:pPr>
            <a:r>
              <a:rPr i="1" sz="900">
                <a:solidFill>
                  <a:srgbClr val="E2E8F0"/>
                </a:solidFill>
                <a:latin typeface="Calibri"/>
              </a:rPr>
              <a:t>Décision persistée — traçabilité institutionnelle.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21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21 / 37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Récap S2 — Nawa / cacao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7 étapes</a:t>
            </a:r>
            <a:r>
              <a:rPr sz="1300">
                <a:solidFill>
                  <a:srgbClr val="E2E8F0"/>
                </a:solidFill>
                <a:latin typeface="Calibri"/>
              </a:rPr>
              <a:t> · ~7 minutes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Message clé</a:t>
            </a:r>
            <a:r>
              <a:rPr sz="1300">
                <a:solidFill>
                  <a:srgbClr val="E2E8F0"/>
                </a:solidFill>
                <a:latin typeface="Calibri"/>
              </a:rPr>
              <a:t> : diversification cacao arbitrée et loggée</a:t>
            </a:r>
          </a:p>
          <a:p>
            <a:pPr lvl="0" indent="0" marL="1270000">
              <a:buNone/>
            </a:pPr>
            <a:r>
              <a:rPr sz="2000">
                <a:solidFill>
                  <a:srgbClr val="E2E8F0"/>
                </a:solidFill>
                <a:latin typeface="Calibri"/>
              </a:rPr>
              <a:t>« De la lecture d’un rapport dense à la décision loggée en réunion — AYA a accompagné tout le cycle, avec traçabilité et validation à chaque étape d’écriture.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22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22 / 37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T.2 — Transition agenda → posture sécuritaire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Pivot</a:t>
            </a:r>
            <a:r>
              <a:rPr sz="1300">
                <a:solidFill>
                  <a:srgbClr val="E2E8F0"/>
                </a:solidFill>
                <a:latin typeface="Calibri"/>
              </a:rPr>
              <a:t> : la décision Option B est loggée, le </a:t>
            </a:r>
            <a:r>
              <a:rPr b="1" sz="1300">
                <a:solidFill>
                  <a:srgbClr val="E2E8F0"/>
                </a:solidFill>
                <a:latin typeface="Calibri"/>
              </a:rPr>
              <a:t>Conseil Défense restreint</a:t>
            </a:r>
            <a:r>
              <a:rPr sz="1300">
                <a:solidFill>
                  <a:srgbClr val="E2E8F0"/>
                </a:solidFill>
                <a:latin typeface="Calibri"/>
              </a:rPr>
              <a:t> est calé à </a:t>
            </a:r>
            <a:r>
              <a:rPr b="1" sz="1300">
                <a:solidFill>
                  <a:srgbClr val="E2E8F0"/>
                </a:solidFill>
                <a:latin typeface="Calibri"/>
              </a:rPr>
              <a:t>15h00</a:t>
            </a:r>
            <a:r>
              <a:rPr sz="1300">
                <a:solidFill>
                  <a:srgbClr val="E2E8F0"/>
                </a:solidFill>
                <a:latin typeface="Calibri"/>
              </a:rPr>
              <a:t>. Avant d’y entrer, le Vice Premier Ministre veut une lecture </a:t>
            </a:r>
            <a:r>
              <a:rPr b="1" sz="1300">
                <a:solidFill>
                  <a:srgbClr val="E2E8F0"/>
                </a:solidFill>
                <a:latin typeface="Calibri"/>
              </a:rPr>
              <a:t>dual-axis</a:t>
            </a:r>
            <a:r>
              <a:rPr sz="1300">
                <a:solidFill>
                  <a:srgbClr val="E2E8F0"/>
                </a:solidFill>
                <a:latin typeface="Calibri"/>
              </a:rPr>
              <a:t> : intérieur Nord / extérieur Sahel.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Cible S3</a:t>
            </a:r>
            <a:r>
              <a:rPr sz="1300">
                <a:solidFill>
                  <a:srgbClr val="E2E8F0"/>
                </a:solidFill>
                <a:latin typeface="Calibri"/>
              </a:rPr>
              <a:t> : six prompts, ~5-6 minutes, tout en advisory only, snapshots demo-safe (ADS-B, comptes citoyens pseudonymisés, dossier rumeur).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Ouverture S3</a:t>
            </a:r>
            <a:r>
              <a:rPr sz="1300">
                <a:solidFill>
                  <a:srgbClr val="E2E8F0"/>
                </a:solidFill>
                <a:latin typeface="Calibri"/>
              </a:rPr>
              <a:t> : cockpit en focus, AYA propose le bloc « Posture sécuritaire ».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23 / 37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S3.1 — Posture sécuritaire dual-axis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montre-moi la posture sécuritaire du jour.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cockpit, bloc </a:t>
            </a:r>
            <a:r>
              <a:rPr b="1" sz="1300">
                <a:solidFill>
                  <a:srgbClr val="E2E8F0"/>
                </a:solidFill>
                <a:latin typeface="Calibri"/>
              </a:rPr>
              <a:t>Posture sécuritaire</a:t>
            </a:r>
            <a:r>
              <a:rPr sz="1300">
                <a:solidFill>
                  <a:srgbClr val="E2E8F0"/>
                </a:solidFill>
                <a:latin typeface="Calibri"/>
              </a:rPr>
              <a:t> mis en avant, deux cartes — </a:t>
            </a:r>
            <a:r>
              <a:rPr b="1" sz="1300">
                <a:solidFill>
                  <a:srgbClr val="E2E8F0"/>
                </a:solidFill>
                <a:latin typeface="Calibri"/>
              </a:rPr>
              <a:t>Intérieur</a:t>
            </a:r>
            <a:r>
              <a:rPr sz="1300">
                <a:solidFill>
                  <a:srgbClr val="E2E8F0"/>
                </a:solidFill>
                <a:latin typeface="Calibri"/>
              </a:rPr>
              <a:t> vigilance (rumeur Nord démentie) / </a:t>
            </a:r>
            <a:r>
              <a:rPr b="1" sz="1300">
                <a:solidFill>
                  <a:srgbClr val="E2E8F0"/>
                </a:solidFill>
                <a:latin typeface="Calibri"/>
              </a:rPr>
              <a:t>Extérieur</a:t>
            </a:r>
            <a:r>
              <a:rPr sz="1300">
                <a:solidFill>
                  <a:srgbClr val="E2E8F0"/>
                </a:solidFill>
                <a:latin typeface="Calibri"/>
              </a:rPr>
              <a:t> Sahel élevée (ADS-B activité soutenue) — pastille </a:t>
            </a:r>
            <a:r>
              <a:rPr b="1" sz="1300">
                <a:solidFill>
                  <a:srgbClr val="E2E8F0"/>
                </a:solidFill>
                <a:latin typeface="Calibri"/>
              </a:rPr>
              <a:t>15h00 · Conseil Défense restreint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Sidebar Vice Premier Ministre → chip </a:t>
            </a:r>
            <a:r>
              <a:rPr b="1" sz="1300">
                <a:solidFill>
                  <a:srgbClr val="E2E8F0"/>
                </a:solidFill>
                <a:latin typeface="Calibri"/>
              </a:rPr>
              <a:t>Posture sécuritaire</a:t>
            </a:r>
            <a:r>
              <a:rPr sz="1300">
                <a:solidFill>
                  <a:srgbClr val="E2E8F0"/>
                </a:solidFill>
                <a:latin typeface="Calibri"/>
              </a:rPr>
              <a:t> dans la barre de statut (ouvre directement le bloc).</a:t>
            </a:r>
          </a:p>
          <a:p>
            <a:pPr lvl="0" indent="0" marL="0">
              <a:buNone/>
            </a:pPr>
            <a:r>
              <a:rPr i="1" sz="1300">
                <a:solidFill>
                  <a:srgbClr val="E2E8F0"/>
                </a:solidFill>
                <a:latin typeface="Calibri"/>
              </a:rPr>
              <a:t>Lecture dual-axis souveraine avant le Conseil 15h — aucune lecture renseignement classifié.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24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24 / 37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S3.2 — Pulsation sociale Abidjan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montre la pulsation sociale à Abidjan.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vue </a:t>
            </a:r>
            <a:r>
              <a:rPr b="1" sz="1300">
                <a:solidFill>
                  <a:srgbClr val="E2E8F0"/>
                </a:solidFill>
                <a:latin typeface="Calibri"/>
              </a:rPr>
              <a:t>Stratégie</a:t>
            </a:r>
            <a:r>
              <a:rPr sz="1300">
                <a:solidFill>
                  <a:srgbClr val="E2E8F0"/>
                </a:solidFill>
                <a:latin typeface="Calibri"/>
              </a:rPr>
              <a:t>, couche carte </a:t>
            </a:r>
            <a:r>
              <a:rPr b="1" sz="1300">
                <a:solidFill>
                  <a:srgbClr val="E2E8F0"/>
                </a:solidFill>
                <a:latin typeface="Calibri"/>
              </a:rPr>
              <a:t>social-geo</a:t>
            </a:r>
            <a:r>
              <a:rPr sz="1300">
                <a:solidFill>
                  <a:srgbClr val="E2E8F0"/>
                </a:solidFill>
                <a:latin typeface="Calibri"/>
              </a:rPr>
              <a:t> activée (points colorés par sentiment), drawer </a:t>
            </a:r>
            <a:r>
              <a:rPr b="1" sz="1300">
                <a:solidFill>
                  <a:srgbClr val="E2E8F0"/>
                </a:solidFill>
                <a:latin typeface="Calibri"/>
              </a:rPr>
              <a:t>Pulsation sociale</a:t>
            </a:r>
            <a:r>
              <a:rPr sz="1300">
                <a:solidFill>
                  <a:srgbClr val="E2E8F0"/>
                </a:solidFill>
                <a:latin typeface="Calibri"/>
              </a:rPr>
              <a:t> listant 18 tweets : </a:t>
            </a:r>
            <a:r>
              <a:rPr b="1" sz="1300">
                <a:solidFill>
                  <a:srgbClr val="E2E8F0"/>
                </a:solidFill>
                <a:latin typeface="Calibri"/>
              </a:rPr>
              <a:t>5 officiels</a:t>
            </a:r>
            <a:r>
              <a:rPr sz="1300">
                <a:solidFill>
                  <a:srgbClr val="E2E8F0"/>
                </a:solidFill>
                <a:latin typeface="Calibri"/>
              </a:rPr>
              <a:t> (Présidence CI, FANCI, RFI Sahel, Jeune Afrique, Préfecture Nord), </a:t>
            </a:r>
            <a:r>
              <a:rPr b="1" sz="1300">
                <a:solidFill>
                  <a:srgbClr val="E2E8F0"/>
                </a:solidFill>
                <a:latin typeface="Calibri"/>
              </a:rPr>
              <a:t>8 citoyens pseudonymisés</a:t>
            </a:r>
            <a:r>
              <a:rPr sz="1300">
                <a:solidFill>
                  <a:srgbClr val="E2E8F0"/>
                </a:solidFill>
                <a:latin typeface="Calibri"/>
              </a:rPr>
              <a:t> </a:t>
            </a:r>
            <a:r>
              <a:rPr sz="1300">
                <a:solidFill>
                  <a:srgbClr val="E2E8F0"/>
                </a:solidFill>
                <a:latin typeface="Calibri"/>
              </a:rPr>
              <a:t>@citoyen_***</a:t>
            </a:r>
            <a:r>
              <a:rPr sz="1300">
                <a:solidFill>
                  <a:srgbClr val="E2E8F0"/>
                </a:solidFill>
                <a:latin typeface="Calibri"/>
              </a:rPr>
              <a:t>, </a:t>
            </a:r>
            <a:r>
              <a:rPr b="1" sz="1300">
                <a:solidFill>
                  <a:srgbClr val="E2E8F0"/>
                </a:solidFill>
                <a:latin typeface="Calibri"/>
              </a:rPr>
              <a:t>5 signaux rumeur frontière</a:t>
            </a:r>
            <a:r>
              <a:rPr sz="1300">
                <a:solidFill>
                  <a:srgbClr val="E2E8F0"/>
                </a:solidFill>
                <a:latin typeface="Calibri"/>
              </a:rPr>
              <a:t> </a:t>
            </a:r>
            <a:r>
              <a:rPr sz="1300">
                <a:solidFill>
                  <a:srgbClr val="E2E8F0"/>
                </a:solidFill>
                <a:latin typeface="Calibri"/>
              </a:rPr>
              <a:t>@rumeur_***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Carte Stratégie → bouton couche </a:t>
            </a:r>
            <a:r>
              <a:rPr b="1" sz="1300">
                <a:solidFill>
                  <a:srgbClr val="E2E8F0"/>
                </a:solidFill>
                <a:latin typeface="Calibri"/>
              </a:rPr>
              <a:t>Pulsation sociale</a:t>
            </a:r>
            <a:r>
              <a:rPr sz="1300">
                <a:solidFill>
                  <a:srgbClr val="E2E8F0"/>
                </a:solidFill>
                <a:latin typeface="Calibri"/>
              </a:rPr>
              <a:t> → drawer presse rouvert sur le snapshot.</a:t>
            </a:r>
          </a:p>
          <a:p>
            <a:pPr lvl="0" indent="0" marL="0">
              <a:buNone/>
            </a:pPr>
            <a:r>
              <a:rPr i="1" sz="1300">
                <a:solidFill>
                  <a:srgbClr val="E2E8F0"/>
                </a:solidFill>
                <a:latin typeface="Calibri"/>
              </a:rPr>
              <a:t>Demo-safe : pseudonymisation systématique des citoyens, comptes officiels = comptes institutionnels publics.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25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25 / 37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S3.3 — Trace de la rumeur frontière Nord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d’où vient la rumeur frontière Nord ?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carte zoomée Nord, couche </a:t>
            </a:r>
            <a:r>
              <a:rPr b="1" sz="1300">
                <a:solidFill>
                  <a:srgbClr val="E2E8F0"/>
                </a:solidFill>
                <a:latin typeface="Calibri"/>
              </a:rPr>
              <a:t>border-tension</a:t>
            </a:r>
            <a:r>
              <a:rPr sz="1300">
                <a:solidFill>
                  <a:srgbClr val="E2E8F0"/>
                </a:solidFill>
                <a:latin typeface="Calibri"/>
              </a:rPr>
              <a:t> orange sur Bouna / Kong / Korhogo, drawer </a:t>
            </a:r>
            <a:r>
              <a:rPr b="1" sz="1300">
                <a:solidFill>
                  <a:srgbClr val="E2E8F0"/>
                </a:solidFill>
                <a:latin typeface="Calibri"/>
              </a:rPr>
              <a:t>Trace OSINT</a:t>
            </a:r>
            <a:r>
              <a:rPr sz="1300">
                <a:solidFill>
                  <a:srgbClr val="E2E8F0"/>
                </a:solidFill>
                <a:latin typeface="Calibri"/>
              </a:rPr>
              <a:t> affichant la chaîne : tweet citoyen </a:t>
            </a:r>
            <a:r>
              <a:rPr b="1" sz="1300">
                <a:solidFill>
                  <a:srgbClr val="E2E8F0"/>
                </a:solidFill>
                <a:latin typeface="Calibri"/>
              </a:rPr>
              <a:t>11h42</a:t>
            </a:r>
            <a:r>
              <a:rPr sz="1300">
                <a:solidFill>
                  <a:srgbClr val="E2E8F0"/>
                </a:solidFill>
                <a:latin typeface="Calibri"/>
              </a:rPr>
              <a:t> → relai Telegram </a:t>
            </a:r>
            <a:r>
              <a:rPr b="1" sz="1300">
                <a:solidFill>
                  <a:srgbClr val="E2E8F0"/>
                </a:solidFill>
                <a:latin typeface="Calibri"/>
              </a:rPr>
              <a:t>12h08</a:t>
            </a:r>
            <a:r>
              <a:rPr sz="1300">
                <a:solidFill>
                  <a:srgbClr val="E2E8F0"/>
                </a:solidFill>
                <a:latin typeface="Calibri"/>
              </a:rPr>
              <a:t> → blog régional </a:t>
            </a:r>
            <a:r>
              <a:rPr b="1" sz="1300">
                <a:solidFill>
                  <a:srgbClr val="E2E8F0"/>
                </a:solidFill>
                <a:latin typeface="Calibri"/>
              </a:rPr>
              <a:t>12h48</a:t>
            </a:r>
            <a:r>
              <a:rPr sz="1300">
                <a:solidFill>
                  <a:srgbClr val="E2E8F0"/>
                </a:solidFill>
                <a:latin typeface="Calibri"/>
              </a:rPr>
              <a:t> → démentis FANCI </a:t>
            </a:r>
            <a:r>
              <a:rPr b="1" sz="1300">
                <a:solidFill>
                  <a:srgbClr val="E2E8F0"/>
                </a:solidFill>
                <a:latin typeface="Calibri"/>
              </a:rPr>
              <a:t>13h45</a:t>
            </a:r>
            <a:r>
              <a:rPr sz="1300">
                <a:solidFill>
                  <a:srgbClr val="E2E8F0"/>
                </a:solidFill>
                <a:latin typeface="Calibri"/>
              </a:rPr>
              <a:t> + Préfecture Nord </a:t>
            </a:r>
            <a:r>
              <a:rPr b="1" sz="1300">
                <a:solidFill>
                  <a:srgbClr val="E2E8F0"/>
                </a:solidFill>
                <a:latin typeface="Calibri"/>
              </a:rPr>
              <a:t>13h52</a:t>
            </a:r>
            <a:r>
              <a:rPr sz="1300">
                <a:solidFill>
                  <a:srgbClr val="E2E8F0"/>
                </a:solidFill>
                <a:latin typeface="Calibri"/>
              </a:rPr>
              <a:t>. Proposition AYA « Rédiger un communiqué ».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Drawer </a:t>
            </a:r>
            <a:r>
              <a:rPr b="1" sz="1300">
                <a:solidFill>
                  <a:srgbClr val="E2E8F0"/>
                </a:solidFill>
                <a:latin typeface="Calibri"/>
              </a:rPr>
              <a:t>Brouillons</a:t>
            </a:r>
            <a:r>
              <a:rPr sz="1300">
                <a:solidFill>
                  <a:srgbClr val="E2E8F0"/>
                </a:solidFill>
                <a:latin typeface="Calibri"/>
              </a:rPr>
              <a:t> → </a:t>
            </a:r>
            <a:r>
              <a:rPr b="1" sz="1300">
                <a:solidFill>
                  <a:srgbClr val="E2E8F0"/>
                </a:solidFill>
                <a:latin typeface="Calibri"/>
              </a:rPr>
              <a:t>Dossier rumeur frontière Nord</a:t>
            </a:r>
            <a:r>
              <a:rPr sz="1300">
                <a:solidFill>
                  <a:srgbClr val="E2E8F0"/>
                </a:solidFill>
                <a:latin typeface="Calibri"/>
              </a:rPr>
              <a:t> (la trace OSINT s’ouvre identique).</a:t>
            </a:r>
          </a:p>
          <a:p>
            <a:pPr lvl="0" indent="0" marL="0">
              <a:buNone/>
            </a:pPr>
            <a:r>
              <a:rPr i="1" sz="1300">
                <a:solidFill>
                  <a:srgbClr val="E2E8F0"/>
                </a:solidFill>
                <a:latin typeface="Calibri"/>
              </a:rPr>
              <a:t>Chaîne OSINT auditée — la rumeur est tracée bout-en-bout jusqu’au démenti officiel.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26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26 / 37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S3.4 — Mouvements de troupes Sahel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montre les mouvements de troupes au Sahel.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carte avec couches </a:t>
            </a:r>
            <a:r>
              <a:rPr b="1" sz="1300">
                <a:solidFill>
                  <a:srgbClr val="E2E8F0"/>
                </a:solidFill>
                <a:latin typeface="Calibri"/>
              </a:rPr>
              <a:t>military-air</a:t>
            </a:r>
            <a:r>
              <a:rPr sz="1300">
                <a:solidFill>
                  <a:srgbClr val="E2E8F0"/>
                </a:solidFill>
                <a:latin typeface="Calibri"/>
              </a:rPr>
              <a:t> (triangles ADS-B) + </a:t>
            </a:r>
            <a:r>
              <a:rPr b="1" sz="1300">
                <a:solidFill>
                  <a:srgbClr val="E2E8F0"/>
                </a:solidFill>
                <a:latin typeface="Calibri"/>
              </a:rPr>
              <a:t>border-tension</a:t>
            </a:r>
            <a:r>
              <a:rPr sz="1300">
                <a:solidFill>
                  <a:srgbClr val="E2E8F0"/>
                </a:solidFill>
                <a:latin typeface="Calibri"/>
              </a:rPr>
              <a:t> actives, drawer </a:t>
            </a:r>
            <a:r>
              <a:rPr b="1" sz="1300">
                <a:solidFill>
                  <a:srgbClr val="E2E8F0"/>
                </a:solidFill>
                <a:latin typeface="Calibri"/>
              </a:rPr>
              <a:t>Snapshot ADS-B advisory</a:t>
            </a:r>
            <a:r>
              <a:rPr sz="1300">
                <a:solidFill>
                  <a:srgbClr val="E2E8F0"/>
                </a:solidFill>
                <a:latin typeface="Calibri"/>
              </a:rPr>
              <a:t> listant </a:t>
            </a:r>
            <a:r>
              <a:rPr b="1" sz="1300">
                <a:solidFill>
                  <a:srgbClr val="E2E8F0"/>
                </a:solidFill>
                <a:latin typeface="Calibri"/>
              </a:rPr>
              <a:t>10 traces</a:t>
            </a:r>
            <a:r>
              <a:rPr sz="1300">
                <a:solidFill>
                  <a:srgbClr val="E2E8F0"/>
                </a:solidFill>
                <a:latin typeface="Calibri"/>
              </a:rPr>
              <a:t> (axe Bamako / Ouagadougou / Niamey, C-130, CN-235, vols logistiques), </a:t>
            </a:r>
            <a:r>
              <a:rPr b="1" sz="1300">
                <a:solidFill>
                  <a:srgbClr val="E2E8F0"/>
                </a:solidFill>
                <a:latin typeface="Calibri"/>
              </a:rPr>
              <a:t>3 zones de surveillance</a:t>
            </a:r>
            <a:r>
              <a:rPr sz="1300">
                <a:solidFill>
                  <a:srgbClr val="E2E8F0"/>
                </a:solidFill>
                <a:latin typeface="Calibri"/>
              </a:rPr>
              <a:t> (Liptako-Gourma, frontière Mali / Burkina, région de Tillabéri), </a:t>
            </a:r>
            <a:r>
              <a:rPr b="1" sz="1300">
                <a:solidFill>
                  <a:srgbClr val="E2E8F0"/>
                </a:solidFill>
                <a:latin typeface="Calibri"/>
              </a:rPr>
              <a:t>2 bases CEDEAO</a:t>
            </a:r>
            <a:r>
              <a:rPr sz="1300">
                <a:solidFill>
                  <a:srgbClr val="E2E8F0"/>
                </a:solidFill>
                <a:latin typeface="Calibri"/>
              </a:rPr>
              <a:t> en alerte standard.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Carte Stratégie → bouton couche </a:t>
            </a:r>
            <a:r>
              <a:rPr b="1" sz="1300">
                <a:solidFill>
                  <a:srgbClr val="E2E8F0"/>
                </a:solidFill>
                <a:latin typeface="Calibri"/>
              </a:rPr>
              <a:t>Trafic militaire</a:t>
            </a:r>
            <a:r>
              <a:rPr sz="1300">
                <a:solidFill>
                  <a:srgbClr val="E2E8F0"/>
                </a:solidFill>
                <a:latin typeface="Calibri"/>
              </a:rPr>
              <a:t> → drawer presse rouvert sur le snapshot ADS-B.</a:t>
            </a:r>
          </a:p>
          <a:p>
            <a:pPr lvl="0" indent="0" marL="0">
              <a:buNone/>
            </a:pPr>
            <a:r>
              <a:rPr i="1" sz="1300">
                <a:solidFill>
                  <a:srgbClr val="E2E8F0"/>
                </a:solidFill>
                <a:latin typeface="Calibri"/>
              </a:rPr>
              <a:t>Disclaimer porté par la légende : « ADS-B advisory only ». Aucune donnée opérationnelle classifiée.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27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27 / 37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S3.5 — Drill réputation 2 positifs / 1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montre le drill de réputation 2 positifs et 1 critique.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vue </a:t>
            </a:r>
            <a:r>
              <a:rPr b="1" sz="1300">
                <a:solidFill>
                  <a:srgbClr val="E2E8F0"/>
                </a:solidFill>
                <a:latin typeface="Calibri"/>
              </a:rPr>
              <a:t>Réputation</a:t>
            </a:r>
            <a:r>
              <a:rPr sz="1300">
                <a:solidFill>
                  <a:srgbClr val="E2E8F0"/>
                </a:solidFill>
                <a:latin typeface="Calibri"/>
              </a:rPr>
              <a:t>, score </a:t>
            </a:r>
            <a:r>
              <a:rPr b="1" sz="1300">
                <a:solidFill>
                  <a:srgbClr val="E2E8F0"/>
                </a:solidFill>
                <a:latin typeface="Calibri"/>
              </a:rPr>
              <a:t>72 / 100</a:t>
            </a:r>
            <a:r>
              <a:rPr sz="1300">
                <a:solidFill>
                  <a:srgbClr val="E2E8F0"/>
                </a:solidFill>
                <a:latin typeface="Calibri"/>
              </a:rPr>
              <a:t> (</a:t>
            </a:r>
            <a:r>
              <a:rPr b="1" sz="1300">
                <a:solidFill>
                  <a:srgbClr val="E2E8F0"/>
                </a:solidFill>
                <a:latin typeface="Calibri"/>
              </a:rPr>
              <a:t>+4 pts</a:t>
            </a:r>
            <a:r>
              <a:rPr sz="1300">
                <a:solidFill>
                  <a:srgbClr val="E2E8F0"/>
                </a:solidFill>
                <a:latin typeface="Calibri"/>
              </a:rPr>
              <a:t>), trois cartes drill : </a:t>
            </a:r>
            <a:r>
              <a:rPr b="1" sz="1300">
                <a:solidFill>
                  <a:srgbClr val="E2E8F0"/>
                </a:solidFill>
                <a:latin typeface="Calibri"/>
              </a:rPr>
              <a:t>Jeune Afrique</a:t>
            </a:r>
            <a:r>
              <a:rPr sz="1300">
                <a:solidFill>
                  <a:srgbClr val="E2E8F0"/>
                </a:solidFill>
                <a:latin typeface="Calibri"/>
              </a:rPr>
              <a:t> « Gestion Nord saluée » (positif) — </a:t>
            </a:r>
            <a:r>
              <a:rPr b="1" sz="1300">
                <a:solidFill>
                  <a:srgbClr val="E2E8F0"/>
                </a:solidFill>
                <a:latin typeface="Calibri"/>
              </a:rPr>
              <a:t>Fraternité Matin</a:t>
            </a:r>
            <a:r>
              <a:rPr sz="1300">
                <a:solidFill>
                  <a:srgbClr val="E2E8F0"/>
                </a:solidFill>
                <a:latin typeface="Calibri"/>
              </a:rPr>
              <a:t> « Réponse rapide au Préfet Nawa » (positif) — </a:t>
            </a:r>
            <a:r>
              <a:rPr b="1" sz="1300">
                <a:solidFill>
                  <a:srgbClr val="E2E8F0"/>
                </a:solidFill>
                <a:latin typeface="Calibri"/>
              </a:rPr>
              <a:t>L’Inter</a:t>
            </a:r>
            <a:r>
              <a:rPr sz="1300">
                <a:solidFill>
                  <a:srgbClr val="E2E8F0"/>
                </a:solidFill>
                <a:latin typeface="Calibri"/>
              </a:rPr>
              <a:t> « Critique budget défense » (orange). CTA AYA : préparer un encart concis pour le Conseil 15h.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Sidebar → onglet </a:t>
            </a:r>
            <a:r>
              <a:rPr b="1" sz="1300">
                <a:solidFill>
                  <a:srgbClr val="E2E8F0"/>
                </a:solidFill>
                <a:latin typeface="Calibri"/>
              </a:rPr>
              <a:t>Réputation</a:t>
            </a:r>
            <a:r>
              <a:rPr sz="1300">
                <a:solidFill>
                  <a:srgbClr val="E2E8F0"/>
                </a:solidFill>
                <a:latin typeface="Calibri"/>
              </a:rPr>
              <a:t> → ancre </a:t>
            </a:r>
            <a:r>
              <a:rPr b="1" sz="1300">
                <a:solidFill>
                  <a:srgbClr val="E2E8F0"/>
                </a:solidFill>
                <a:latin typeface="Calibri"/>
              </a:rPr>
              <a:t>Drill 2+/1-</a:t>
            </a:r>
            <a:r>
              <a:rPr sz="1300">
                <a:solidFill>
                  <a:srgbClr val="E2E8F0"/>
                </a:solidFill>
                <a:latin typeface="Calibri"/>
              </a:rPr>
              <a:t> en bas de page.</a:t>
            </a:r>
          </a:p>
          <a:p>
            <a:pPr lvl="0" indent="0" marL="0">
              <a:buNone/>
            </a:pPr>
            <a:r>
              <a:rPr i="1" sz="1300">
                <a:solidFill>
                  <a:srgbClr val="E2E8F0"/>
                </a:solidFill>
                <a:latin typeface="Calibri"/>
              </a:rPr>
              <a:t>Critique = vraie critique publique (article L’Inter déjà seedé en S1), pas inventée.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28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28 / 37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S3.6 — Communiqué sécurité (brouillon)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Phrase AYA</a:t>
            </a:r>
            <a:r>
              <a:rPr sz="1300">
                <a:solidFill>
                  <a:srgbClr val="E2E8F0"/>
                </a:solidFill>
                <a:latin typeface="Calibri"/>
              </a:rPr>
              <a:t> : « AYA, prépare un communiqué de sécurité sur la rumeur frontière Nord. »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Ce que le Vice Premier Ministre voit</a:t>
            </a:r>
            <a:r>
              <a:rPr sz="1300">
                <a:solidFill>
                  <a:srgbClr val="E2E8F0"/>
                </a:solidFill>
                <a:latin typeface="Calibri"/>
              </a:rPr>
              <a:t> : drawer </a:t>
            </a:r>
            <a:r>
              <a:rPr b="1" sz="1300">
                <a:solidFill>
                  <a:srgbClr val="E2E8F0"/>
                </a:solidFill>
                <a:latin typeface="Calibri"/>
              </a:rPr>
              <a:t>Brouillon communiqué souverain</a:t>
            </a:r>
            <a:r>
              <a:rPr sz="1300">
                <a:solidFill>
                  <a:srgbClr val="E2E8F0"/>
                </a:solidFill>
                <a:latin typeface="Calibri"/>
              </a:rPr>
              <a:t> — sujet « Communiqué — frontière Nord, démenti officiel », corps citant le démenti FANCI </a:t>
            </a:r>
            <a:r>
              <a:rPr b="1" sz="1300">
                <a:solidFill>
                  <a:srgbClr val="E2E8F0"/>
                </a:solidFill>
                <a:latin typeface="Calibri"/>
              </a:rPr>
              <a:t>13h46</a:t>
            </a:r>
            <a:r>
              <a:rPr sz="1300">
                <a:solidFill>
                  <a:srgbClr val="E2E8F0"/>
                </a:solidFill>
                <a:latin typeface="Calibri"/>
              </a:rPr>
              <a:t> et la mise au point Préfecture Nord </a:t>
            </a:r>
            <a:r>
              <a:rPr b="1" sz="1300">
                <a:solidFill>
                  <a:srgbClr val="E2E8F0"/>
                </a:solidFill>
                <a:latin typeface="Calibri"/>
              </a:rPr>
              <a:t>13h52</a:t>
            </a:r>
            <a:r>
              <a:rPr sz="1300">
                <a:solidFill>
                  <a:srgbClr val="E2E8F0"/>
                </a:solidFill>
                <a:latin typeface="Calibri"/>
              </a:rPr>
              <a:t>, mention </a:t>
            </a:r>
            <a:r>
              <a:rPr b="1" sz="1300">
                <a:solidFill>
                  <a:srgbClr val="E2E8F0"/>
                </a:solidFill>
                <a:latin typeface="Calibri"/>
              </a:rPr>
              <a:t>« Validation advisory requise avant diffusion »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Verdict</a:t>
            </a:r>
            <a:r>
              <a:rPr sz="1300">
                <a:solidFill>
                  <a:srgbClr val="E2E8F0"/>
                </a:solidFill>
                <a:latin typeface="Calibri"/>
              </a:rPr>
              <a:t> : </a:t>
            </a:r>
            <a:r>
              <a:rPr b="1" sz="1300">
                <a:solidFill>
                  <a:srgbClr val="3EE68A"/>
                </a:solidFill>
                <a:latin typeface="Calibri"/>
              </a:rPr>
              <a:t>PASS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Plan B clic</a:t>
            </a:r>
            <a:r>
              <a:rPr sz="1300">
                <a:solidFill>
                  <a:srgbClr val="E2E8F0"/>
                </a:solidFill>
                <a:latin typeface="Calibri"/>
              </a:rPr>
              <a:t> : Drawer </a:t>
            </a:r>
            <a:r>
              <a:rPr b="1" sz="1300">
                <a:solidFill>
                  <a:srgbClr val="E2E8F0"/>
                </a:solidFill>
                <a:latin typeface="Calibri"/>
              </a:rPr>
              <a:t>Brouillons</a:t>
            </a:r>
            <a:r>
              <a:rPr sz="1300">
                <a:solidFill>
                  <a:srgbClr val="E2E8F0"/>
                </a:solidFill>
                <a:latin typeface="Calibri"/>
              </a:rPr>
              <a:t> → </a:t>
            </a:r>
            <a:r>
              <a:rPr b="1" sz="1300">
                <a:solidFill>
                  <a:srgbClr val="E2E8F0"/>
                </a:solidFill>
                <a:latin typeface="Calibri"/>
              </a:rPr>
              <a:t>Nouveau communiqué</a:t>
            </a:r>
            <a:r>
              <a:rPr sz="1300">
                <a:solidFill>
                  <a:srgbClr val="E2E8F0"/>
                </a:solidFill>
                <a:latin typeface="Calibri"/>
              </a:rPr>
              <a:t> → template </a:t>
            </a:r>
            <a:r>
              <a:rPr b="1" sz="1300">
                <a:solidFill>
                  <a:srgbClr val="E2E8F0"/>
                </a:solidFill>
                <a:latin typeface="Calibri"/>
              </a:rPr>
              <a:t>Démenti rumeur Nord</a:t>
            </a:r>
            <a:r>
              <a:rPr sz="1300">
                <a:solidFill>
                  <a:srgbClr val="E2E8F0"/>
                </a:solidFill>
                <a:latin typeface="Calibri"/>
              </a:rPr>
              <a:t>.</a:t>
            </a:r>
          </a:p>
          <a:p>
            <a:pPr lvl="0" indent="0" marL="0">
              <a:buNone/>
            </a:pPr>
            <a:r>
              <a:rPr i="1" sz="1300">
                <a:solidFill>
                  <a:srgbClr val="E2E8F0"/>
                </a:solidFill>
                <a:latin typeface="Calibri"/>
              </a:rPr>
              <a:t>Le Cabinet décide — le brouillon n’est jamais envoyé sans validation explicite.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29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29 / 37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Récap S3 — Posture sécuritaire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6 étapes</a:t>
            </a:r>
            <a:r>
              <a:rPr sz="1300">
                <a:solidFill>
                  <a:srgbClr val="E2E8F0"/>
                </a:solidFill>
                <a:latin typeface="Calibri"/>
              </a:rPr>
              <a:t> · ~5-6 minutes</a:t>
            </a:r>
          </a:p>
          <a:p>
            <a:pPr lvl="0" indent="0" marL="0">
              <a:buNone/>
            </a:pPr>
            <a:r>
              <a:rPr b="1" sz="1300">
                <a:solidFill>
                  <a:srgbClr val="E2E8F0"/>
                </a:solidFill>
                <a:latin typeface="Calibri"/>
              </a:rPr>
              <a:t>Message clé</a:t>
            </a:r>
            <a:r>
              <a:rPr sz="1300">
                <a:solidFill>
                  <a:srgbClr val="E2E8F0"/>
                </a:solidFill>
                <a:latin typeface="Calibri"/>
              </a:rPr>
              <a:t> : posture dual-axis lue, rumeur démentie, communiqué prêt — avant le Conseil 15h.</a:t>
            </a:r>
          </a:p>
          <a:p>
            <a:pPr lvl="0" indent="0" marL="1270000">
              <a:buNone/>
            </a:pPr>
            <a:r>
              <a:rPr sz="2000">
                <a:solidFill>
                  <a:srgbClr val="E2E8F0"/>
                </a:solidFill>
                <a:latin typeface="Calibri"/>
              </a:rPr>
              <a:t>« En six prompts, AYA a porté la lecture intérieure et extérieure, tracé la rumeur jusqu’au démenti, et préparé un brouillon souverain — sans jamais quitter le mode advisory.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30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30 / 37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Ce qu’on a prouvé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b="1" sz="1300">
                <a:solidFill>
                  <a:srgbClr val="E2E8F0"/>
                </a:solidFill>
                <a:latin typeface="Calibri"/>
              </a:rPr>
              <a:t>Cockpit souverain</a:t>
            </a:r>
            <a:r>
              <a:rPr sz="1300">
                <a:solidFill>
                  <a:srgbClr val="E2E8F0"/>
                </a:solidFill>
                <a:latin typeface="Calibri"/>
              </a:rPr>
              <a:t> — 8 KPIs, posture, terrain, presse en un écran</a:t>
            </a:r>
          </a:p>
          <a:p>
            <a:pPr lvl="0"/>
            <a:r>
              <a:rPr b="1" sz="1300">
                <a:solidFill>
                  <a:srgbClr val="E2E8F0"/>
                </a:solidFill>
                <a:latin typeface="Calibri"/>
              </a:rPr>
              <a:t>AYA actionnable</a:t>
            </a:r>
            <a:r>
              <a:rPr sz="1300">
                <a:solidFill>
                  <a:srgbClr val="E2E8F0"/>
                </a:solidFill>
                <a:latin typeface="Calibri"/>
              </a:rPr>
              <a:t> — propose, ne décide pas à la place du Cabinet</a:t>
            </a:r>
          </a:p>
          <a:p>
            <a:pPr lvl="0"/>
            <a:r>
              <a:rPr b="1" sz="1300">
                <a:solidFill>
                  <a:srgbClr val="E2E8F0"/>
                </a:solidFill>
                <a:latin typeface="Calibri"/>
              </a:rPr>
              <a:t>Preuves traçables</a:t>
            </a:r>
            <a:r>
              <a:rPr sz="1300">
                <a:solidFill>
                  <a:srgbClr val="E2E8F0"/>
                </a:solidFill>
                <a:latin typeface="Calibri"/>
              </a:rPr>
              <a:t> — PV douanes, rapport préfet, sources citées</a:t>
            </a:r>
          </a:p>
          <a:p>
            <a:pPr lvl="0"/>
            <a:r>
              <a:rPr b="1" sz="1300">
                <a:solidFill>
                  <a:srgbClr val="E2E8F0"/>
                </a:solidFill>
                <a:latin typeface="Calibri"/>
              </a:rPr>
              <a:t>Décisions mémorisées</a:t>
            </a:r>
            <a:r>
              <a:rPr sz="1300">
                <a:solidFill>
                  <a:srgbClr val="E2E8F0"/>
                </a:solidFill>
                <a:latin typeface="Calibri"/>
              </a:rPr>
              <a:t> — arbitrages loggés et rappelables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31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31 / 37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wrap="square"/>
          <a:lstStyle/>
          <a:p>
            <a:pPr lvl="0" indent="0" marL="0">
              <a:buNone/>
            </a:pPr>
            <a:r>
              <a:rPr b="1" sz="2200">
                <a:solidFill>
                  <a:srgbClr val="3EE68A"/>
                </a:solidFill>
                <a:latin typeface="Calibri"/>
              </a:rPr>
              <a:t>Plan B rapide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Si AYA ne répond pas — 10 raccourcis sans voix (workspace </a:t>
            </a:r>
            <a:r>
              <a:rPr sz="1300">
                <a:solidFill>
                  <a:srgbClr val="E2E8F0"/>
                </a:solidFill>
                <a:latin typeface="Calibri"/>
              </a:rPr>
              <a:t>sentinel-ci</a:t>
            </a:r>
            <a:r>
              <a:rPr sz="1300">
                <a:solidFill>
                  <a:srgbClr val="E2E8F0"/>
                </a:solidFill>
                <a:latin typeface="Calibri"/>
              </a:rPr>
              <a:t>)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0"/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 b="1">
                          <a:solidFill>
                            <a:srgbClr val="3EE68A"/>
                          </a:solidFill>
                          <a:latin typeface="Calibri"/>
                        </a:rPr>
                        <a:t>Sujet</a:t>
                      </a:r>
                    </a:p>
                  </a:txBody>
                  <a:tcPr marL="60000" marR="60000" marT="30000" marB="30000">
                    <a:solidFill>
                      <a:srgbClr val="122A1F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 b="1">
                          <a:solidFill>
                            <a:srgbClr val="3EE68A"/>
                          </a:solidFill>
                          <a:latin typeface="Calibri"/>
                        </a:rPr>
                        <a:t>Raccourci</a:t>
                      </a:r>
                    </a:p>
                  </a:txBody>
                  <a:tcPr marL="60000" marR="60000" marT="30000" marB="30000">
                    <a:solidFill>
                      <a:srgbClr val="122A1F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Carte Nord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Chip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Zone Nord · Tendue</a:t>
                      </a: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 ou Brief opérationnel Nord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Cargo / port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Pin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MV Atlantic Trader</a:t>
                      </a: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 ou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Flux terrain → APM Apapa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Agenda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Sidebar Agenda → Préfet Nawa 11h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Réunion Nawa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Agenda →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Démarrer la réunion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Décisions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Sidebar Arbitrages → registre décisions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Posture sécuritaire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Sidebar Vice Premier Ministre → chip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Posture sécuritaire</a:t>
                      </a: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 dans la barre de statut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Pulsation sociale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Carte Stratégie → couche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social-geo</a:t>
                      </a: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 → drawer pulsation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Rumeur Nord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Drawer Brouillons →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Dossier rumeur frontière Nord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Mouvements Sahel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Carte Stratégie → couches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military-air</a:t>
                      </a: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 +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border-tension</a:t>
                      </a:r>
                    </a:p>
                  </a:txBody>
                  <a:tcPr marL="60000" marR="60000" marT="30000" marB="30000">
                    <a:solidFill>
                      <a:srgbClr val="0D151E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Drill réputation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Sidebar → onglet </a:t>
                      </a:r>
                      <a:r>
                        <a:rPr b="1" sz="1100">
                          <a:solidFill>
                            <a:srgbClr val="E2E8F0"/>
                          </a:solidFill>
                          <a:latin typeface="Calibri"/>
                        </a:rPr>
                        <a:t>Réputation</a:t>
                      </a:r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 → ancre Drill 2+/1-</a:t>
                      </a:r>
                    </a:p>
                  </a:txBody>
                  <a:tcPr marL="60000" marR="60000" marT="30000" marB="30000">
                    <a:solidFill>
                      <a:srgbClr val="121C28"/>
                    </a:solidFill>
                    <a:lnT w="6350" cap="flat" cmpd="sng" algn="ctr">
                      <a:solidFill>
                        <a:srgbClr val="1F2937"/>
                      </a:solidFill>
                      <a:prstDash val="soli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</a:lnB>
                    <a:lnL w="6350" cap="flat" cmpd="sng" algn="ctr">
                      <a:solidFill>
                        <a:srgbClr val="1F2937"/>
                      </a:solidFill>
                      <a:prstDash val="soli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32 /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32 / 37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indent="0" marL="0">
              <a:buNone/>
            </a:pPr>
            <a:r>
              <a:rPr sz="1300">
                <a:solidFill>
                  <a:srgbClr val="E2E8F0"/>
                </a:solidFill>
                <a:latin typeface="Calibri"/>
              </a:rPr>
              <a:t>¹ </a:t>
            </a:r>
            <a:r>
              <a:rPr i="1" sz="1300">
                <a:solidFill>
                  <a:srgbClr val="E2E8F0"/>
                </a:solidFill>
                <a:latin typeface="Calibri"/>
              </a:rPr>
              <a:t>Footnote</a:t>
            </a:r>
            <a:r>
              <a:rPr sz="1300">
                <a:solidFill>
                  <a:srgbClr val="E2E8F0"/>
                </a:solidFill>
                <a:latin typeface="Calibri"/>
              </a:rPr>
              <a:t> : si la phrase « situation au port » ne déclenche pas le panneau maritime à la voix, utiliser le clic Plan B — rebuild frontend requis pour le fix caméra S1.3. Pour S3, tout est demo-safe (ADS-B advisory only, comptes citoyens pseudonymisés </a:t>
            </a:r>
            <a:r>
              <a:rPr sz="1300">
                <a:solidFill>
                  <a:srgbClr val="E2E8F0"/>
                </a:solidFill>
                <a:latin typeface="Calibri"/>
              </a:rPr>
              <a:t>@citoyen_***</a:t>
            </a:r>
            <a:r>
              <a:rPr sz="1300">
                <a:solidFill>
                  <a:srgbClr val="E2E8F0"/>
                </a:solidFill>
                <a:latin typeface="Calibri"/>
              </a:rPr>
              <a:t>, critique réputation = article L’Inter déjà seedé S1).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E2E8F0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E2E8F0"/>
                </a:solidFill>
                <a:latin typeface="Calibri"/>
              </a:rPr>
              <a:t>33 / 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33 / 37</a:t>
            </a: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200" b="1">
                <a:solidFill>
                  <a:srgbClr val="3EE68A"/>
                </a:solidFill>
                <a:latin typeface="Calibri"/>
              </a:rPr>
              <a:t>S3.V21.1 — Onglet Securite (rail principal)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Rail : Cockpit · Carte · Securite · Reputation · Agenda · Presse · Arbitrages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Vue Securite : posture dual-axis + theatre Sahel + rumeur inline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Barre sticky Conseil Defense 15h00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Plan B : rail gauche → Securite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200" b="1">
                <a:solidFill>
                  <a:srgbClr val="3EE68A"/>
                </a:solidFill>
                <a:latin typeface="Calibri"/>
              </a:rPr>
              <a:t>S3.V21.2 — Security Monitor plein ecran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Route : /hypervisor/mission-room/securite/monitor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Carte Sahel · military-air + border-tension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Alertes ADS-B · fil rumeur · signaux sociaux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Badge CACHE BASELINE · advisory only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Plan B : Securite → Ouvrir Security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200" b="1">
                <a:solidFill>
                  <a:srgbClr val="3EE68A"/>
                </a:solidFill>
                <a:latin typeface="Calibri"/>
              </a:rPr>
              <a:t>S3.V21.3 — Reputation rail + Veille sociale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Reputation promue dans le rail (drill 2+/1-)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Page Veille sociale : /veille-sociale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Filtres bucket · sentiment · tri · export CSV advisory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Plan B : URL veille-sociale ou AYA pulsation sociale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200" b="1">
                <a:solidFill>
                  <a:srgbClr val="3EE68A"/>
                </a:solidFill>
                <a:latin typeface="Calibri"/>
              </a:rPr>
              <a:t>S3.V21.4 — Documents security-briefs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Collection sentinel-ci-security-briefs dans scope vigie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Onglet Documents du shell Securite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Briefs Sahel · Conseil Defense · dossier rumeur · ADS-B</a:t>
            </a:r>
          </a:p>
          <a:p>
            <a:pPr/>
            <a:r>
              <a:rPr sz="1600">
                <a:solidFill>
                  <a:srgbClr val="E2E8F0"/>
                </a:solidFill>
                <a:latin typeface="Calibri"/>
              </a:rPr>
              <a:t>Plan B : Securite → onglet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E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4803500"/>
            <a:ext cx="50292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l"/>
            <a:r>
              <a:rPr sz="900" i="0" b="0">
                <a:solidFill>
                  <a:srgbClr val="64748B"/>
                </a:solidFill>
                <a:latin typeface="Calibri"/>
              </a:rPr>
              <a:t>SENTINEL-CI · Démo Vice Premier Ministre · 25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3600" y="4803500"/>
            <a:ext cx="3200400" cy="260000"/>
          </a:xfrm>
          <a:prstGeom prst="rect">
            <a:avLst/>
          </a:prstGeom>
          <a:noFill/>
        </p:spPr>
        <p:txBody>
          <a:bodyPr wrap="square" tIns="0" bIns="0" lIns="20000" rIns="20000">
            <a:spAutoFit/>
          </a:bodyPr>
          <a:lstStyle/>
          <a:p>
            <a:pPr algn="r"/>
            <a:r>
              <a:rPr sz="900" i="0" b="0">
                <a:solidFill>
                  <a:srgbClr val="94A3B8"/>
                </a:solidFill>
                <a:latin typeface="Calibri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SENTINEL-CI · Briefing démo</dc:title>
  <dc:creator>Datategy · Plateforme Agentium</dc:creator>
  <cp:keywords/>
  <dcterms:created xsi:type="dcterms:W3CDTF">2026-05-25T14:46:59Z</dcterms:created>
  <dcterms:modified xsi:type="dcterms:W3CDTF">2026-05-25T14:46:59Z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Lundi 25 mai 2026 · 09h00 Abidjan · 11h00 Paris</vt:lpwstr>
  </property>
  <property fmtid="{D5CDD505-2E9C-101B-9397-08002B2CF9AE}" pid="3" name="subtitle">
    <vt:lpwstr>25 mai 2026 · Monsieur le Vice Premier Ministre</vt:lpwstr>
  </property>
</Properties>
</file>